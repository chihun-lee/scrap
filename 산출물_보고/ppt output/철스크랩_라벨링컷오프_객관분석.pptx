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6985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00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REPORT · 분석 보고자료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1003300"/>
            <a:ext cx="457200" cy="254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8000" y="1219200"/>
            <a:ext cx="11176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철스크랩 라벨링 컷오프 기준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정의 · 정량 분석 · 소형 객체 처리 방안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273050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5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6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용어 정의 · 생략 규모 전수 정량(N=501,377) · 표기 옵션 4종 비교 · 보수 라벨링+코드 필터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3149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8000" y="3327400"/>
            <a:ext cx="6540500" cy="2260600"/>
          </a:xfrm>
          <a:prstGeom prst="rect">
            <a:avLst/>
          </a:prstGeom>
          <a:solidFill>
            <a:srgbClr val="FAFB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2000" y="3556000"/>
            <a:ext cx="6032500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작성 · KIMS 재료데이터·분석연구본부 이치헌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성격 · 내부 분석 보고자료 — 정량 분석만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근거 · 전수 재집계(501,377) + 재학습 8회 + 예측 검증(val 25장)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5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원자료 · exp2/exp5/exp6/exp7 CSV·로그 (부록 References)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3500" y="3327400"/>
            <a:ext cx="4000500" cy="2260600"/>
          </a:xfrm>
          <a:prstGeom prst="rect">
            <a:avLst/>
          </a:prstGeom>
          <a:solidFill>
            <a:srgbClr val="0F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50200" y="3543300"/>
            <a:ext cx="3556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8DC63F"/>
                </a:solidFill>
                <a:latin typeface="Paperlogy 6 SemiBold"/>
                <a:ea typeface="Paperlogy 6 SemiBold"/>
                <a:cs typeface="Paperlogy 6 SemiBold"/>
              </a:rPr>
              <a:t>주요 수치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생략 규모 — 개수 53.5% vs 면적 6.7%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성능 영향 — 공통 val −1.06%p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400" b="0">
                <a:solidFill>
                  <a:srgbClr val="C9D6CF"/>
                </a:solidFill>
                <a:latin typeface="Paperlogy 4 Regular"/>
                <a:ea typeface="Paperlogy 4 Regular"/>
                <a:cs typeface="Paperlogy 4 Regular"/>
              </a:rPr>
              <a:t>보수 하한 24 px = 공수 +7.7%p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58928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7A7A7A"/>
                </a:solidFill>
                <a:latin typeface="Paperlogy 6 SemiBold"/>
                <a:ea typeface="Paperlogy 6 SemiBold"/>
                <a:cs typeface="Paperlogy 6 SemiBold"/>
              </a:rPr>
              <a:t>2026. 07. 23</a:t>
            </a:r>
          </a:p>
        </p:txBody>
      </p:sp>
      <p:pic>
        <p:nvPicPr>
          <p:cNvPr id="14" name="Picture 13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816600"/>
            <a:ext cx="1975373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CONTENTS · 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보고자료 구성 — 정의, 정량 분석, 처리 방안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용어 정의 → 생략 규모·성능·물리 한계 정량 → 소형 객체 표기 옵션과 권고 체계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58800" y="16891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6500" y="16764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용어·개념 정의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'그린다/생략'의 정의 · cutoff 환산 · 면적비 · 가늘고 긴 물체(세장형) 예외 규칙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1000" y="17145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2273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8800" y="24638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6500" y="24511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생략 규모 정량 분석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개수 53.5% vs 면적 6.7% · 재학습 8회 성능 영향 · stride 4 한계 · 미검출 실증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1000" y="24892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3048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58800" y="3238500"/>
            <a:ext cx="444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6500" y="3225800"/>
            <a:ext cx="863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소형 객체 처리 방안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25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표기 옵션 4종 trade-off · 보수 라벨(24 px)+코드 필터(30 px) 2계층 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1000" y="3263900"/>
            <a:ext cx="63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3822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8000" y="41656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부록 · References — 원자료 경로와 재집계 조건, 외부 데이터셋 관행  ……  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/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952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용어·개념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'그린다/생략'의 정의 · cutoff 환산 · 면적비 · 가늘고 긴 물체(세장형) 예외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용어·개념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생략 규모 정량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소형 객체 처리 방안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용어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라벨링 '생략'의 정의와 cutoff 환산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'그린다' = 라벨링 도구에서 객체 윤곽 polygon을 만드는 작업 · cutoff = 이 작업의 생략 하한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'그린다' = LabelMe에서 객체 윤곽을 따라 점을 찍어 polygon 1개를 생성하는 작업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생략 시 JSON에 객체 항목 없음 — 해당 픽셀은 배경으로 학습·평가에서 제외</a:t>
            </a:r>
          </a:p>
          <a:p>
            <a:pPr marL="190500" indent="-190500">
              <a:lnSpc>
                <a:spcPct val="140000"/>
              </a:lnSpc>
              <a:spcBef>
                <a:spcPts val="15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'생략' = polygon 생성 작업의 하한 — 이미지·기존 라벨은 그대로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같은 기준을 학습 데이터 생성 코드 필터(prepare_yolo_dataset.py)로 구현 — 시뮬레이션 정책표와 ±0.1% 일치</a:t>
            </a:r>
          </a:p>
          <a:p>
            <a:pPr marL="190500" indent="-190500">
              <a:lnSpc>
                <a:spcPct val="140000"/>
              </a:lnSpc>
              <a:spcBef>
                <a:spcPts val="15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cutoff 기준 = √(polygon 면적), bbox 한 변 아님 — 해상도 단계별 환산은 아래 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314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8000" y="3454400"/>
          <a:ext cx="11176000" cy="163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2667000"/>
                <a:gridCol w="5842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기준 단계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값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의미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원본 4K (3840×2160)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√면적 30 px (900 px²)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라벨링 작업 기준 · frame 가로의 0.78%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입력 1280 (1/3 축소)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√면적 10 px (100 px²)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모델 입력에서의 크기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mask proto 320 (입력의 1/4)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√면적 2.5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mask 표현 해상도 — 2~3 cell 크기의 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면적비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0.011%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900 ÷ 8,294,400(frame 전체 면적) — 아래 주 참조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8000" y="528320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cutoff 30 px의 해상도 단계별 환산 · 면적비 분모는 4K frame 전체(cargo 적재함 대비 아님, 적재함≈frame 1/3 가정 시 ≈0.03%)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04 /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용어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가늘고 긴 물체(세장형)의 정의와 예외 규칙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세장형 = 폭에 비해 긴 물체(rebar·pipe류) — 면적 미달이어도 긴 변 72 px 이상이면 라벨 유지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정의 — 면적은 작아도 긴 변이 긴 객체 (rebar · small pipe · square pipe · pipe · mesh)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면적 cutoff만 적용하면 화면을 가로지르는 rebar가 통째로 생략됨 — 예외 규칙의 근거</a:t>
            </a:r>
          </a:p>
          <a:p>
            <a:pPr marL="190500" indent="-190500">
              <a:lnSpc>
                <a:spcPct val="135000"/>
              </a:lnSpc>
              <a:spcBef>
                <a:spcPts val="13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 규칙 — √면적 30 px 미만이어도 bbox 긴 변 ≥ 원본 72 px면 라벨 유지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예외 제거 시 전체 +0.35%p, rebar AP50 −40%(0.1055→0.0634) — 예외 유지 (exp6)</a:t>
            </a:r>
          </a:p>
          <a:p>
            <a:pPr marL="190500" indent="-190500">
              <a:lnSpc>
                <a:spcPct val="135000"/>
              </a:lnSpc>
              <a:spcBef>
                <a:spcPts val="13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두께 하한 — 두께(면적÷긴 변) 원본 6 px 미만은 작업 우선순위 최하위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stride 4에서 GT 52~74% 분절 구간 (exp5) — 라벨 유지, 공수 배분 후순위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8735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exp5_rebar_va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00" y="4025900"/>
            <a:ext cx="2140798" cy="1460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168100" y="4025900"/>
            <a:ext cx="2140798" cy="14605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8000" y="5537200"/>
            <a:ext cx="5461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두께 ~6 px rebar GT의 stride 4 분절 (상: 입력, 하: 복원)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exp5 시뮬레이션 · val rebar 사례</a:t>
            </a:r>
          </a:p>
        </p:txBody>
      </p:sp>
      <p:pic>
        <p:nvPicPr>
          <p:cNvPr id="16" name="Picture 15" descr="exp5_smallpipe_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4137025"/>
            <a:ext cx="4953000" cy="12382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223000" y="4137025"/>
            <a:ext cx="4953000" cy="123825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3000" y="5537200"/>
            <a:ext cx="4953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두께 ~9 px small pipe — 형상 생존 (좌: GT, 우: 복원)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exp5 시뮬레이션 · val small pipe 사례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BS-302 시그니처_좌우조합 A(국영문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05 /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952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생략 규모 정량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개수 53.5% vs 면적 6.7% · 재학습 8회 성능 영향 · stride 4 한계 · 미검출 실증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용어·개념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생략 규모 정량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소형 객체 처리 방안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06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정량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생략 규모 — 개수 53.5% vs 면적 6.7%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확정안(30 px+예외) 적용 시 개수는 절반 생략, 라벨 면적은 93.3% 유지 (N=501,377 전수)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hart_drop_count_vs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78" y="1371600"/>
            <a:ext cx="6140742" cy="3683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07878" y="1371600"/>
            <a:ext cx="6140742" cy="3683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5105400"/>
            <a:ext cx="6540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생략분의 개수·면적 점유 (확정안 vs 보수안)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exp5_instances.csv.gz 전수 재집계 (2026-07-23)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02500" y="1371600"/>
            <a:ext cx="3873500" cy="393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개수 기준 53.5% 생략 (268,155개)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'생략이 많다'는 인상은 개수 기준에서만 해당</a:t>
            </a:r>
          </a:p>
          <a:p>
            <a:pPr marL="190500" indent="-190500">
              <a:lnSpc>
                <a:spcPct val="140000"/>
              </a:lnSpc>
              <a:spcBef>
                <a:spcPts val="16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면적 기준 6.69% 생략 — 물량 정보 93.3% 유지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frame 전체 대비 0.605% · 생략 대상은 개당 frame의 0.011% 미만</a:t>
            </a:r>
          </a:p>
          <a:p>
            <a:pPr marL="190500" indent="-190500">
              <a:lnSpc>
                <a:spcPct val="140000"/>
              </a:lnSpc>
              <a:spcBef>
                <a:spcPts val="16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클래스별 생략률 — trash 89% · small pipe 76% · rebar 70%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대형 클래스(handler·drum·Guillotine)는 영향 작음 · 세장형 예외로 small pipe 87→76%·rebar 86→70%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07 /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정량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cutoff 수준별 성능 영향 — 30 px 선택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공통 val(무필터) 기준 cut 30 px = −1.06%p·공수 46.5% · cut 24 px = −0.15%p·공수 54.2%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71600"/>
          <a:ext cx="111760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14500"/>
                <a:gridCol w="1714500"/>
                <a:gridCol w="1460500"/>
                <a:gridCol w="1333500"/>
                <a:gridCol w="2667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자기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대비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(전체 라벨)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대조군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24 px +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0.6454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−0.15%p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보수 라벨 하한 후보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30 px +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−1.06%p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 제안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36 px +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0.7259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0.4510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−3.62%p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41.9%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기각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048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48 px +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−5.71%p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35306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cutoff 수준별 성능·공수 · 출처: exp2_results.csv · 공수 = 세장형 예외 포함 유지 instance 비율 (전수 재집계)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784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8000" y="3898900"/>
            <a:ext cx="4699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자기 val 상승(0.487→0.744) = 평가셋이 쉬워진 효과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공통 val로 재평가하면 하락(0.487→0.430) — 판정 기준은 공통 val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30 px 미만 라벨 전체(개수 절반)의 성능 기여 = 1.06%p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24 px 이상에 학습 신호 대부분 포함(−0.15%p) — 36 px 이상은 손실 커져 채택 안 함</a:t>
            </a:r>
          </a:p>
        </p:txBody>
      </p:sp>
      <p:pic>
        <p:nvPicPr>
          <p:cNvPr id="15" name="Picture 14" descr="chart_cost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523" y="3835400"/>
            <a:ext cx="3397452" cy="177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651523" y="3835400"/>
            <a:ext cx="3397452" cy="1778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524500" y="5664200"/>
            <a:ext cx="565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그림 — 라벨 공수 vs 공통 val 성능 · 출처: exp2_results.csv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08 /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정량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생략 구간의 물리 한계와 검출 실증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30 px 미만은 GT부터 stride 4에서 손상 · 무필터 학습 모델도 rebar 77%·small pipe 72% 미검출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GT 손상 — 원본 18 px 미만은 과반이 복원 IoU&lt;0.5, 30 px 이상은 97%+ 유지 (좌측 그림)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라벨을 그려도 학습 GT 생성(1/4 downsample)에서 형상이 사라지는 구간 — cutoff 30 px의 근거</a:t>
            </a:r>
          </a:p>
          <a:p>
            <a:pPr marL="190500" indent="-190500">
              <a:lnSpc>
                <a:spcPct val="140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검출 실측 — base(무필터 학습) 모델도 소형·세장형 대부분을 background로 놓침 (우측 그림)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trash 82%·rebar 77%·small pipe 72% 미검출(전체 mask recall ≈0.49) — 미검출 구간 = 생략 구간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2806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chart_g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3" y="2921000"/>
            <a:ext cx="4360333" cy="2413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121833" y="2921000"/>
            <a:ext cx="4360333" cy="2413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8000" y="5384800"/>
            <a:ext cx="558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크기 구간별 stride 4 생존율·복원 IoU (N=501,377)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exp5_survival_summary.md</a:t>
            </a:r>
          </a:p>
        </p:txBody>
      </p:sp>
      <p:pic>
        <p:nvPicPr>
          <p:cNvPr id="16" name="Picture 15" descr="chart_background_mi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828" y="2921000"/>
            <a:ext cx="3376343" cy="2413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74828" y="2921000"/>
            <a:ext cx="3376343" cy="2413000"/>
          </a:xfrm>
          <a:prstGeom prst="rect">
            <a:avLst/>
          </a:prstGeom>
          <a:noFill/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0000" y="5384800"/>
            <a:ext cx="482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 — 클래스별 미검출 비율 (base 모델 · 무필터 val)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출처: exp2_base confusion matrix (정규화)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BS-302 시그니처_좌우조합 A(국영문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09 / 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8000" y="1905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E8F4D6"/>
                </a:solidFill>
                <a:latin typeface="Paperlogy 8 ExtraBold"/>
                <a:ea typeface="Paperlogy 8 ExtraBold"/>
                <a:cs typeface="Paperlogy 8 Extra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2730500"/>
            <a:ext cx="952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소형 객체 처리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3020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4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1">
                <a:solidFill>
                  <a:srgbClr val="555555"/>
                </a:solidFill>
                <a:latin typeface="Paperlogy 6 SemiBold"/>
                <a:ea typeface="Paperlogy 6 SemiBold"/>
                <a:cs typeface="Paperlogy 6 SemiBold"/>
              </a:rPr>
              <a:t>표기 옵션 4종 trade-off · 보수 라벨(24 px)+코드 필터(30 px) 2계층 체계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3937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8800" y="40640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4064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용어·개념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4064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43561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A3AF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561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생략 규모 정량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0" y="4356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CA3AF"/>
                </a:solidFill>
                <a:latin typeface="Paperlogy 4 Regular"/>
                <a:ea typeface="Paperlogy 4 Regular"/>
                <a:cs typeface="Paperlogy 4 Regular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" y="46482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46482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소형 객체 처리 방안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0" y="46482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FA32E"/>
                </a:solidFill>
                <a:latin typeface="Paperlogy 4 Regular"/>
                <a:ea typeface="Paperlogy 4 Regular"/>
                <a:cs typeface="Paperlogy 4 Regular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10 /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· 처리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소형 객체 표기 방안 — 옵션 4종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생략 대상도 실물 스크랩 — 표기 옵션별 trade-off (공수·가역성·지표·리스크)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71600"/>
          <a:ext cx="11176000" cy="168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/>
                <a:gridCol w="2476500"/>
                <a:gridCol w="762000"/>
                <a:gridCol w="1460500"/>
                <a:gridCol w="2286000"/>
                <a:gridCol w="26035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옵션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방법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가역성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Count·Area 정보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주요 리스크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A 완전 생략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cutoff 미만 미생성 (확정안)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없음·소급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Count 소실·Area 93% 보존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입력 상향 시 재라벨링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B 보수+코드 필터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24 px 라벨·학습 30 px 필터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있음·필터 재조정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원본 기준 재계산 가능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공수 +7.7%p·소형 QC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 묶음(chunk)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소형 다수를 polygon 1개로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중간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부분·개별 소실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Count 소실(묶음=1)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덩어리 이슈 재발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D 영역(stuff)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혼합 스크랩 영역 클래스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중간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부분·개수 소실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Area 보존에 유리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클래스·pipeline 변경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34417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표기 옵션 4종의 trade-off · 공수 = 무필터 대비 유지 instance 비율 (B는 라벨 하한 24 px 기준)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721100"/>
            <a:ext cx="11176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옵션은 조합 가능 — B+D(24 px 개별 + 미만분 영역 1개)면 개수·면적·가역성 모두 유지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단 규칙이 늘수록 작업 일관성 저하 — 가이드 규칙 수는 최소로</a:t>
            </a:r>
          </a:p>
          <a:p>
            <a:pPr marL="190500" indent="-190500">
              <a:lnSpc>
                <a:spcPct val="135000"/>
              </a:lnSpc>
              <a:spcBef>
                <a:spcPts val="13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C는 과거 데이터에서 실패 사례 있음 — rebar 덩어리 라벨 다수 발견·정제 이력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채택 시 '개별 식별+크기 통과만 개별, 얽힌 다발은 묶음 1개' 규칙을 문서로 명시해야 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11 /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· 처리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보수 라벨링 + 코드 필터 — 2계층 체계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라벨 하한(사람·비가역) 24 px와 학습 필터(코드·가역) 30 px 분리 — 필터 코드 구현·검증 완료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8000" y="1371600"/>
          <a:ext cx="11176000" cy="1790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3556000"/>
                <a:gridCol w="4953000"/>
              </a:tblGrid>
              <a:tr h="3175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계층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기준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성격·근거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3683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라벨링 하한 (사람 · 비가역)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원본 24 px + 세장형 예외(긴 변 72 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보수적 — 학습 신호 전체 보존 (cut 24 px = 무필터 −0.15%p)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필터 (코드 · 가역)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원본 30 px + 세장형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최적 — prepare_yolo_dataset.py · 시뮬레이션 대비 ±0.1% 검증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83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두께 6 px 미만 세장형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라벨 유지 · 작업 우선순위 최하위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GT 52~74% 분절 구간의 공수 절약 (exp5)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8300"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지표 분모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'30 px 이상'으로 문서 합의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 lIns="152400" rIns="152400" tIns="101600" bIns="101600" anchor="ctr"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Count·Area Accuracy의 정답 개수 정의 명확화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8000" y="3276600"/>
            <a:ext cx="1117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표 — 2계층 체계의 구성 · 라벨은 보수적으로 남기고 학습 기준은 코드에서 적용·재조정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3543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8000" y="3644900"/>
            <a:ext cx="1117600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비용 — 확정안 대비 추가 공수 +7.7%p (24~30 px 구간 instance 38,543개)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편익 — ① 가역성: 입력 상향(1600/1920)·tile 추론 시 필터 해제로 바로 활용 ② 원본/필터 기준 병행 재계산 ③ 컷 경계 객체의 축소 증강 여유</a:t>
            </a:r>
          </a:p>
          <a:p>
            <a:pPr marL="190500" indent="-190500">
              <a:lnSpc>
                <a:spcPct val="140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'전부 그리기'는 정량 근거 없음 — 보수안의 이득은 24~30 px 구간에 한정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12 px 미만은 GT 자체가 사라져(생존율 55~92% · IoU≥0.5 6~21%) 라벨링해도 학습에 전달 안 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12 /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03 · 처리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분석의 한계와 전제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수치 해석 시 주의 — 단일 run 분산 · 면적 중복 · 보수 하한의 전제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409700"/>
            <a:ext cx="11176000" cy="393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면적 점유율(6.69% · 0.605%)은 polygon 면적 합산 기준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겹침 중복 포함 가능 — union 기준으로는 소폭 낮아질 수 있음 (val 25장 union 실측 coverage 6.9%)</a:t>
            </a:r>
          </a:p>
          <a:p>
            <a:pPr marL="190500" indent="-190500">
              <a:lnSpc>
                <a:spcPct val="140000"/>
              </a:lnSpc>
              <a:spcBef>
                <a:spcPts val="18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성능 수치는 YOLO26x-seg@1280 · 100 ep · 조건당 단일 run 기준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정책 간 0.3~0.4%p 차이는 seed 반복 전까지 판정 유보</a:t>
            </a:r>
          </a:p>
          <a:p>
            <a:pPr marL="190500" indent="-190500">
              <a:lnSpc>
                <a:spcPct val="140000"/>
              </a:lnSpc>
              <a:spcBef>
                <a:spcPts val="18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보수 하한(24 px)의 이득은 '입력 상향 시 소형 검출 회복' 가정에 의존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exp3(imgsz 960/1280/1600/1920)가 이 가정을 검증 예정 — 결과에 따라 보수 하한의 가치 재평가</a:t>
            </a:r>
          </a:p>
          <a:p>
            <a:pPr marL="190500" indent="-190500">
              <a:lnSpc>
                <a:spcPct val="140000"/>
              </a:lnSpc>
              <a:spcBef>
                <a:spcPts val="18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④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클래스별 미검출률은 confusion matrix 정규화 PNG 판독값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정밀 수치는 exp4(클래스×크기 구간 recall) 실행 시 CSV로 대체 예정</a:t>
            </a:r>
          </a:p>
          <a:p>
            <a:pPr marL="190500" indent="-190500">
              <a:lnSpc>
                <a:spcPct val="140000"/>
              </a:lnSpc>
              <a:spcBef>
                <a:spcPts val="18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⑤"/>
            </a:pPr>
            <a:r>
              <a:rPr sz="15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옵션 C·D의 공수·품질 영향은 정량 실험이 없는 정성 비교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채택 검토 전 파일럿 라벨링(수십 장)으로 공수·일관성 실측 필요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13 /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" y="12700"/>
            <a:ext cx="12166600" cy="6832600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APPENDIX ·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원자료 경로와 재집계 조건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수치의 1차 출처 — 전부 CSV·로그·가중치로 재현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8000" y="14097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[1] 전수 재집계 (2026-07-23)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exp5_instances.csv.gz (N=501,377) — 개수·면적 점유율, 클래스별 생략률, 공수(세장형 예외 포함)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19685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8000" y="20828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[2] 재학습 원자료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exp2/exp6/exp7_results.csv · 학습 로그·best.pt 8종 (ver2_실험/cluster_results/) — YOLO26x-seg@1280, 100 ep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000" y="2641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8000" y="27559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[3] stride 4 시뮬레이션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exp5_survival_summary.md · exp5_panels/ — GT 생성 경로(1/4 downsample) 전수 통과 측정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3314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8000" y="34290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[4] 검출 실증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exp2_base confusion matrix (무필터 val) · val 25장 예측 검증 스크립트 (2026-07-23, conf 스윕·면적 coverage)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39878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8000" y="41021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[5] 코드 필터 구현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prepare_yolo_dataset.py — 크기·세장형 예외 필터 · 시뮬레이션 정책표와 kept 수 ±0.1% 교차검증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46609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8000" y="47752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[6] 외부 데이터셋 관행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COCO small = 면적 32² px² · nuImages 높이 10 px 미만 미라벨 · DOTA v1.0 10 px 미만 미라벨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8000" y="53340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8000" y="5448300"/>
            <a:ext cx="1117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[7] 차트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300" b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본 분석 재작성 (chart_drop_count_vs_area·gt_survival·cost_perf·background_miss 등, exp2/5/6 CSV 기반)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26000" y="6502400"/>
            <a:ext cx="254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14 /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
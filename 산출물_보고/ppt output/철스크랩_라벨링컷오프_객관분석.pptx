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700" y="12700"/>
            <a:ext cx="12166600" cy="6832600"/>
          </a:xfrm>
          <a:prstGeom prst="rect">
            <a:avLst/>
          </a:prstGeom>
          <a:noFill/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8000" y="6985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00">
                <a:solidFill>
                  <a:srgbClr val="6FA32E"/>
                </a:solidFill>
                <a:latin typeface="Paperlogy 6 SemiBold"/>
                <a:ea typeface="Paperlogy 6 SemiBold"/>
                <a:cs typeface="Paperlogy 6 SemiBold"/>
              </a:rPr>
              <a:t>REPORT · 분석 보고자료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1003300"/>
            <a:ext cx="457200" cy="2540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8000" y="1219200"/>
            <a:ext cx="11176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철스크랩 라벨링 컷오프 기준</a:t>
            </a:r>
          </a:p>
          <a:p>
            <a:pPr algn="l">
              <a:lnSpc>
                <a:spcPct val="120000"/>
              </a:lnSpc>
            </a:pPr>
            <a:r>
              <a:rPr sz="4000" b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정의 · 정량 분석 · 소형 객체 처리 방안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2730500"/>
            <a:ext cx="11176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90500" indent="-190500">
              <a:lnSpc>
                <a:spcPct val="125000"/>
              </a:lnSpc>
              <a:buClr>
                <a:srgbClr val="1A1A1A"/>
              </a:buClr>
              <a:buSzPct val="78000"/>
              <a:buFont typeface="Paperlogy"/>
              <a:buChar char="◆"/>
            </a:pPr>
            <a:r>
              <a:rPr sz="1600" b="1">
                <a:solidFill>
                  <a:srgbClr val="555555"/>
                </a:solidFill>
                <a:latin typeface="Paperlogy 6 SemiBold"/>
                <a:ea typeface="Paperlogy 6 SemiBold"/>
                <a:cs typeface="Paperlogy 6 SemiBold"/>
              </a:rPr>
              <a:t>용어 정의 · 생략 규모 전수 정량(N=501,377) · 표기 옵션 4종 비교 · 보수 라벨링+코드 필터 체계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000" y="31496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08000" y="3327400"/>
            <a:ext cx="6540500" cy="2260600"/>
          </a:xfrm>
          <a:prstGeom prst="rect">
            <a:avLst/>
          </a:prstGeom>
          <a:solidFill>
            <a:srgbClr val="FAFB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2000" y="3556000"/>
            <a:ext cx="6032500" cy="184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작성 · KIMS 재료데이터·분석연구본부 이치헌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5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성격 · 내부 분석 보고자료 — 경과 서술 없이 정량 분석 전용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5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근거 · 전수 재집계(501,377) + 재학습 8회 + 예측 검증(val 25장)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5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원자료 · exp2/exp5/exp6/exp7 CSV·로그 (부록 References)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3500" y="3327400"/>
            <a:ext cx="4000500" cy="2260600"/>
          </a:xfrm>
          <a:prstGeom prst="rect">
            <a:avLst/>
          </a:prstGeom>
          <a:solidFill>
            <a:srgbClr val="0F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950200" y="3543300"/>
            <a:ext cx="3556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8DC63F"/>
                </a:solidFill>
                <a:latin typeface="Paperlogy 6 SemiBold"/>
                <a:ea typeface="Paperlogy 6 SemiBold"/>
                <a:cs typeface="Paperlogy 6 SemiBold"/>
              </a:rPr>
              <a:t>핵심 수치</a:t>
            </a:r>
          </a:p>
          <a:p>
            <a:pPr algn="l">
              <a:lnSpc>
                <a:spcPct val="135000"/>
              </a:lnSpc>
              <a:spcBef>
                <a:spcPts val="1600"/>
              </a:spcBef>
            </a:pPr>
            <a:r>
              <a:rPr sz="1500" b="1">
                <a:solidFill>
                  <a:srgbClr val="FFFFFF"/>
                </a:solidFill>
                <a:latin typeface="Paperlogy 6 SemiBold"/>
                <a:ea typeface="Paperlogy 6 SemiBold"/>
                <a:cs typeface="Paperlogy 6 SemiBold"/>
              </a:rPr>
              <a:t>생략 규모 — 개수 53.5% vs 면적 6.7%</a:t>
            </a:r>
          </a:p>
          <a:p>
            <a:pPr algn="l">
              <a:lnSpc>
                <a:spcPct val="135000"/>
              </a:lnSpc>
              <a:spcBef>
                <a:spcPts val="1600"/>
              </a:spcBef>
            </a:pPr>
            <a:r>
              <a:rPr sz="1500" b="1">
                <a:solidFill>
                  <a:srgbClr val="D9EFC5"/>
                </a:solidFill>
                <a:latin typeface="Paperlogy 6 SemiBold"/>
                <a:ea typeface="Paperlogy 6 SemiBold"/>
                <a:cs typeface="Paperlogy 6 SemiBold"/>
              </a:rPr>
              <a:t>성능 영향 — 공통 val −1.06%p</a:t>
            </a:r>
          </a:p>
          <a:p>
            <a:pPr algn="l">
              <a:lnSpc>
                <a:spcPct val="135000"/>
              </a:lnSpc>
              <a:spcBef>
                <a:spcPts val="1600"/>
              </a:spcBef>
            </a:pPr>
            <a:r>
              <a:rPr sz="1400" b="0">
                <a:solidFill>
                  <a:srgbClr val="C9D6CF"/>
                </a:solidFill>
                <a:latin typeface="Paperlogy 4 Regular"/>
                <a:ea typeface="Paperlogy 4 Regular"/>
                <a:cs typeface="Paperlogy 4 Regular"/>
              </a:rPr>
              <a:t>보수 하한 24 px = 공수 +7.7%p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000" y="58928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7A7A7A"/>
                </a:solidFill>
                <a:latin typeface="Paperlogy 6 SemiBold"/>
                <a:ea typeface="Paperlogy 6 SemiBold"/>
                <a:cs typeface="Paperlogy 6 SemiBold"/>
              </a:rPr>
              <a:t>2026. 07. 23</a:t>
            </a:r>
          </a:p>
        </p:txBody>
      </p:sp>
      <p:pic>
        <p:nvPicPr>
          <p:cNvPr id="14" name="Picture 13" descr="BS-302 시그니처_좌우조합 A(국영문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0" y="5816600"/>
            <a:ext cx="1975373" cy="330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700" y="12700"/>
            <a:ext cx="12166600" cy="6832600"/>
          </a:xfrm>
          <a:prstGeom prst="rect">
            <a:avLst/>
          </a:prstGeom>
          <a:noFill/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17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81000" y="165100"/>
            <a:ext cx="19050" cy="114300"/>
          </a:xfrm>
          <a:prstGeom prst="rect">
            <a:avLst/>
          </a:prstGeom>
          <a:solidFill>
            <a:srgbClr val="6F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39700"/>
            <a:ext cx="1117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CONTENTS · 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04800"/>
            <a:ext cx="1117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보고자료 구성 — 정의, 정량 분석, 처리 방안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774700"/>
            <a:ext cx="381000" cy="190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52500" y="781050"/>
            <a:ext cx="107315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8000" y="8636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90500" indent="-190500">
              <a:lnSpc>
                <a:spcPct val="120000"/>
              </a:lnSpc>
              <a:buClr>
                <a:srgbClr val="1A1A1A"/>
              </a:buClr>
              <a:buSzPct val="78000"/>
              <a:buFont typeface="Paperlogy"/>
              <a:buChar char="◆"/>
            </a:pPr>
            <a:r>
              <a:rPr sz="1700" b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용어의 조작적 정의 → 생략 규모·성능·물리 한계의 정량 → 소형 객체 표기 옵션과 권고 체계 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1155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58800" y="1689100"/>
            <a:ext cx="4445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6FA32E"/>
                </a:solidFill>
                <a:latin typeface="Paperlogy 6 SemiBold"/>
                <a:ea typeface="Paperlogy 6 SemiBold"/>
                <a:cs typeface="Paperlogy 6 Semi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6500" y="1676400"/>
            <a:ext cx="8636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용어·개념 정의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250" b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'그린다/생략'의 조작적 정의 · cutoff 환산 · 면적비 · 세장형 예외 규칙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1000" y="1714500"/>
            <a:ext cx="63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8000" y="2273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58800" y="2463800"/>
            <a:ext cx="4445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6FA32E"/>
                </a:solidFill>
                <a:latin typeface="Paperlogy 6 SemiBold"/>
                <a:ea typeface="Paperlogy 6 SemiBold"/>
                <a:cs typeface="Paperlogy 6 Semi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6500" y="2451100"/>
            <a:ext cx="8636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생략 규모 정량 분석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250" b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개수 53.5% vs 면적 6.7% · 재학습 8회 성능 영향 · stride 4 한계 · 미검출 실증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1000" y="2489200"/>
            <a:ext cx="63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8000" y="30480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58800" y="3238500"/>
            <a:ext cx="4445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6FA32E"/>
                </a:solidFill>
                <a:latin typeface="Paperlogy 6 SemiBold"/>
                <a:ea typeface="Paperlogy 6 SemiBold"/>
                <a:cs typeface="Paperlogy 6 SemiBol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6500" y="3225800"/>
            <a:ext cx="8636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소형 객체 처리 방안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250" b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표기 옵션 4종 trade-off · 보수 라벨(24 px)+코드 필터(30 px) 2계층 체계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1000" y="3263900"/>
            <a:ext cx="63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000" y="3822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8000" y="4165600"/>
            <a:ext cx="1117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부록 · References — 원자료 경로와 재집계 조건, 외부 데이터셋 관행  ……  14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000" y="6337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BS-302 시그니처_좌우조합 A(국영문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438900"/>
            <a:ext cx="1823421" cy="3048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826000" y="65024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02 / 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0" y="64643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KIMS 재료데이터·분석연구본부 · 철스크랩 라벨링 컷오프 기준 분석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700" y="12700"/>
            <a:ext cx="12166600" cy="6832600"/>
          </a:xfrm>
          <a:prstGeom prst="rect">
            <a:avLst/>
          </a:prstGeom>
          <a:noFill/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17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8000" y="1905000"/>
            <a:ext cx="2540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>
                <a:solidFill>
                  <a:srgbClr val="E8F4D6"/>
                </a:solidFill>
                <a:latin typeface="Paperlogy 8 ExtraBold"/>
                <a:ea typeface="Paperlogy 8 ExtraBold"/>
                <a:cs typeface="Paperlogy 8 ExtraBol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2730500"/>
            <a:ext cx="9525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용어·개념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302000"/>
            <a:ext cx="1016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90500" indent="-190500">
              <a:lnSpc>
                <a:spcPct val="140000"/>
              </a:lnSpc>
              <a:buClr>
                <a:srgbClr val="1A1A1A"/>
              </a:buClr>
              <a:buSzPct val="78000"/>
              <a:buFont typeface="Paperlogy"/>
              <a:buChar char="◆"/>
            </a:pPr>
            <a:r>
              <a:rPr sz="1700" b="1">
                <a:solidFill>
                  <a:srgbClr val="555555"/>
                </a:solidFill>
                <a:latin typeface="Paperlogy 6 SemiBold"/>
                <a:ea typeface="Paperlogy 6 SemiBold"/>
                <a:cs typeface="Paperlogy 6 SemiBold"/>
              </a:rPr>
              <a:t>'그린다/생략'의 조작적 정의 · cutoff 환산 · 면적비 · 세장형 예외 규칙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39370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58800" y="40640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6FA32E"/>
                </a:solidFill>
                <a:latin typeface="Paperlogy 6 SemiBold"/>
                <a:ea typeface="Paperlogy 6 SemiBold"/>
                <a:cs typeface="Paperlogy 6 Semi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40640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용어·개념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4000" y="40640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FA32E"/>
                </a:solidFill>
                <a:latin typeface="Paperlogy 4 Regular"/>
                <a:ea typeface="Paperlogy 4 Regular"/>
                <a:cs typeface="Paperlogy 4 Regula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800" y="43561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9CA3AF"/>
                </a:solidFill>
                <a:latin typeface="Paperlogy 6 SemiBold"/>
                <a:ea typeface="Paperlogy 6 SemiBold"/>
                <a:cs typeface="Paperlogy 6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43561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CA3AF"/>
                </a:solidFill>
                <a:latin typeface="Paperlogy 4 Regular"/>
                <a:ea typeface="Paperlogy 4 Regular"/>
                <a:cs typeface="Paperlogy 4 Regular"/>
              </a:rPr>
              <a:t>생략 규모 정량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4000" y="43561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CA3AF"/>
                </a:solidFill>
                <a:latin typeface="Paperlogy 4 Regular"/>
                <a:ea typeface="Paperlogy 4 Regular"/>
                <a:cs typeface="Paperlogy 4 Regular"/>
              </a:rPr>
              <a:t>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8800" y="46482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9CA3AF"/>
                </a:solidFill>
                <a:latin typeface="Paperlogy 6 SemiBold"/>
                <a:ea typeface="Paperlogy 6 SemiBold"/>
                <a:cs typeface="Paperlogy 6 Semi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000" y="46482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CA3AF"/>
                </a:solidFill>
                <a:latin typeface="Paperlogy 4 Regular"/>
                <a:ea typeface="Paperlogy 4 Regular"/>
                <a:cs typeface="Paperlogy 4 Regular"/>
              </a:rPr>
              <a:t>소형 객체 처리 방안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4000" y="46482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CA3AF"/>
                </a:solidFill>
                <a:latin typeface="Paperlogy 4 Regular"/>
                <a:ea typeface="Paperlogy 4 Regular"/>
                <a:cs typeface="Paperlogy 4 Regular"/>
              </a:rPr>
              <a:t>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000" y="6337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BS-302 시그니처_좌우조합 A(국영문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438900"/>
            <a:ext cx="1823421" cy="304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826000" y="65024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03 / 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0" y="64643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KIMS 재료데이터·분석연구본부 · 철스크랩 라벨링 컷오프 기준 분석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700" y="12700"/>
            <a:ext cx="12166600" cy="6832600"/>
          </a:xfrm>
          <a:prstGeom prst="rect">
            <a:avLst/>
          </a:prstGeom>
          <a:noFill/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17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81000" y="165100"/>
            <a:ext cx="19050" cy="114300"/>
          </a:xfrm>
          <a:prstGeom prst="rect">
            <a:avLst/>
          </a:prstGeom>
          <a:solidFill>
            <a:srgbClr val="6F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39700"/>
            <a:ext cx="1117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01 · 용어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04800"/>
            <a:ext cx="1117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라벨링 '생략'의 정의와 cutoff 환산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774700"/>
            <a:ext cx="381000" cy="190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52500" y="781050"/>
            <a:ext cx="107315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8000" y="8636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90500" indent="-190500">
              <a:lnSpc>
                <a:spcPct val="120000"/>
              </a:lnSpc>
              <a:buClr>
                <a:srgbClr val="1A1A1A"/>
              </a:buClr>
              <a:buSzPct val="78000"/>
              <a:buFont typeface="Paperlogy"/>
              <a:buChar char="◆"/>
            </a:pPr>
            <a:r>
              <a:rPr sz="1700" b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'그린다' = 어노테이션 도구에서 객체 윤곽 polygon을 생성하는 작업 — cutoff는 이 작업의 생략 하한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1155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8000" y="1371600"/>
            <a:ext cx="11176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①"/>
            </a:pPr>
            <a:r>
              <a:rPr sz="15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'그린다' = LabelMe에서 객체 윤곽을 따라 점을 찍어 polygon 1개를 생성하는 작업</a:t>
            </a:r>
          </a:p>
          <a:p>
            <a:pPr marL="190500" indent="0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생략 시 JSON에 해당 객체 항목이 남지 않음 — 해당 픽셀은 배경(라벨 없음)으로 학습·평가에서 제외됨</a:t>
            </a:r>
          </a:p>
          <a:p>
            <a:pPr marL="190500" indent="-190500">
              <a:lnSpc>
                <a:spcPct val="140000"/>
              </a:lnSpc>
              <a:spcBef>
                <a:spcPts val="150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②"/>
            </a:pPr>
            <a:r>
              <a:rPr sz="15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'생략' = 삭제가 아니라 polygon 생성 작업의 하한 — 이미지·기존 라벨은 불변</a:t>
            </a:r>
          </a:p>
          <a:p>
            <a:pPr marL="190500" indent="0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동일 기준이 학습 데이터 생성 코드 필터(prepare_yolo_dataset.py)로도 구현되어 있음 — 시뮬레이션 정책표와 ±0.1% 일치 검증</a:t>
            </a:r>
          </a:p>
          <a:p>
            <a:pPr marL="190500" indent="-190500">
              <a:lnSpc>
                <a:spcPct val="140000"/>
              </a:lnSpc>
              <a:spcBef>
                <a:spcPts val="150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③"/>
            </a:pPr>
            <a:r>
              <a:rPr sz="15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cutoff는 bbox 한 변이 아니라 √(polygon 면적) 기준 — 해상도 단계별 환산은 아래 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8000" y="3314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8000" y="3454400"/>
          <a:ext cx="11176000" cy="163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0"/>
                <a:gridCol w="2667000"/>
                <a:gridCol w="5842000"/>
              </a:tblGrid>
              <a:tr h="317500"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기준 단계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의미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</a:tr>
              <a:tr h="330200"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원본 4K (3840×2160)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√면적 30 px (900 px²)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라벨링 작업 기준 · frame 가로의 0.78%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학습 입력 1280 (1/3 축소)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√면적 10 px (100 px²)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모델 입력에서의 크기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330200"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mask proto 320 (입력의 1/4)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√면적 2.5 px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mask 표현 해상도 — 2~3 cell 크기의 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면적비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0.011%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900 ÷ 8,294,400(frame 전체 면적) — 아래 주 참조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08000" y="5283200"/>
            <a:ext cx="11176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표 — cutoff 30 px의 해상도 단계별 환산 · 면적비 분모는 4K frame 전체(cargo 적재함 대비 아님, 적재함≈frame 1/3 가정 시 ≈0.03%)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8000" y="6337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BS-302 시그니처_좌우조합 A(국영문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438900"/>
            <a:ext cx="1823421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826000" y="65024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04 / 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0" y="64643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KIMS 재료데이터·분석연구본부 · 철스크랩 라벨링 컷오프 기준 분석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700" y="12700"/>
            <a:ext cx="12166600" cy="6832600"/>
          </a:xfrm>
          <a:prstGeom prst="rect">
            <a:avLst/>
          </a:prstGeom>
          <a:noFill/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17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81000" y="165100"/>
            <a:ext cx="19050" cy="114300"/>
          </a:xfrm>
          <a:prstGeom prst="rect">
            <a:avLst/>
          </a:prstGeom>
          <a:solidFill>
            <a:srgbClr val="6F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39700"/>
            <a:ext cx="1117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01 · 용어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04800"/>
            <a:ext cx="1117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세장형의 정의와 예외 규칙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774700"/>
            <a:ext cx="381000" cy="190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52500" y="781050"/>
            <a:ext cx="107315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8000" y="8636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90500" indent="-190500">
              <a:lnSpc>
                <a:spcPct val="120000"/>
              </a:lnSpc>
              <a:buClr>
                <a:srgbClr val="1A1A1A"/>
              </a:buClr>
              <a:buSzPct val="78000"/>
              <a:buFont typeface="Paperlogy"/>
              <a:buChar char="◆"/>
            </a:pPr>
            <a:r>
              <a:rPr sz="1700" b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세장형 = 폭 대비 길이가 큰 선형 객체(rebar·pipe류) — 면적 미달이어도 긴 변 72 px 이상이면 라벨 유지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1155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8000" y="1371600"/>
            <a:ext cx="11176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①"/>
            </a:pPr>
            <a:r>
              <a:rPr sz="15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정의 — 면적은 작아도 긴 변이 긴 객체 (rebar · small pipe · square pipe · pipe · mesh)</a:t>
            </a:r>
          </a:p>
          <a:p>
            <a:pPr marL="190500" indent="0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면적 cutoff만 적용 시 화면을 가로지르는 rebar가 통째로 생략되는 문제 — 예외 규칙의 필요 근거</a:t>
            </a:r>
          </a:p>
          <a:p>
            <a:pPr marL="190500" indent="-190500">
              <a:lnSpc>
                <a:spcPct val="135000"/>
              </a:lnSpc>
              <a:spcBef>
                <a:spcPts val="130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②"/>
            </a:pPr>
            <a:r>
              <a:rPr sz="15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예외 규칙 — √면적 30 px 미만이어도 bbox 긴 변 ≥ 원본 72 px면 라벨 유지</a:t>
            </a:r>
          </a:p>
          <a:p>
            <a:pPr marL="190500" indent="0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예외 제거 시 전체 +0.35%p이나 rebar AP50 −40%(0.1055→0.0634) — 예외 유지 확정 (exp6)</a:t>
            </a:r>
          </a:p>
          <a:p>
            <a:pPr marL="190500" indent="-190500">
              <a:lnSpc>
                <a:spcPct val="135000"/>
              </a:lnSpc>
              <a:spcBef>
                <a:spcPts val="130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③"/>
            </a:pPr>
            <a:r>
              <a:rPr sz="15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두께 하한 — 두께(면적÷긴 변) 원본 6 px 미만은 작업 우선순위 최하위</a:t>
            </a:r>
          </a:p>
          <a:p>
            <a:pPr marL="190500" indent="0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stride 4에서 GT 52~74% 분절 구간 (exp5) — 라벨 유지, 공수 배분 후순위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8000" y="38735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exp5_rebar_va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8100" y="4025900"/>
            <a:ext cx="2140798" cy="14605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168100" y="4025900"/>
            <a:ext cx="2140798" cy="1460500"/>
          </a:xfrm>
          <a:prstGeom prst="rect">
            <a:avLst/>
          </a:prstGeom>
          <a:noFill/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8000" y="5537200"/>
            <a:ext cx="5461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그림 — 두께 ~6 px rebar GT의 stride 4 분절 (상: 입력, 하: 복원)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출처: exp5 시뮬레이션 · val rebar 사례</a:t>
            </a:r>
          </a:p>
        </p:txBody>
      </p:sp>
      <p:pic>
        <p:nvPicPr>
          <p:cNvPr id="16" name="Picture 15" descr="exp5_smallpipe_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0" y="4137025"/>
            <a:ext cx="4953000" cy="123825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223000" y="4137025"/>
            <a:ext cx="4953000" cy="1238250"/>
          </a:xfrm>
          <a:prstGeom prst="rect">
            <a:avLst/>
          </a:prstGeom>
          <a:noFill/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23000" y="5537200"/>
            <a:ext cx="4953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그림 — 두께 ~9 px small pipe — 형상 생존 (좌: GT, 우: 복원)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출처: exp5 시뮬레이션 · val small pipe 사례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000" y="6337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BS-302 시그니처_좌우조합 A(국영문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6438900"/>
            <a:ext cx="1823421" cy="304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826000" y="65024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05 / 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0" y="64643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KIMS 재료데이터·분석연구본부 · 철스크랩 라벨링 컷오프 기준 분석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700" y="12700"/>
            <a:ext cx="12166600" cy="6832600"/>
          </a:xfrm>
          <a:prstGeom prst="rect">
            <a:avLst/>
          </a:prstGeom>
          <a:noFill/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17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8000" y="1905000"/>
            <a:ext cx="2540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>
                <a:solidFill>
                  <a:srgbClr val="E8F4D6"/>
                </a:solidFill>
                <a:latin typeface="Paperlogy 8 ExtraBold"/>
                <a:ea typeface="Paperlogy 8 ExtraBold"/>
                <a:cs typeface="Paperlogy 8 ExtraBold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2730500"/>
            <a:ext cx="9525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생략 규모 정량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302000"/>
            <a:ext cx="1016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90500" indent="-190500">
              <a:lnSpc>
                <a:spcPct val="140000"/>
              </a:lnSpc>
              <a:buClr>
                <a:srgbClr val="1A1A1A"/>
              </a:buClr>
              <a:buSzPct val="78000"/>
              <a:buFont typeface="Paperlogy"/>
              <a:buChar char="◆"/>
            </a:pPr>
            <a:r>
              <a:rPr sz="1700" b="1">
                <a:solidFill>
                  <a:srgbClr val="555555"/>
                </a:solidFill>
                <a:latin typeface="Paperlogy 6 SemiBold"/>
                <a:ea typeface="Paperlogy 6 SemiBold"/>
                <a:cs typeface="Paperlogy 6 SemiBold"/>
              </a:rPr>
              <a:t>개수 53.5% vs 면적 6.7% · 재학습 8회 성능 영향 · stride 4 한계 · 미검출 실증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39370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58800" y="40640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9CA3AF"/>
                </a:solidFill>
                <a:latin typeface="Paperlogy 6 SemiBold"/>
                <a:ea typeface="Paperlogy 6 SemiBold"/>
                <a:cs typeface="Paperlogy 6 Semi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40640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CA3AF"/>
                </a:solidFill>
                <a:latin typeface="Paperlogy 4 Regular"/>
                <a:ea typeface="Paperlogy 4 Regular"/>
                <a:cs typeface="Paperlogy 4 Regular"/>
              </a:rPr>
              <a:t>용어·개념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4000" y="40640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CA3AF"/>
                </a:solidFill>
                <a:latin typeface="Paperlogy 4 Regular"/>
                <a:ea typeface="Paperlogy 4 Regular"/>
                <a:cs typeface="Paperlogy 4 Regula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800" y="43561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6FA32E"/>
                </a:solidFill>
                <a:latin typeface="Paperlogy 6 SemiBold"/>
                <a:ea typeface="Paperlogy 6 SemiBold"/>
                <a:cs typeface="Paperlogy 6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43561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생략 규모 정량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4000" y="43561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FA32E"/>
                </a:solidFill>
                <a:latin typeface="Paperlogy 4 Regular"/>
                <a:ea typeface="Paperlogy 4 Regular"/>
                <a:cs typeface="Paperlogy 4 Regular"/>
              </a:rPr>
              <a:t>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8800" y="46482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9CA3AF"/>
                </a:solidFill>
                <a:latin typeface="Paperlogy 6 SemiBold"/>
                <a:ea typeface="Paperlogy 6 SemiBold"/>
                <a:cs typeface="Paperlogy 6 Semi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000" y="46482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CA3AF"/>
                </a:solidFill>
                <a:latin typeface="Paperlogy 4 Regular"/>
                <a:ea typeface="Paperlogy 4 Regular"/>
                <a:cs typeface="Paperlogy 4 Regular"/>
              </a:rPr>
              <a:t>소형 객체 처리 방안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4000" y="46482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CA3AF"/>
                </a:solidFill>
                <a:latin typeface="Paperlogy 4 Regular"/>
                <a:ea typeface="Paperlogy 4 Regular"/>
                <a:cs typeface="Paperlogy 4 Regular"/>
              </a:rPr>
              <a:t>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000" y="6337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BS-302 시그니처_좌우조합 A(국영문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438900"/>
            <a:ext cx="1823421" cy="304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826000" y="65024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06 / 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0" y="64643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KIMS 재료데이터·분석연구본부 · 철스크랩 라벨링 컷오프 기준 분석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700" y="12700"/>
            <a:ext cx="12166600" cy="6832600"/>
          </a:xfrm>
          <a:prstGeom prst="rect">
            <a:avLst/>
          </a:prstGeom>
          <a:noFill/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17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81000" y="165100"/>
            <a:ext cx="19050" cy="114300"/>
          </a:xfrm>
          <a:prstGeom prst="rect">
            <a:avLst/>
          </a:prstGeom>
          <a:solidFill>
            <a:srgbClr val="6F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39700"/>
            <a:ext cx="1117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02 · 정량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04800"/>
            <a:ext cx="1117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생략 규모 — 개수 53.5% vs 면적 6.7%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774700"/>
            <a:ext cx="381000" cy="190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52500" y="781050"/>
            <a:ext cx="107315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8000" y="8636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90500" indent="-190500">
              <a:lnSpc>
                <a:spcPct val="120000"/>
              </a:lnSpc>
              <a:buClr>
                <a:srgbClr val="1A1A1A"/>
              </a:buClr>
              <a:buSzPct val="78000"/>
              <a:buFont typeface="Paperlogy"/>
              <a:buChar char="◆"/>
            </a:pPr>
            <a:r>
              <a:rPr sz="1700" b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확정안(30 px+예외) 적용 시 개수는 절반 생략되나 라벨 면적의 93.3%는 유지 (N=501,377 전수)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1155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chart_drop_count_vs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878" y="1371600"/>
            <a:ext cx="6140742" cy="3683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07878" y="1371600"/>
            <a:ext cx="6140742" cy="3683000"/>
          </a:xfrm>
          <a:prstGeom prst="rect">
            <a:avLst/>
          </a:prstGeom>
          <a:noFill/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08000" y="5105400"/>
            <a:ext cx="65405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그림 — 생략분의 개수·면적 점유 (확정안 vs 보수안)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출처: exp5_instances.csv.gz 전수 재집계 (2026-07-23)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2500" y="1371600"/>
            <a:ext cx="3873500" cy="393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①"/>
            </a:pPr>
            <a:r>
              <a:rPr sz="145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개수 기준 53.5% 생략 (268,155개)</a:t>
            </a:r>
          </a:p>
          <a:p>
            <a:pPr marL="190500" indent="0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'생략이 너무 많다'는 인상은 개수 축에서만 성립</a:t>
            </a:r>
          </a:p>
          <a:p>
            <a:pPr marL="190500" indent="-190500">
              <a:lnSpc>
                <a:spcPct val="140000"/>
              </a:lnSpc>
              <a:spcBef>
                <a:spcPts val="160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②"/>
            </a:pPr>
            <a:r>
              <a:rPr sz="145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면적 기준 6.69% 생략 — 물량 정보 93.3% 보존</a:t>
            </a:r>
          </a:p>
          <a:p>
            <a:pPr marL="190500" indent="0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frame 전체 대비 0.605% · 생략 대상은 개당 frame의 0.011% 미만 초소형</a:t>
            </a:r>
          </a:p>
          <a:p>
            <a:pPr marL="190500" indent="-190500">
              <a:lnSpc>
                <a:spcPct val="140000"/>
              </a:lnSpc>
              <a:spcBef>
                <a:spcPts val="160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③"/>
            </a:pPr>
            <a:r>
              <a:rPr sz="145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클래스별 생략률 — trash 89% · small pipe 76% · rebar 70%</a:t>
            </a:r>
          </a:p>
          <a:p>
            <a:pPr marL="190500" indent="0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대형 클래스(handler·drum·Guillotine)는 영향 미미 · 세장형 예외로 small pipe 87→76%·rebar 86→70%로 완화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8000" y="6337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BS-302 시그니처_좌우조합 A(국영문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438900"/>
            <a:ext cx="1823421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826000" y="65024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07 / 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0" y="64643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KIMS 재료데이터·분석연구본부 · 철스크랩 라벨링 컷오프 기준 분석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700" y="12700"/>
            <a:ext cx="12166600" cy="6832600"/>
          </a:xfrm>
          <a:prstGeom prst="rect">
            <a:avLst/>
          </a:prstGeom>
          <a:noFill/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17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81000" y="165100"/>
            <a:ext cx="19050" cy="114300"/>
          </a:xfrm>
          <a:prstGeom prst="rect">
            <a:avLst/>
          </a:prstGeom>
          <a:solidFill>
            <a:srgbClr val="6F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39700"/>
            <a:ext cx="1117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02 · 정량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04800"/>
            <a:ext cx="1117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cutoff 수준별 성능 영향 — 30 px 확정 근거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774700"/>
            <a:ext cx="381000" cy="190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52500" y="781050"/>
            <a:ext cx="107315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8000" y="8636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90500" indent="-190500">
              <a:lnSpc>
                <a:spcPct val="120000"/>
              </a:lnSpc>
              <a:buClr>
                <a:srgbClr val="1A1A1A"/>
              </a:buClr>
              <a:buSzPct val="78000"/>
              <a:buFont typeface="Paperlogy"/>
              <a:buChar char="◆"/>
            </a:pPr>
            <a:r>
              <a:rPr sz="1700" b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공통 val(무필터) 기준 cut 30 px = −1.06%p·공수 46.5% · cut 24 px = −0.15%p·공수 54.2%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1155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8000" y="1371600"/>
          <a:ext cx="11176000" cy="184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714500"/>
                <a:gridCol w="1714500"/>
                <a:gridCol w="1460500"/>
                <a:gridCol w="1333500"/>
                <a:gridCol w="2667000"/>
              </a:tblGrid>
              <a:tr h="317500"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학습 데이터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자기 val mAP50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공통 val mAP50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무필터 대비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라벨 공수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판정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</a:tr>
              <a:tr h="304800"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무필터 (전체 라벨)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0.4872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0.4872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대조군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cut 24 px + 예외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0.6454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0.4857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−0.15%p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54.2%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보수 라벨 하한 후보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304800"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cut 30 px + 예외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0.7043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0.4766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−1.06%p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46.5%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확정 제안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cut 36 px + 예외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0.7259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0.4510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−3.62%p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41.9%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기각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304800"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cut 48 px + 예외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0.7440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0.4301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−5.71%p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8000" y="3530600"/>
            <a:ext cx="11176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표 — cutoff 수준별 성능·공수 · 출처: exp2_results.csv · 공수 = 세장형 예외 포함 유지 instance 비율 (전수 재집계)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8000" y="37846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08000" y="3898900"/>
            <a:ext cx="4699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①"/>
            </a:pPr>
            <a:r>
              <a:rPr sz="145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자기 val 상승(0.487→0.744)은 평가셋이 쉬워진 효과</a:t>
            </a:r>
          </a:p>
          <a:p>
            <a:pPr marL="190500" indent="0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공통 val로 재평가하면 부호 반전(0.487→0.430) — 판정 축은 공통 val</a:t>
            </a:r>
          </a:p>
          <a:p>
            <a:pPr marL="190500" indent="-190500">
              <a:lnSpc>
                <a:spcPct val="135000"/>
              </a:lnSpc>
              <a:spcBef>
                <a:spcPts val="140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②"/>
            </a:pPr>
            <a:r>
              <a:rPr sz="145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30 px 미만 라벨 전체(개수 절반)의 성능 기여 = 1.06%p</a:t>
            </a:r>
          </a:p>
          <a:p>
            <a:pPr marL="190500" indent="0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24 px 이상에 학습 신호가 사실상 전부 포함(−0.15%p) — 36 px↑는 손실 가속으로 기각</a:t>
            </a:r>
          </a:p>
        </p:txBody>
      </p:sp>
      <p:pic>
        <p:nvPicPr>
          <p:cNvPr id="15" name="Picture 14" descr="chart_cost_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1523" y="3835400"/>
            <a:ext cx="3397452" cy="1778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651523" y="3835400"/>
            <a:ext cx="3397452" cy="1778000"/>
          </a:xfrm>
          <a:prstGeom prst="rect">
            <a:avLst/>
          </a:prstGeom>
          <a:noFill/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524500" y="5664200"/>
            <a:ext cx="5651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그림 — 라벨 공수 vs 공통 val 성능 · 출처: exp2_results.csv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8000" y="6337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BS-302 시그니처_좌우조합 A(국영문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438900"/>
            <a:ext cx="1823421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826000" y="65024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08 / 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0" y="64643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KIMS 재료데이터·분석연구본부 · 철스크랩 라벨링 컷오프 기준 분석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700" y="12700"/>
            <a:ext cx="12166600" cy="6832600"/>
          </a:xfrm>
          <a:prstGeom prst="rect">
            <a:avLst/>
          </a:prstGeom>
          <a:noFill/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17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81000" y="165100"/>
            <a:ext cx="19050" cy="114300"/>
          </a:xfrm>
          <a:prstGeom prst="rect">
            <a:avLst/>
          </a:prstGeom>
          <a:solidFill>
            <a:srgbClr val="6F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39700"/>
            <a:ext cx="1117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02 · 정량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04800"/>
            <a:ext cx="1117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생략 구간의 물리 한계와 검출 실증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774700"/>
            <a:ext cx="381000" cy="190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52500" y="781050"/>
            <a:ext cx="107315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8000" y="8636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90500" indent="-190500">
              <a:lnSpc>
                <a:spcPct val="120000"/>
              </a:lnSpc>
              <a:buClr>
                <a:srgbClr val="1A1A1A"/>
              </a:buClr>
              <a:buSzPct val="78000"/>
              <a:buFont typeface="Paperlogy"/>
              <a:buChar char="◆"/>
            </a:pPr>
            <a:r>
              <a:rPr sz="1700" b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30 px 미만은 GT부터 stride 4에서 훼손 · 무필터 학습 모델도 rebar 77%·small pipe 72% 미검출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1155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8000" y="1371600"/>
            <a:ext cx="11176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①"/>
            </a:pPr>
            <a:r>
              <a:rPr sz="145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GT 훼손 — 원본 18 px 미만은 과반이 복원 IoU&lt;0.5, 30 px 이상은 97%+ 보존 (좌측 그림)</a:t>
            </a:r>
          </a:p>
          <a:p>
            <a:pPr marL="190500" indent="0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라벨을 그려도 학습 GT 생성(1/4 downsample) 단계에서 형상이 소실되는 구간 — cutoff 30 px의 물리적 근거</a:t>
            </a:r>
          </a:p>
          <a:p>
            <a:pPr marL="190500" indent="-190500">
              <a:lnSpc>
                <a:spcPct val="140000"/>
              </a:lnSpc>
              <a:spcBef>
                <a:spcPts val="140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②"/>
            </a:pPr>
            <a:r>
              <a:rPr sz="145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검출 실증 — base(무필터 학습) 모델도 소형·세장형 대부분을 background로 누락 (우측 그림)</a:t>
            </a:r>
          </a:p>
          <a:p>
            <a:pPr marL="190500" indent="0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trash 82%·rebar 77%·small pipe 72% 미검출(전체 mask recall ≈0.49) — 미회수 구간과 생략 구간 일치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8000" y="2806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chart_gt_survi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833" y="2921000"/>
            <a:ext cx="4360333" cy="2413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121833" y="2921000"/>
            <a:ext cx="4360333" cy="2413000"/>
          </a:xfrm>
          <a:prstGeom prst="rect">
            <a:avLst/>
          </a:prstGeom>
          <a:noFill/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8000" y="5384800"/>
            <a:ext cx="558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그림 — 크기 구간별 stride 4 생존율·복원 IoU (N=501,377)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출처: exp5_survival_summary.md</a:t>
            </a:r>
          </a:p>
        </p:txBody>
      </p:sp>
      <p:pic>
        <p:nvPicPr>
          <p:cNvPr id="16" name="Picture 15" descr="chart_background_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4828" y="2921000"/>
            <a:ext cx="3376343" cy="2413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074828" y="2921000"/>
            <a:ext cx="3376343" cy="2413000"/>
          </a:xfrm>
          <a:prstGeom prst="rect">
            <a:avLst/>
          </a:prstGeom>
          <a:noFill/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0000" y="5384800"/>
            <a:ext cx="4826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그림 — 클래스별 미검출 비율 (base 모델 · 무필터 val)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출처: exp2_base confusion matrix (정규화)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000" y="6337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BS-302 시그니처_좌우조합 A(국영문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6438900"/>
            <a:ext cx="1823421" cy="304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826000" y="65024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09 / 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0" y="64643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KIMS 재료데이터·분석연구본부 · 철스크랩 라벨링 컷오프 기준 분석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700" y="12700"/>
            <a:ext cx="12166600" cy="6832600"/>
          </a:xfrm>
          <a:prstGeom prst="rect">
            <a:avLst/>
          </a:prstGeom>
          <a:noFill/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17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8000" y="1905000"/>
            <a:ext cx="2540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>
                <a:solidFill>
                  <a:srgbClr val="E8F4D6"/>
                </a:solidFill>
                <a:latin typeface="Paperlogy 8 ExtraBold"/>
                <a:ea typeface="Paperlogy 8 ExtraBold"/>
                <a:cs typeface="Paperlogy 8 Extra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2730500"/>
            <a:ext cx="9525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소형 객체 처리 방안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302000"/>
            <a:ext cx="1016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90500" indent="-190500">
              <a:lnSpc>
                <a:spcPct val="140000"/>
              </a:lnSpc>
              <a:buClr>
                <a:srgbClr val="1A1A1A"/>
              </a:buClr>
              <a:buSzPct val="78000"/>
              <a:buFont typeface="Paperlogy"/>
              <a:buChar char="◆"/>
            </a:pPr>
            <a:r>
              <a:rPr sz="1700" b="1">
                <a:solidFill>
                  <a:srgbClr val="555555"/>
                </a:solidFill>
                <a:latin typeface="Paperlogy 6 SemiBold"/>
                <a:ea typeface="Paperlogy 6 SemiBold"/>
                <a:cs typeface="Paperlogy 6 SemiBold"/>
              </a:rPr>
              <a:t>표기 옵션 4종 trade-off · 보수 라벨(24 px)+코드 필터(30 px) 2계층 체계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39370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58800" y="40640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9CA3AF"/>
                </a:solidFill>
                <a:latin typeface="Paperlogy 6 SemiBold"/>
                <a:ea typeface="Paperlogy 6 SemiBold"/>
                <a:cs typeface="Paperlogy 6 Semi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40640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CA3AF"/>
                </a:solidFill>
                <a:latin typeface="Paperlogy 4 Regular"/>
                <a:ea typeface="Paperlogy 4 Regular"/>
                <a:cs typeface="Paperlogy 4 Regular"/>
              </a:rPr>
              <a:t>용어·개념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4000" y="40640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CA3AF"/>
                </a:solidFill>
                <a:latin typeface="Paperlogy 4 Regular"/>
                <a:ea typeface="Paperlogy 4 Regular"/>
                <a:cs typeface="Paperlogy 4 Regular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800" y="43561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9CA3AF"/>
                </a:solidFill>
                <a:latin typeface="Paperlogy 6 SemiBold"/>
                <a:ea typeface="Paperlogy 6 SemiBold"/>
                <a:cs typeface="Paperlogy 6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43561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CA3AF"/>
                </a:solidFill>
                <a:latin typeface="Paperlogy 4 Regular"/>
                <a:ea typeface="Paperlogy 4 Regular"/>
                <a:cs typeface="Paperlogy 4 Regular"/>
              </a:rPr>
              <a:t>생략 규모 정량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4000" y="43561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CA3AF"/>
                </a:solidFill>
                <a:latin typeface="Paperlogy 4 Regular"/>
                <a:ea typeface="Paperlogy 4 Regular"/>
                <a:cs typeface="Paperlogy 4 Regular"/>
              </a:rPr>
              <a:t>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8800" y="46482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6FA32E"/>
                </a:solidFill>
                <a:latin typeface="Paperlogy 6 SemiBold"/>
                <a:ea typeface="Paperlogy 6 SemiBold"/>
                <a:cs typeface="Paperlogy 6 Semi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000" y="46482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소형 객체 처리 방안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4000" y="46482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FA32E"/>
                </a:solidFill>
                <a:latin typeface="Paperlogy 4 Regular"/>
                <a:ea typeface="Paperlogy 4 Regular"/>
                <a:cs typeface="Paperlogy 4 Regular"/>
              </a:rPr>
              <a:t>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000" y="6337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BS-302 시그니처_좌우조합 A(국영문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438900"/>
            <a:ext cx="1823421" cy="304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826000" y="65024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10 / 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0" y="64643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KIMS 재료데이터·분석연구본부 · 철스크랩 라벨링 컷오프 기준 분석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700" y="12700"/>
            <a:ext cx="12166600" cy="6832600"/>
          </a:xfrm>
          <a:prstGeom prst="rect">
            <a:avLst/>
          </a:prstGeom>
          <a:noFill/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17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81000" y="165100"/>
            <a:ext cx="19050" cy="114300"/>
          </a:xfrm>
          <a:prstGeom prst="rect">
            <a:avLst/>
          </a:prstGeom>
          <a:solidFill>
            <a:srgbClr val="6F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39700"/>
            <a:ext cx="1117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03 · 처리 방안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04800"/>
            <a:ext cx="1117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소형 객체 표기 방안 — 옵션 4종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774700"/>
            <a:ext cx="381000" cy="190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52500" y="781050"/>
            <a:ext cx="107315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8000" y="8636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90500" indent="-190500">
              <a:lnSpc>
                <a:spcPct val="120000"/>
              </a:lnSpc>
              <a:buClr>
                <a:srgbClr val="1A1A1A"/>
              </a:buClr>
              <a:buSzPct val="78000"/>
              <a:buFont typeface="Paperlogy"/>
              <a:buChar char="◆"/>
            </a:pPr>
            <a:r>
              <a:rPr sz="1700" b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'생략 대상도 실물 스크랩' — 표기 필요성에 대한 처리 옵션별 trade-off (공수·가역성·지표·리스크)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1155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8000" y="1371600"/>
          <a:ext cx="11176000" cy="168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76500"/>
                <a:gridCol w="762000"/>
                <a:gridCol w="1460500"/>
                <a:gridCol w="2286000"/>
                <a:gridCol w="2603500"/>
              </a:tblGrid>
              <a:tr h="317500"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옵션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방법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공수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가역성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Count·Area 정보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주요 리스크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</a:tr>
              <a:tr h="342900"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A 완전 생략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cutoff 미만 미생성 (확정안)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46.5%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없음·소급 불가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Count 소실·Area 93% 보존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입력 상향 시 재라벨링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B 보수+코드 필터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 px 라벨·학습 30 px 필터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54.2%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있음·필터 재조정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원본 기준 재계산 가능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공수 +7.7%p·소형 QC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342900"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 묶음(chunk)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소형 다수를 polygon 1개로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부분·개별 소실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Count 소실(묶음=1)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덩어리 이슈 재발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D 영역(stuff)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혼합 스크랩 영역 클래스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중간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부분·개수 소실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Area 보존에 유리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클래스·pipeline 변경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8000" y="3441700"/>
            <a:ext cx="11176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표 — 표기 옵션 4종의 trade-off · 공수 = 무필터 대비 유지 instance 비율 (B는 라벨 하한 24 px 기준)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000" y="3721100"/>
            <a:ext cx="111760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①"/>
            </a:pPr>
            <a:r>
              <a:rPr sz="145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옵션은 상호 배타가 아님 — B+D 조합(24 px 개별 + 미만분 영역 1개) 시 개수·면적·가역성 모두 보존</a:t>
            </a:r>
          </a:p>
          <a:p>
            <a:pPr marL="190500" indent="0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단 규칙이 늘수록 작업 일관성 리스크 증가 — 라벨링 가이드의 규칙 수는 최소 유지가 품질 관리에 유리</a:t>
            </a:r>
          </a:p>
          <a:p>
            <a:pPr marL="190500" indent="-190500">
              <a:lnSpc>
                <a:spcPct val="135000"/>
              </a:lnSpc>
              <a:spcBef>
                <a:spcPts val="130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②"/>
            </a:pPr>
            <a:r>
              <a:rPr sz="145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C는 과거 데이터에서 실증된 실패 모드 보유 — rebar 덩어리 라벨 다수 발견·정제 이력</a:t>
            </a:r>
          </a:p>
          <a:p>
            <a:pPr marL="190500" indent="0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채택 시 '개별 식별+크기 통과만 개별, 얽힌 다발은 묶음 1개' 일관성 규칙의 계약 수준 명문화가 전제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8000" y="6337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BS-302 시그니처_좌우조합 A(국영문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438900"/>
            <a:ext cx="1823421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26000" y="65024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11 / 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0" y="64643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KIMS 재료데이터·분석연구본부 · 철스크랩 라벨링 컷오프 기준 분석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700" y="12700"/>
            <a:ext cx="12166600" cy="6832600"/>
          </a:xfrm>
          <a:prstGeom prst="rect">
            <a:avLst/>
          </a:prstGeom>
          <a:noFill/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17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81000" y="165100"/>
            <a:ext cx="19050" cy="114300"/>
          </a:xfrm>
          <a:prstGeom prst="rect">
            <a:avLst/>
          </a:prstGeom>
          <a:solidFill>
            <a:srgbClr val="6F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39700"/>
            <a:ext cx="1117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03 · 처리 방안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04800"/>
            <a:ext cx="1117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보수 라벨링 + 코드 필터 — 2계층 체계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774700"/>
            <a:ext cx="381000" cy="190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52500" y="781050"/>
            <a:ext cx="107315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8000" y="8636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90500" indent="-190500">
              <a:lnSpc>
                <a:spcPct val="120000"/>
              </a:lnSpc>
              <a:buClr>
                <a:srgbClr val="1A1A1A"/>
              </a:buClr>
              <a:buSzPct val="78000"/>
              <a:buFont typeface="Paperlogy"/>
              <a:buChar char="◆"/>
            </a:pPr>
            <a:r>
              <a:rPr sz="1700" b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라벨 하한(사람·비가역) 24 px와 학습 필터(코드·가역) 30 px의 분리 — 필터 코드 기구현·검증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1155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8000" y="1371600"/>
          <a:ext cx="11176000" cy="179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0"/>
                <a:gridCol w="3556000"/>
                <a:gridCol w="4953000"/>
              </a:tblGrid>
              <a:tr h="317500"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계층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기준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>
                          <a:solidFill>
                            <a:srgbClr val="1A1A1A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성격·근거</a:t>
                      </a:r>
                    </a:p>
                  </a:txBody>
                  <a:tcPr>
                    <a:solidFill>
                      <a:srgbClr val="F6F7F8"/>
                    </a:solidFill>
                  </a:tcPr>
                </a:tc>
              </a:tr>
              <a:tr h="368300"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라벨링 하한 (사람 · 비가역)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원본 24 px + 세장형 예외(긴 변 72 px)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보수적 — 학습 신호 전체 보존 (cut 24 px = 무필터 −0.15%p)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8300"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학습 필터 (코드 · 가역)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원본 30 px + 세장형 예외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최적 — prepare_yolo_dataset.py · 시뮬레이션 대비 ±0.1% 검증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368300"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두께 6 px 미만 세장형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라벨 유지 · 작업 우선순위 최하위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GT 52~74% 분절 구간의 공수 절약 (exp5)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8300"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1">
                          <a:solidFill>
                            <a:srgbClr val="6FA32E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지표 분모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'30 px 이상'으로 문서 합의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 wrap="square" lIns="152400" rIns="152400" tIns="101600" bIns="101600" anchor="ctr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300" b="0">
                          <a:solidFill>
                            <a:srgbClr val="333333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Count·Area Accuracy의 정답 개수 정의 명확화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8000" y="3276600"/>
            <a:ext cx="11176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표 — 2계층 체계의 구성 · 라벨은 보수적으로 남기고 학습 기준은 코드에서 적용·재조정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8000" y="3543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08000" y="3644900"/>
            <a:ext cx="11176000" cy="139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①"/>
            </a:pPr>
            <a:r>
              <a:rPr sz="145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비용 — 확정안 대비 추가 공수 +7.7%p (24~30 px 구간 instance 38,543개)</a:t>
            </a:r>
          </a:p>
          <a:p>
            <a:pPr marL="190500" indent="0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편익 — ① 가역성: 입력 상향(1600/1920)·tile 추론 도입 시 필터 해제만으로 즉시 활용 ② 지표 유연성: 원본/필터 기준 병행 재계산 ③ 컷 경계 객체의 축소 증강 안전 마진</a:t>
            </a:r>
          </a:p>
          <a:p>
            <a:pPr marL="190500" indent="-190500">
              <a:lnSpc>
                <a:spcPct val="140000"/>
              </a:lnSpc>
              <a:spcBef>
                <a:spcPts val="140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②"/>
            </a:pPr>
            <a:r>
              <a:rPr sz="145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'전부 그리는 완전 보수'는 정량 근거 없음 — 보수의 실익은 24~30 px 구간에 집중</a:t>
            </a:r>
          </a:p>
          <a:p>
            <a:pPr marL="190500" indent="0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12 px 미만은 GT 자체가 소실(생존율 55~92% · IoU≥0.5 6~21%)되어 라벨링해도 물리적으로 학습 전달 불가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8000" y="6337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BS-302 시그니처_좌우조합 A(국영문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438900"/>
            <a:ext cx="1823421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826000" y="65024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12 / 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0" y="64643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KIMS 재료데이터·분석연구본부 · 철스크랩 라벨링 컷오프 기준 분석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700" y="12700"/>
            <a:ext cx="12166600" cy="6832600"/>
          </a:xfrm>
          <a:prstGeom prst="rect">
            <a:avLst/>
          </a:prstGeom>
          <a:noFill/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17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81000" y="165100"/>
            <a:ext cx="19050" cy="114300"/>
          </a:xfrm>
          <a:prstGeom prst="rect">
            <a:avLst/>
          </a:prstGeom>
          <a:solidFill>
            <a:srgbClr val="6F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39700"/>
            <a:ext cx="1117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03 · 처리 방안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04800"/>
            <a:ext cx="1117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분석의 한계와 전제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774700"/>
            <a:ext cx="381000" cy="190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52500" y="781050"/>
            <a:ext cx="107315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8000" y="8636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90500" indent="-190500">
              <a:lnSpc>
                <a:spcPct val="120000"/>
              </a:lnSpc>
              <a:buClr>
                <a:srgbClr val="1A1A1A"/>
              </a:buClr>
              <a:buSzPct val="78000"/>
              <a:buFont typeface="Paperlogy"/>
              <a:buChar char="◆"/>
            </a:pPr>
            <a:r>
              <a:rPr sz="1700" b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수치 해석 시 유의 사항 — 단일 run 분산 · 면적 중복 · 보수 하한의 전제 조건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1155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8000" y="1409700"/>
            <a:ext cx="11176000" cy="393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90500" indent="-190500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①"/>
            </a:pPr>
            <a:r>
              <a:rPr sz="15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면적 점유율(6.69% · 0.605%)은 polygon 면적 합산 기준</a:t>
            </a:r>
          </a:p>
          <a:p>
            <a:pPr marL="190500" indent="0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겹침 중복 포함 가능 — union 기준으로는 소폭 낮아질 수 있음 (val 25장 union 실측 coverage 6.9%)</a:t>
            </a:r>
          </a:p>
          <a:p>
            <a:pPr marL="190500" indent="-190500">
              <a:lnSpc>
                <a:spcPct val="140000"/>
              </a:lnSpc>
              <a:spcBef>
                <a:spcPts val="180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②"/>
            </a:pPr>
            <a:r>
              <a:rPr sz="15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성능 수치는 YOLO26x-seg@1280 · 100 ep · 조건당 단일 run 기준</a:t>
            </a:r>
          </a:p>
          <a:p>
            <a:pPr marL="190500" indent="0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정책 간 0.3~0.4%p 차이는 seed 반복 검증 전까지 통계적으로 확정하지 않음</a:t>
            </a:r>
          </a:p>
          <a:p>
            <a:pPr marL="190500" indent="-190500">
              <a:lnSpc>
                <a:spcPct val="140000"/>
              </a:lnSpc>
              <a:spcBef>
                <a:spcPts val="180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③"/>
            </a:pPr>
            <a:r>
              <a:rPr sz="15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보수 하한(24 px)의 실익은 '입력 상향 시 소형 검출 회복' 가정에 의존</a:t>
            </a:r>
          </a:p>
          <a:p>
            <a:pPr marL="190500" indent="0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exp3(imgsz 960/1280/1600/1920)가 이 가정을 검증 예정 — 결과에 따라 보수 하한의 가치 재평가</a:t>
            </a:r>
          </a:p>
          <a:p>
            <a:pPr marL="190500" indent="-190500">
              <a:lnSpc>
                <a:spcPct val="140000"/>
              </a:lnSpc>
              <a:spcBef>
                <a:spcPts val="180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④"/>
            </a:pPr>
            <a:r>
              <a:rPr sz="15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클래스별 미검출률은 confusion matrix 정규화 PNG 판독값</a:t>
            </a:r>
          </a:p>
          <a:p>
            <a:pPr marL="190500" indent="0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정밀 수치는 exp4(클래스×크기 구간 recall) 실행 시 CSV로 대체 예정</a:t>
            </a:r>
          </a:p>
          <a:p>
            <a:pPr marL="190500" indent="-190500">
              <a:lnSpc>
                <a:spcPct val="140000"/>
              </a:lnSpc>
              <a:spcBef>
                <a:spcPts val="1800"/>
              </a:spcBef>
              <a:spcAft>
                <a:spcPts val="200"/>
              </a:spcAft>
              <a:buClr>
                <a:srgbClr val="6FA32E"/>
              </a:buClr>
              <a:buSzPct val="110000"/>
              <a:buFont typeface="Paperlogy"/>
              <a:buChar char="⑤"/>
            </a:pPr>
            <a:r>
              <a:rPr sz="15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옵션 C·D의 공수·품질 영향은 정량 실험이 없는 정성 비교</a:t>
            </a:r>
          </a:p>
          <a:p>
            <a:pPr marL="190500" indent="0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채택 검토 시 파일럿 라벨링(수십 장 규모)으로 공수·일관성 실측이 선행 조건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8000" y="6337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BS-302 시그니처_좌우조합 A(국영문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438900"/>
            <a:ext cx="1823421" cy="304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26000" y="65024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13 / 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0" y="64643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KIMS 재료데이터·분석연구본부 · 철스크랩 라벨링 컷오프 기준 분석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700" y="12700"/>
            <a:ext cx="12166600" cy="6832600"/>
          </a:xfrm>
          <a:prstGeom prst="rect">
            <a:avLst/>
          </a:prstGeom>
          <a:noFill/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17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381000" y="165100"/>
            <a:ext cx="19050" cy="114300"/>
          </a:xfrm>
          <a:prstGeom prst="rect">
            <a:avLst/>
          </a:prstGeom>
          <a:solidFill>
            <a:srgbClr val="6FA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39700"/>
            <a:ext cx="1117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APPENDIX · 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04800"/>
            <a:ext cx="1117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A1A1A"/>
                </a:solidFill>
                <a:latin typeface="Paperlogy 7 Bold"/>
                <a:ea typeface="Paperlogy 7 Bold"/>
                <a:cs typeface="Paperlogy 7 Bold"/>
              </a:rPr>
              <a:t>원자료 경로와 재집계 조건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774700"/>
            <a:ext cx="381000" cy="19050"/>
          </a:xfrm>
          <a:prstGeom prst="rect">
            <a:avLst/>
          </a:prstGeom>
          <a:solidFill>
            <a:srgbClr val="8D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52500" y="781050"/>
            <a:ext cx="107315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8000" y="8636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90500" indent="-190500">
              <a:lnSpc>
                <a:spcPct val="120000"/>
              </a:lnSpc>
              <a:buClr>
                <a:srgbClr val="1A1A1A"/>
              </a:buClr>
              <a:buSzPct val="78000"/>
              <a:buFont typeface="Paperlogy"/>
              <a:buChar char="◆"/>
            </a:pPr>
            <a:r>
              <a:rPr sz="1700" b="0">
                <a:solidFill>
                  <a:srgbClr val="555555"/>
                </a:solidFill>
                <a:latin typeface="Paperlogy 4 Regular"/>
                <a:ea typeface="Paperlogy 4 Regular"/>
                <a:cs typeface="Paperlogy 4 Regular"/>
              </a:rPr>
              <a:t>본 보고서 수치의 1차 출처 — 모든 결과는 CSV·로그·가중치로 재현 가능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1155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8000" y="1409700"/>
            <a:ext cx="11176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[1] 전수 재집계 (2026-07-23)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exp5_instances.csv.gz (N=501,377) — 개수·면적 점유율, 클래스별 생략률, 공수(세장형 예외 포함)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8000" y="19685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08000" y="2082800"/>
            <a:ext cx="11176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[2] 재학습 원자료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exp2/exp6/exp7_results.csv · 학습 로그·best.pt 8종 (ver2_실험/cluster_results/) — YOLO26x-seg@1280, 100 ep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8000" y="26416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8000" y="2755900"/>
            <a:ext cx="11176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[3] stride 4 시뮬레이션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exp5_survival_summary.md · exp5_panels/ — GT 생성 경로(1/4 downsample) 전수 통과 측정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8000" y="33147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8000" y="3429000"/>
            <a:ext cx="11176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[4] 검출 실증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exp2_base confusion matrix (무필터 val) · val 25장 예측 검증 스크립트 (2026-07-23, conf 스윕·면적 coverage)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8000" y="39878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8000" y="4102100"/>
            <a:ext cx="11176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[5] 코드 필터 구현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prepare_yolo_dataset.py — 크기·세장형 예외 필터 · 시뮬레이션 정책표와 kept 수 ±0.1% 교차검증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000" y="46609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08000" y="4775200"/>
            <a:ext cx="11176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[6] 외부 데이터셋 관행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COCO small = 면적 32² px² · nuImages 높이 10 px 미만 미라벨 · DOTA v1.0 10 px 미만 미라벨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000" y="53340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8000" y="5448300"/>
            <a:ext cx="11176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1A1A"/>
                </a:solidFill>
                <a:latin typeface="Paperlogy 6 SemiBold"/>
                <a:ea typeface="Paperlogy 6 SemiBold"/>
                <a:cs typeface="Paperlogy 6 SemiBold"/>
              </a:rPr>
              <a:t>[7] 차트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Paperlogy 4 Regular"/>
                <a:ea typeface="Paperlogy 4 Regular"/>
                <a:cs typeface="Paperlogy 4 Regular"/>
              </a:rPr>
              <a:t>본 분석 재작성 (chart_drop_count_vs_area·gt_survival·cost_perf·background_miss 등, exp2/5/6 CSV 기반)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000" y="6337300"/>
            <a:ext cx="11176000" cy="63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BS-302 시그니처_좌우조합 A(국영문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438900"/>
            <a:ext cx="1823421" cy="3048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826000" y="65024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spc="80">
                <a:solidFill>
                  <a:srgbClr val="7A7A7A"/>
                </a:solidFill>
                <a:latin typeface="Paperlogy 4 Regular"/>
                <a:ea typeface="Paperlogy 4 Regular"/>
                <a:cs typeface="Paperlogy 4 Regular"/>
              </a:rPr>
              <a:t>14 / 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0" y="64643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888888"/>
                </a:solidFill>
                <a:latin typeface="Paperlogy 4 Regular"/>
                <a:ea typeface="Paperlogy 4 Regular"/>
                <a:cs typeface="Paperlogy 4 Regular"/>
              </a:rPr>
              <a:t>KIMS 재료데이터·분석연구본부 · 철스크랩 라벨링 컷오프 기준 분석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
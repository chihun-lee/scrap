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6985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REPORT · 결과 보고서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003300"/>
            <a:ext cx="457200" cy="254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8000" y="1219200"/>
            <a:ext cx="1117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철스크랩 Instance 최소크기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라벨링 기준 재검증 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7305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5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6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확인요청 3건(2026-07-09) 대응 · YOLO26x-seg @1280 재학습 8회 · GT 시뮬레이션 501,377건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149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8000" y="3327400"/>
            <a:ext cx="6540500" cy="2260600"/>
          </a:xfrm>
          <a:prstGeom prst="rect">
            <a:avLst/>
          </a:prstGeom>
          <a:solidFill>
            <a:srgbClr val="FAFB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2000" y="3556000"/>
            <a:ext cx="6032500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수신 · ㈜아이티브에이아이 SmartX사업부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작성 · KIMS 재료데이터·분석연구본부 이치헌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기간 · 2026.07.14 ~ 07.20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범위 · 2순위 재검증 + 확인요청 3건 대응 (원자료: 부록)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3500" y="3327400"/>
            <a:ext cx="4000500" cy="2260600"/>
          </a:xfrm>
          <a:prstGeom prst="rect">
            <a:avLst/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50200" y="3543300"/>
            <a:ext cx="3556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8DC63F"/>
                </a:solidFill>
                <a:latin typeface="Paperlogy 6 SemiBold"/>
                <a:ea typeface="Paperlogy 6 SemiBold"/>
                <a:cs typeface="Paperlogy 6 SemiBold"/>
              </a:rPr>
              <a:t>측정 구성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재학습 8회 (cutoff 5수준 · 예외 3정책)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GT 표현 전수 시뮬레이션 501,377건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400" b="0">
                <a:solidFill>
                  <a:srgbClr val="C9D6CF"/>
                </a:solidFill>
                <a:latin typeface="Paperlogy 4 Regular"/>
                <a:ea typeface="Paperlogy 4 Regular"/>
                <a:cs typeface="Paperlogy 4 Regular"/>
              </a:rPr>
              <a:t>정성 비교 2장면 · 이중 평가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8928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7A7A7A"/>
                </a:solidFill>
                <a:latin typeface="Paperlogy 6 SemiBold"/>
                <a:ea typeface="Paperlogy 6 SemiBold"/>
                <a:cs typeface="Paperlogy 6 SemiBold"/>
              </a:rPr>
              <a:t>2026. 07. 24</a:t>
            </a:r>
          </a:p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816600"/>
            <a:ext cx="1975373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CONTENTS · 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결과 보고서 구성 — 개요, 정량 결과, 정성 비교, 최종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확인요청 대응과 재학습·시뮬레이션 결과를 수치로 나열하고 확정 라벨링 기준을 정리하는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58800" y="16383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500" y="16256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검증 개요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확인요청 3건 대응 · 이전/이번 실험 조건 · 재학습 8회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1000" y="16637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1971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8800" y="23495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500" y="23368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정량 결과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GT 표현 시뮬레이션 · cutoff 5수준 재학습 · 세장형 예외 3정책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1000" y="23749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2908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8800" y="30607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6500" y="30480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정성 비교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val 장면에 cutoff별 예측 마스크를 동일 규격으로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1000" y="30861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36195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58800" y="37719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6500" y="37592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최종 결과·향후 계획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확정 라벨링 기준(줄글) · 명시적 제한사항 · 3·4순위 일정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1000" y="37973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4330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8000" y="46101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부록 · References — 원자료 경로, 코드 근거, 외부 데이터셋 관행  ……  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/ 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검증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확인요청 3건 대응 · 이전/이번 실험 조건 · 재학습 8회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검증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정량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정성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최종 결과·향후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검증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확인요청 3건 대응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2026-07-09 수신 3건 — 2건은 자료 확인으로 답, 1건(stride 4 학습 가능성)은 재학습으로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“1878 픽셀 이미지” = 이전 실험(1024) crop 이미지들의 평균 긴 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원본 4K에서 Cargo Area polygon 기준 crop한 이미지 크기의 평균 — 전달 자료 실측 1881.5 px(표본 400장), 문서값 1877.86 px · 신규 1280 full-frame 기준에서는 미사용(환산 1/3 고정)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“1280 기준 8 px / 원본 24 px” = bbox 한 변이 아니라 Instance Polygon 면적 기준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√(polygon 면적)@1280 — 8 px는 면적 64 px²@1280(원본 576 px², 이미지 면적의 0.007%) · 요청 주신 면적 기준과 동일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검토 기준으로 “stride 4 feature map 표현 가능성” 채택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YOLO26x-seg는 mask prototype·seg loss가 모두 입력 1/4(stride 4) 해상도 · 학습 GT도 동일 해상도로 downsample(mask_ratio=4)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543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36830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3048000"/>
                <a:gridCol w="53975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확인요청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답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근거·상세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① 1878 px 이미지의 정체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crop 이미지 평균 긴 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training_method_ver3.md · 실측 재검증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② 8 px 기준이 bbox인지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polygon 면적 기준(√area)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prepare_yolo_dataset.py 필터 로직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③ stride 4 학습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시뮬레이션+재학습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§02 정량 결과 전반(exp5·exp2·exp6·exp7)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5118100"/>
            <a:ext cx="1117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확인요청별 답 · 출처: 2026-07-09 수신 메일, 본 보고서 각 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검증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이전(1024 crop)·이번(1280 full-frame) 실험 조건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입력 스케일·데이터 구성·평가 라벨이 상이 — 절대값 직접 비교 불가, 축별 분리 기록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84300"/>
          <a:ext cx="111760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4699000"/>
                <a:gridCol w="4699000"/>
              </a:tblGrid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이전 실험 (2026.06, 최소 픽셀 연구)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이번 재검증 (2026.07)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yolo11s-seg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yolo26x-seg (요청 모델)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입력 해상도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1024 (Cargo crop, 평균 긴 변 1878 px)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1280 (원본 4K full-frame)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유효 축소비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약 0.545 (crop → 1024)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0.333 (4K → 1280)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crop 1,676장 (문서 기재 2,096장과 상이)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full-frame 2,096장 + val 419장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epoch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 (수렴 확인: 마지막 10 ep +0.8%p 이내)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 기준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bbox 짧은 변 + 면적 병용 @1024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√(polygon 면적) @1280 + 세장형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평가 라벨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자기 val (각 조건의 필터 적용)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자기 val + 공통 val(무필터) 이중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mAP 종류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문서 미기재 (box/mask 확인 중)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box·mask 분리 기록 (본 보고서는 mask)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44450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실험 조건 대조 · 출처: training_method_ver3.md(이전) · exp2 학습 로그/args.yaml(이번) · 전달 데이터 실측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05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검증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재학습 8회 구성과 이중 평가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가중치를 자기 val·공통 val 두 라벨로 각각 평가 — 필터의 평가셋 영향 분리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자기 val — 각 조건의 필터가 적용된 val 라벨로 평가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 기준을 적용했을 때 그 기준 안에서의 성능 · 이전 실험과 동일한 축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 val — 모든 조건을 무필터 val 라벨 하나로 통일 평가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조건 간 공정 비교 축 · 필터로 평가 대상이 함께 줄어드는 효과 제거 · 본 보고서 판정 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2806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2946400"/>
          <a:ext cx="11176000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4445000"/>
                <a:gridCol w="2667000"/>
                <a:gridCol w="2413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 (원본 4K 환산)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장비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목적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exp2 ×5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무필터 / cut 24 / 30 / 36 / 48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node002 A6000 ×5 병렬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cutoff 수준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exp6 ×2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30 px + 예외 없음 / 두께 6 px 조건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node002 A6000 ×2 병렬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세장형 예외 정책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exp7 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30 px + mask_ratio 2 (GT 해상도 2배)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node005 A100 80GB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학습 설정 대안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43688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재학습 8회 구성 · 공통: YOLO26x-seg, imgsz 1280, 100 ep, batch 4, AdamW lr0 0.001 · mask_ratio=1은 메모리 초과로 실행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06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정량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GT 표현 시뮬레이션 · cutoff 5수준 재학습 · 세장형 예외 3정책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검증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정량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정성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최종 결과·향후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07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정량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GT 표현 전수 시뮬레이션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전체 라벨 501,377 instance를 학습 GT 생성 경로 그대로 전수 통과시켜 크기 구간별 측정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art_g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78" y="1384300"/>
            <a:ext cx="5393043" cy="29845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86478" y="1384300"/>
            <a:ext cx="5393043" cy="29845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44196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원본 √면적 구간별 stride 4 생존율·복원 IoU ≥ 0.5 비율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exp5_survival_summary.md (N=501,377)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5800" y="1358900"/>
            <a:ext cx="41402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완전 소실은 √면적 원본 12 px 미만 구간에 국한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 이상 생존율 ~100% · 문제는 형상 열화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복원 IoU 0.5 이상 비율은 크기와 함께 상승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18 px 미만 과반 미달 · 24~30 px 92.7% · 30 px↑ ≥97%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두께 원본 6 px 미만 세장형은 GT 52~74% 분절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요청 “얇은 철근 소실” 관찰의 정량 재현</a:t>
            </a:r>
          </a:p>
        </p:txBody>
      </p:sp>
      <p:pic>
        <p:nvPicPr>
          <p:cNvPr id="15" name="Picture 14" descr="exp5_rebar_va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965" y="3543300"/>
            <a:ext cx="1749869" cy="1193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230965" y="3543300"/>
            <a:ext cx="1749869" cy="11938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35800" y="4787900"/>
            <a:ext cx="41402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가는 rebar GT의 stride 4 분절 (상: 입력 GT, 하: 복원)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 시뮬레이션 · val rebar (복원 IoU 0.29)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08 /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정량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5수준 재학습 — 자기 val·공통 val 성능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자기 val 기준 cutoff↑ = mAP↑ · 공통 val 기준 cutoff↑ = mAP↓ (평가축에 따라 부호 상반)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art_cutoff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36" y="1371600"/>
            <a:ext cx="6614026" cy="381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8236" y="1371600"/>
            <a:ext cx="6614026" cy="3810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232400"/>
            <a:ext cx="679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cutoff 5수준의 자기 val(청) vs 공통 val(녹) mask mAP50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exp2_results.csv (YOLO26x-seg @1280, 100 ep, batch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1371600"/>
            <a:ext cx="3556000" cy="393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자기 val — 필터 적용 라벨 기준, cutoff↑에 0.487→0.744 단조 상승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이전 1024 실험의 관찰(0.787→0.901)과 같은 방향</a:t>
            </a:r>
          </a:p>
          <a:p>
            <a:pPr marL="190500" indent="-190500">
              <a:lnSpc>
                <a:spcPct val="140000"/>
              </a:lnSpc>
              <a:spcBef>
                <a:spcPts val="16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 val — 무필터 라벨 통일 기준, 같은 가중치가 0.487→0.430 단조 하락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평가 라벨에서 소형 instance가 함께 제거된 효과를 분리하면 부호 반전</a:t>
            </a:r>
          </a:p>
          <a:p>
            <a:pPr marL="190500" indent="-190500">
              <a:lnSpc>
                <a:spcPct val="140000"/>
              </a:lnSpc>
              <a:spcBef>
                <a:spcPts val="16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본 보고서 판정 축 = 공통 val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“기준 적용 후에도 전체 장면 기준 성능이 유지되는가”가 라벨링 기준의 목적함수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09 /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정량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수준별 정량 결과와 라벨 공수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무필터 대비 공통 val 저하·공수 감소 · cut 30 px 공수 46.5% · -1.06%p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71600"/>
          <a:ext cx="111760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/>
                <a:gridCol w="1778000"/>
                <a:gridCol w="1778000"/>
                <a:gridCol w="1524000"/>
                <a:gridCol w="1397000"/>
                <a:gridCol w="2286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자기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(전체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대조군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 px (이론 하한)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0.6454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 상한 대안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 제안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 px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0.7259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3528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cutoff 수준별 정량 결과 · 출처: exp2_results.csv · 공수 = 유지 instance 비율(전체 501,377 기준)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5814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8000" y="3695700"/>
            <a:ext cx="4445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cut 30 px 확정 — 공수 46.5%에 성능 −1.06%p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소형 검출 우선 시 24 px(−0.15%p·52%)이 상한 대안 · 24 vs 30 px 0.9%p 차이는 seed 반복 전 확정 유보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36 px 이상은 −3.6%p부터 손실 가속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 상향 여지의 상한이 실측으로 확정</a:t>
            </a:r>
          </a:p>
        </p:txBody>
      </p:sp>
      <p:pic>
        <p:nvPicPr>
          <p:cNvPr id="15" name="Picture 14" descr="chart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568" y="3632200"/>
            <a:ext cx="4659363" cy="2438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893568" y="3632200"/>
            <a:ext cx="4659363" cy="24384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10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정량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세장형 예외 정책별 클래스 AP50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cut 30 px 고정 · 예외 제거 시 rebar AP 40% 하락 · mask_ratio 변경 개선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art_ex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60" y="1371600"/>
            <a:ext cx="4761979" cy="2590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2260" y="1371600"/>
            <a:ext cx="4761979" cy="25908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4013200"/>
            <a:ext cx="527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예외 정책 3종의 rebar·small pipe AP50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exp6_results.csv (cut 30 px 고정, 공통 val)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78500" y="1397000"/>
          <a:ext cx="51435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889000"/>
                <a:gridCol w="952500"/>
                <a:gridCol w="1206500"/>
              </a:tblGrid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예외 정책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rebar AP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길이 72px↑ 유지(확정)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232,978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+ 두께 6px 이상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0.4777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0.0815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222,029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예외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204,135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78500" y="2857500"/>
          <a:ext cx="5143500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/>
                <a:gridCol w="889000"/>
                <a:gridCol w="952500"/>
                <a:gridCol w="1206500"/>
              </a:tblGrid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설정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rebar AP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비고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mask_ratio 4 (기본)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0.1055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채택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mask_ratio 2 (GT 2배)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0.4644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0.0866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mask_ratio 1 (없음)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미실행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메모리 초과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8000" y="44831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예외 제거 시 전체 +0.35%p이나 rebar AP −40%(0.106→0.063) → 예외 유지 · mask_ratio 2배 개선 없음 · 1배 실행 불가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예외 정책(상)·학습 설정(하) · 출처: exp6/exp7_results.csv (cut 30 px 고정, 공통 val 기준)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11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동일 val 장면에 cutoff별 예측 마스크를 동일 규격으로 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검증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정량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정성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최종 결과·향후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12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정성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동일 val 장면 — cutoff별 검출 마스크 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rebar 최다 장면(GT 350개)에 5조건 예측을 동일 렌더 규격으로 비교 · 전체 검출 277→200개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ual_full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7" y="1371600"/>
            <a:ext cx="10850485" cy="4064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70757" y="1371600"/>
            <a:ext cx="10850485" cy="4064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486400"/>
            <a:ext cx="11176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GT(전체 라벨)와 4개 학습 조건의 예측 · 배지 = 이미지 전체 검출 수 (conf 0.25 동일)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val 295_13-24-56 · 각 조건 best.pt 추론 (imgsz 1280)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13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정성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rebar 밀집 영역 확대 — 가는 선형부터 순차 미검출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원본 1500×1000 px 영역 · cut 상향에 따라 두께 얇은 rebar 마스크부터 소실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ual_zoom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20" y="1371600"/>
            <a:ext cx="9148158" cy="4064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21920" y="1371600"/>
            <a:ext cx="9148158" cy="4064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486400"/>
            <a:ext cx="11176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rebar 밀집 영역(원본 1500×1000 px) 확대 비교 · 조건별 마스크 소실 양상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val 295_13-24-56 (1106, 673) 창 · 배지 검출 수는 이미지 전체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14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최종 결과·향후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확정 라벨링 기준(줄글) · 명시적 제한사항 · 3·4순위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검증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정량 결과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정성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4940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940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최종 결과·향후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0" y="4940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15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· 최종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최종 결과 — 확정 라벨링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재검증 8회·시뮬레이션 501,377건 종합 · 기준 3항 확정과 제한사항을 줄글로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8000" y="1397000"/>
            <a:ext cx="31750" cy="41910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8500" y="1397000"/>
            <a:ext cx="10795000" cy="444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소형 instance 최소크기 기준은 원본 30×30 px(면적 900 px², √area@1280 기준 10 px) 미만을 생략하는 것으로 확정한다. 이 기준에서 공통 val mask mAP50은 무필터 대비 -1.06%p(0.4872→0.4766) 저하에 그치며, 라벨 공수는 전체 instance의 46.5% 수준으로 감소한다. 소형 검출을 우선하는 경우에는 24 px(-0.15%p·공수 52%)를 상한 대안으로 둔다.</a:t>
            </a:r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sz="16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길이 원본 72 px 이상의 선형 객체에 대한 세장형 예외는 현행대로 유지한다. 예외를 제거하면 전체 mAP는 +0.35%p 개선되나 rebar AP50가 0.1055에서 0.0634로 약 40% 하락하여, 전체 개선폭이 rebar 손실을 상쇄하지 못하기 때문이다. 두께 원본 6 px 미만의 세장형은 GT가 52~74% 분절되므로 라벨 작업 우선순위에서는 후순위로 둔다.</a:t>
            </a:r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sz="16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 36 px 이상과 mask_ratio 변경은 채택하지 않는다. cutoff 36 px 이상은 공통 val이 -3.6%p 이상 저하되고, mask_ratio 2배는 개선이 없으며 1배는 메모리 초과로 실행되지 않았다.</a:t>
            </a:r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sz="16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다만 본 결과는 조건당 단일 학습으로 얻은 것으로, 24 px와 30 px의 0.9%p 차이 및 예외 정책 간 0.35%p 차이는 seed 반복 검증 전까지 통계적으로 확정하지 않는다. 또한 본 기준은 입력 1280 조건에 한정되며, 입력 크기 상향 시 학습 가능 최소크기는 비례하여 축소된다.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16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· 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향후 계획 — 3순위 7/31 · 4순위 9/4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확정 기준의 seed 반복·PQ 환산 검증과 요청 일정(3·4순위)을 병행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84300"/>
          <a:ext cx="11176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2159000"/>
                <a:gridCol w="7493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7/31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3순위 스크리닝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imgsz 960/1280/1600/1920 × point 단순화 3수준 — rebar류의 입력 크기 민감도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8/4 (화)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3순위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성능·속도·VRAM 균형점 2~3 조합 확정 학습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8/21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4순위 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 최소 크기(크기 구간별 recall) — rebar 덩어리/개별 기준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9/4 (금)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4순위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 차등 기준표 확정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확정성 보강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24/30 px seed 3회 반복 · PQ/Count 지표 환산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4925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3·4순위 검증 일정과 병행 보강 항목 · 출처: 본 연구 계획(전체계획_20260715)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7719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협의 요청 — Count Accuracy 분모 정의(30 px 미만 제외 여부)의 문서 합의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 기준과 검수 지표의 정합을 위해 이번 기준 확정과 함께 결정 필요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공유 요청 — 1순위 Point 수 최종 가이드 문서와 신규 라벨링 샘플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2~4순위 검증 조건을 실제 라벨 특성과 일치시키기 위함 (기요청, 2026-07-08)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17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APPENDIX ·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원자료 경로, 코드 근거, 외부 데이터셋 관행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본 보고서 수치의 1차 출처 — 모든 결과는 CSV·로그·가중치·차트로 재현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40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[1] 재학습 원자료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exp2/exp6/exp7_results.csv · 학습 로그 8종 · best.pt 가중치 8종 (ver2_실험/cluster_results/)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1917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2044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[2] 시뮬레이션 원자료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exp5_survival_summary.md · exp5_instances.csv.gz (N=501,377) · exp5_panels/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552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000" y="267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[3] 이전 실험 자료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training_method_ver3.md · 최소 픽셀 연구결과.pptx · 전달 데이터셋(crop 1,676장, 실측)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3187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8000" y="3314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[4] 코드 근거 (ultralytics 8.4.x)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polygon2mask fillPoly→resize(1/4) · cfg mask_ratio=4 · Proto26 stride 4 · STAL 소형 할당 보장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3822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8000" y="394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[5] Ultralytics YOLO26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arXiv:2606.03748 — STAL ablation AP_small +0.6, YOLO11 대비 mask AP +2.4~3.7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4457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8000" y="4584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[6] 외부 라벨링 관행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COCO small=면적 32² px²(mask 기준) · nuImages 높이 10 px 미만 라벨 금지 · DOTA v1.0 10 px 미만 미라벨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5092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8000" y="521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[7] 차트·정성 그림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차트 4종=exp2/exp5/exp6_results.csv 재작성 · 정성 그림=val 295_13-24-56·429_11-06-37, best.pt 추론(conf 0.25, imgsz 1280)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18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분류 SW 라벨링 기준 연구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
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60" r:id="rId4"/>
    <p:sldId id="261" r:id="rId5"/>
    <p:sldId id="263" r:id="rId6"/>
    <p:sldId id="264" r:id="rId7"/>
    <p:sldId id="265" r:id="rId8"/>
    <p:sldId id="266" r:id="rId9"/>
    <p:sldId id="267" r:id="rId10"/>
    <p:sldId id="272" r:id="rId11"/>
    <p:sldId id="27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3726F6-279B-B04A-AA9C-3AB727E0A341}" type="datetimeFigureOut">
              <a:rPr kumimoji="1" lang="ko-KR" altLang="en-US" smtClean="0"/>
              <a:t>2026. 7. 26.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8EFE53-76EB-8C41-8BD8-D151802FB46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68703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8EFE53-76EB-8C41-8BD8-D151802FB46B}" type="slidenum">
              <a:rPr kumimoji="1" lang="ko-KR" altLang="en-US" smtClean="0"/>
              <a:t>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9922566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8000" y="698500"/>
            <a:ext cx="317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6FA32E"/>
                </a:solidFill>
                <a:latin typeface="Paperlogy 6 SemiBold"/>
                <a:ea typeface="Paperlogy 6 SemiBold"/>
                <a:cs typeface="Paperlogy 6 SemiBold"/>
              </a:rPr>
              <a:t>REPORT · 분석 보고자료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003300"/>
            <a:ext cx="457200" cy="2540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8000" y="1219200"/>
            <a:ext cx="11176000" cy="1397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철스크랩 라벨링 컷오프 기준</a:t>
            </a:r>
          </a:p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결론 · 선택지 분석 · 향후 계획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31496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2000" y="3556000"/>
            <a:ext cx="6032500" cy="28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KIMS </a:t>
            </a:r>
            <a:r>
              <a:rPr sz="16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재료데이터·분석연구본부</a:t>
            </a:r>
            <a:r>
              <a:rPr sz="16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이치헌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3500" y="3327400"/>
            <a:ext cx="4000500" cy="2260600"/>
          </a:xfrm>
          <a:prstGeom prst="rect">
            <a:avLst/>
          </a:prstGeom>
          <a:solidFill>
            <a:srgbClr val="0F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0200" y="3543300"/>
            <a:ext cx="3556000" cy="7897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1600"/>
              </a:spcBef>
            </a:pPr>
            <a:r>
              <a:rPr sz="1500" b="1" dirty="0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A </a:t>
            </a:r>
            <a:r>
              <a:rPr sz="1500" b="1" dirty="0" err="1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확정안</a:t>
            </a:r>
            <a:r>
              <a:rPr sz="1500" b="1" dirty="0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 — 30 </a:t>
            </a:r>
            <a:r>
              <a:rPr sz="1500" b="1" dirty="0" err="1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px</a:t>
            </a:r>
            <a:r>
              <a:rPr sz="1500" b="1" dirty="0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생략</a:t>
            </a:r>
            <a:r>
              <a:rPr sz="1500" b="1" dirty="0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 · </a:t>
            </a:r>
            <a:r>
              <a:rPr lang="ko-KR" altLang="en-US" sz="1500" b="1" dirty="0" err="1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라벨링축소</a:t>
            </a:r>
            <a:r>
              <a:rPr sz="1500" b="1" dirty="0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 46.5%</a:t>
            </a:r>
          </a:p>
          <a:p>
            <a:pPr algn="l">
              <a:lnSpc>
                <a:spcPct val="135000"/>
              </a:lnSpc>
              <a:spcBef>
                <a:spcPts val="1600"/>
              </a:spcBef>
            </a:pPr>
            <a:r>
              <a:rPr sz="1500" b="1" dirty="0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B </a:t>
            </a:r>
            <a:r>
              <a:rPr sz="1500" b="1" dirty="0" err="1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보수안</a:t>
            </a:r>
            <a:r>
              <a:rPr sz="1500" b="1" dirty="0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 — 24 </a:t>
            </a:r>
            <a:r>
              <a:rPr sz="1500" b="1" dirty="0" err="1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px</a:t>
            </a:r>
            <a:r>
              <a:rPr sz="1500" b="1" dirty="0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500" b="1" dirty="0" err="1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라벨</a:t>
            </a:r>
            <a:r>
              <a:rPr sz="1500" b="1" dirty="0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 + </a:t>
            </a:r>
            <a:r>
              <a:rPr lang="ko-KR" altLang="en-US" sz="1500" b="1" dirty="0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추후 코드로 필터</a:t>
            </a:r>
            <a:endParaRPr sz="1500" b="1" dirty="0">
              <a:solidFill>
                <a:srgbClr val="D9EFC5"/>
              </a:solidFill>
              <a:latin typeface="Paperlogy 6 SemiBold"/>
              <a:ea typeface="Paperlogy 6 SemiBold"/>
              <a:cs typeface="Paperlogy 6 SemiBold"/>
            </a:endParaRPr>
          </a:p>
        </p:txBody>
      </p:sp>
      <p:pic>
        <p:nvPicPr>
          <p:cNvPr id="14" name="Picture 13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0" y="5816600"/>
            <a:ext cx="1975373" cy="330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SUMMARY ·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508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결론 — 확정안 · 보수안</a:t>
            </a:r>
            <a:endParaRPr sz="3200" b="1" dirty="0">
              <a:solidFill>
                <a:srgbClr val="1A1A1A"/>
              </a:solidFill>
              <a:latin typeface="Paperlogy 7 Bold"/>
              <a:ea typeface="Paperlogy 7 Bold"/>
              <a:cs typeface="Paperlogy 7 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성능·공수 기준 확정안 = 30 px 생략 · 재라벨링 위험을 피하려면 보수안 = 24 px 라벨+30 px 코드 필터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8000" y="1371600"/>
            <a:ext cx="11176000" cy="18777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90500" indent="-190500">
              <a:lnSpc>
                <a:spcPct val="138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A 확정안 — 원본 30×30 px 미만 생략 + 가늘고 긴 물체(세장형) 예외(긴 변 72 px) 유지 · 7/24 회신 기준</a:t>
            </a:r>
            <a:endParaRPr sz="1500" b="1" dirty="0">
              <a:solidFill>
                <a:srgbClr val="1A1A1A"/>
              </a:solidFill>
              <a:latin typeface="Paperlogy 6 SemiBold"/>
              <a:ea typeface="Paperlogy 6 SemiBold"/>
              <a:cs typeface="Paperlogy 6 SemiBold"/>
            </a:endParaRPr>
          </a:p>
          <a:p>
            <a:pPr marL="190500" indent="0">
              <a:lnSpc>
                <a:spcPct val="138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라벨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lang="ko-KR" altLang="en-US" sz="130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필요 인스턴스 수 기존 대비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46.5% ·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공통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val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mask mAP50 0.4766(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무필터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−1.06%p) —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생략분은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개수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53.5%</a:t>
            </a:r>
            <a:r>
              <a:rPr lang="ko-KR" altLang="en-US" sz="130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라벨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면적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6.7%</a:t>
            </a:r>
          </a:p>
          <a:p>
            <a:pPr marL="190500" indent="-190500">
              <a:lnSpc>
                <a:spcPct val="138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B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보수안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—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라벨은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24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px까지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그리고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,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학습은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30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px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lang="ko-KR" altLang="en-US"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기준으로 코드상에서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필터</a:t>
            </a:r>
            <a:r>
              <a:rPr lang="ko-KR" altLang="en-US"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링</a:t>
            </a:r>
            <a:endParaRPr sz="1500" b="1" dirty="0">
              <a:solidFill>
                <a:srgbClr val="1A1A1A"/>
              </a:solidFill>
              <a:latin typeface="Paperlogy 6 SemiBold"/>
              <a:ea typeface="Paperlogy 6 SemiBold"/>
              <a:cs typeface="Paperlogy 6 SemiBold"/>
            </a:endParaRPr>
          </a:p>
          <a:p>
            <a:pPr marL="190500" indent="0">
              <a:lnSpc>
                <a:spcPct val="138000"/>
              </a:lnSpc>
              <a:spcAft>
                <a:spcPts val="0"/>
              </a:spcAft>
            </a:pPr>
            <a:r>
              <a:rPr lang="ko-KR" altLang="en-US" sz="130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라벨 필요 인스턴스 수 기존 대비 54.2%(+7.7%p·38,543개), 대신 가역성 확보 — 입력 상향·tile 추론 도입 시 필터 해제로 24~30 px 라벨 바로 활용</a:t>
            </a:r>
            <a:endParaRPr sz="130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  <a:p>
            <a:pPr marL="190500" indent="-190500">
              <a:lnSpc>
                <a:spcPct val="138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③"/>
            </a:pP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두 안 공통 — 긴 파이프류 예외 유지 (제거 시 rebar AP50 −40%)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000" y="3949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840270"/>
              </p:ext>
            </p:extLst>
          </p:nvPr>
        </p:nvGraphicFramePr>
        <p:xfrm>
          <a:off x="508000" y="4089400"/>
          <a:ext cx="11176000" cy="9881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선택지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라벨 공수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공통 val mAP50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가역성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 dirty="0" err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확정안</a:t>
                      </a:r>
                      <a:r>
                        <a:rPr sz="1300" b="1" dirty="0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— 30 </a:t>
                      </a:r>
                      <a:r>
                        <a:rPr sz="1300" b="1" dirty="0" err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px</a:t>
                      </a:r>
                      <a:r>
                        <a:rPr sz="1300" b="1" dirty="0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미만</a:t>
                      </a:r>
                      <a:r>
                        <a:rPr sz="1300" b="1" dirty="0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생략</a:t>
                      </a:r>
                      <a:endParaRPr sz="1300" b="1" dirty="0">
                        <a:solidFill>
                          <a:srgbClr val="6FA32E"/>
                        </a:solidFill>
                        <a:latin typeface="Paperlogy 6 SemiBold"/>
                        <a:ea typeface="Paperlogy 6 SemiBold"/>
                        <a:cs typeface="Paperlogy 6 SemiBold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0.4766 (−1.06%p)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 · 소급 불가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 dirty="0" err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보수안</a:t>
                      </a:r>
                      <a:r>
                        <a:rPr sz="1300" b="1" dirty="0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— 24 </a:t>
                      </a:r>
                      <a:r>
                        <a:rPr sz="1300" b="1" dirty="0" err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px</a:t>
                      </a:r>
                      <a:r>
                        <a:rPr sz="1300" b="1" dirty="0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라벨+30 </a:t>
                      </a:r>
                      <a:r>
                        <a:rPr sz="1300" b="1" dirty="0" err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px</a:t>
                      </a:r>
                      <a:r>
                        <a:rPr sz="1300" b="1" dirty="0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필터</a:t>
                      </a:r>
                      <a:endParaRPr sz="1300" b="1" dirty="0">
                        <a:solidFill>
                          <a:srgbClr val="6FA32E"/>
                        </a:solidFill>
                        <a:latin typeface="Paperlogy 6 SemiBold"/>
                        <a:ea typeface="Paperlogy 6 SemiBold"/>
                        <a:cs typeface="Paperlogy 6 SemiBold"/>
                      </a:endParaRP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54.2%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0.4766 (학습 동일)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있음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·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필터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재조정</a:t>
                      </a:r>
                      <a:endParaRPr sz="1300" b="0" dirty="0">
                        <a:solidFill>
                          <a:srgbClr val="333333"/>
                        </a:solidFill>
                        <a:latin typeface="Paperlogy 4 Regular"/>
                        <a:ea typeface="Paperlogy 4 Regular"/>
                        <a:cs typeface="Paperlogy 4 Regular"/>
                      </a:endParaRP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01 · 선택지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선택지 A·B 정량 비교 — 공수·성능·가역성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학습 데이터는 두 안 모두 30 px 필터로 동일 — 차이는 라벨 원본의 하한(30 vs 24 px)과 가역성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15644"/>
              </p:ext>
            </p:extLst>
          </p:nvPr>
        </p:nvGraphicFramePr>
        <p:xfrm>
          <a:off x="508000" y="1371600"/>
          <a:ext cx="11176000" cy="1978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</a:t>
                      </a:r>
                      <a:r>
                        <a:rPr lang="ko-KR" altLang="en-US"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안</a:t>
                      </a: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(30 </a:t>
                      </a:r>
                      <a:r>
                        <a:rPr sz="1400" b="1" dirty="0" err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px</a:t>
                      </a: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</a:t>
                      </a:r>
                      <a:r>
                        <a:rPr sz="1400" b="1" dirty="0" err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생략</a:t>
                      </a: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)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 </a:t>
                      </a:r>
                      <a:r>
                        <a:rPr sz="1400" b="1" dirty="0" err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</a:t>
                      </a: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(24 </a:t>
                      </a:r>
                      <a:r>
                        <a:rPr sz="1400" b="1" dirty="0" err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px</a:t>
                      </a: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라벨+30 </a:t>
                      </a:r>
                      <a:r>
                        <a:rPr sz="1400" b="1" dirty="0" err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px</a:t>
                      </a: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</a:t>
                      </a:r>
                      <a:r>
                        <a:rPr sz="1400" b="1" dirty="0" err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필터</a:t>
                      </a: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)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라벨링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 px 미만 미생성 + 세장형 예외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 px 미만 미생성 + 세장형 예외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학습 데이터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라벨 그대로 (30 px 컷)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코드 필터로 30 px 컷 — A와 동일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라벨 공수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54.2% (+7.7%p · 38,543개)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학습 성능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공통 val 0.4766 (−1.06%p)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동일 0.4766 · 필터 해제 시 0.4857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가역성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— 24~30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px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소급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  <a:endParaRPr sz="1300" b="0" dirty="0">
                        <a:solidFill>
                          <a:srgbClr val="333333"/>
                        </a:solidFill>
                        <a:latin typeface="Paperlogy 4 Regular"/>
                        <a:ea typeface="Paperlogy 4 Regular"/>
                        <a:cs typeface="Paperlogy 4 Regula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있음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—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상향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활용</a:t>
                      </a:r>
                      <a:endParaRPr sz="1300" b="0" dirty="0">
                        <a:solidFill>
                          <a:srgbClr val="333333"/>
                        </a:solidFill>
                        <a:latin typeface="Paperlogy 4 Regular"/>
                        <a:ea typeface="Paperlogy 4 Regular"/>
                        <a:cs typeface="Paperlogy 4 Regula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01 · 선택지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508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선택 기준 — 실험 기반 라벨링 비용 vs 정확도</a:t>
            </a:r>
            <a:endParaRPr sz="3200" b="1" dirty="0">
              <a:solidFill>
                <a:srgbClr val="1A1A1A"/>
              </a:solidFill>
              <a:latin typeface="Paperlogy 7 Bold"/>
              <a:ea typeface="Paperlogy 7 Bold"/>
              <a:cs typeface="Paperlogy 7 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8000" y="1371600"/>
            <a:ext cx="11176000" cy="13851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90500" indent="-190500">
              <a:lnSpc>
                <a:spcPct val="138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비용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축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— B</a:t>
            </a:r>
            <a:r>
              <a:rPr lang="ko-KR" altLang="en-US"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안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추가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비용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= 24~30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px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50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구간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instance 38,543개 (+7.7%</a:t>
            </a:r>
            <a:r>
              <a:rPr lang="ko-KR" altLang="en-US"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추가</a:t>
            </a:r>
            <a:r>
              <a:rPr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)</a:t>
            </a:r>
          </a:p>
          <a:p>
            <a:pPr marL="190500" indent="0">
              <a:lnSpc>
                <a:spcPct val="138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공수 대비 성능 곡선에서 24 px는 무필터와 거의 같음(−0.15%p) — 그 이하는 GT 소실</a:t>
            </a:r>
            <a:endParaRPr lang="ko-KR" altLang="en-US" sz="130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  <a:p>
            <a:pPr marL="190500" indent="-190500">
              <a:lnSpc>
                <a:spcPct val="138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lang="ko-KR" altLang="en-US" sz="150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편익 축 — 입력 1600/1920에서 소형·세장형 검출이 회복되면 B안 라벨을 바로 활용</a:t>
            </a:r>
          </a:p>
          <a:p>
            <a:pPr marL="190500" indent="0">
              <a:lnSpc>
                <a:spcPct val="138000"/>
              </a:lnSpc>
              <a:spcAft>
                <a:spcPts val="0"/>
              </a:spcAft>
            </a:pP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1280 기준 rebar 미검출 77%가 입력 상향으로 얼마나 줄어드는지를 exp3에서 확인</a:t>
            </a:r>
            <a:endParaRPr sz="130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pic>
        <p:nvPicPr>
          <p:cNvPr id="13" name="Picture 12" descr="chart_cost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109" y="2966273"/>
            <a:ext cx="6324402" cy="330977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BS-302 시그니처_좌우조합 A(국영문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· 픽셀 크기별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508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cutoff 5수준 재학습 — 공통 검증 기준 30 px 선택</a:t>
            </a:r>
            <a:endParaRPr sz="3200" b="1" dirty="0">
              <a:solidFill>
                <a:srgbClr val="1A1A1A"/>
              </a:solidFill>
              <a:latin typeface="Paperlogy 7 Bold"/>
              <a:ea typeface="Paperlogy 7 Bold"/>
              <a:cs typeface="Paperlogy 7 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79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lang="ko-KR" altLang="en-US" sz="1700" b="0" dirty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이전 검증 기준(자기 val)은 cutoff↑=mAP↑로 보이는 착시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185217"/>
              </p:ext>
            </p:extLst>
          </p:nvPr>
        </p:nvGraphicFramePr>
        <p:xfrm>
          <a:off x="508000" y="1371600"/>
          <a:ext cx="11176000" cy="1881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학습 데이터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이전 </a:t>
                      </a:r>
                      <a:r>
                        <a:rPr sz="1400" b="1" dirty="0" err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val</a:t>
                      </a:r>
                      <a:r>
                        <a:rPr sz="1400" b="1" dirty="0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 mAP50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공통 val mAP50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무필터 대비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라벨 공수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판정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무필터 (전체 라벨)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대조군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cut 24 px + 예외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0.6454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0.4857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−0.15%p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54.2%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 보수안 하한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cut 30 px + 예외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−1.06%p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A 확정안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cut 36 px + 예외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0.7259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−3.62%p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41.9%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필요없음</a:t>
                      </a:r>
                      <a:endParaRPr sz="1300" b="0" dirty="0">
                        <a:solidFill>
                          <a:srgbClr val="333333"/>
                        </a:solidFill>
                        <a:latin typeface="Paperlogy 4 Regular"/>
                        <a:ea typeface="Paperlogy 4 Regular"/>
                        <a:cs typeface="Paperlogy 4 Regular"/>
                      </a:endParaRP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cut 48 px + 예외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−5.71%p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필요없음</a:t>
                      </a:r>
                      <a:endParaRPr sz="1300" b="0" dirty="0">
                        <a:solidFill>
                          <a:srgbClr val="333333"/>
                        </a:solidFill>
                        <a:latin typeface="Paperlogy 4 Regular"/>
                        <a:ea typeface="Paperlogy 4 Regular"/>
                        <a:cs typeface="Paperlogy 4 Regula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08000" y="37846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7999" y="3898900"/>
            <a:ext cx="6058053" cy="13204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90500" indent="-190500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lang="ko-KR" alt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이전 val 0.487→0.744 상승 = 평가셋이 함께 쉬워진 효과 (이전 메일 수치는 무시)</a:t>
            </a:r>
            <a:endParaRPr sz="1450" b="1" dirty="0">
              <a:solidFill>
                <a:srgbClr val="1A1A1A"/>
              </a:solidFill>
              <a:latin typeface="Paperlogy 6 SemiBold"/>
              <a:ea typeface="Paperlogy 6 SemiBold"/>
              <a:cs typeface="Paperlogy 6 SemiBold"/>
            </a:endParaRP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공통</a:t>
            </a:r>
            <a:r>
              <a:rPr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25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val로</a:t>
            </a:r>
            <a:r>
              <a:rPr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25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재평가하면</a:t>
            </a:r>
            <a:r>
              <a:rPr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0.487→0.430 </a:t>
            </a:r>
            <a:r>
              <a:rPr sz="125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하락</a:t>
            </a:r>
            <a:r>
              <a:rPr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</a:p>
          <a:p>
            <a:pPr marL="190500" indent="-190500">
              <a:lnSpc>
                <a:spcPct val="135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30 </a:t>
            </a: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px</a:t>
            </a: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미만</a:t>
            </a: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라벨</a:t>
            </a: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전체</a:t>
            </a: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(</a:t>
            </a: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개수</a:t>
            </a: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53.5%)</a:t>
            </a: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의</a:t>
            </a: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성능</a:t>
            </a: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기여</a:t>
            </a: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= 1.06%p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24 px 이상에 학습 신호 대부분 포함(−0.15%p)</a:t>
            </a:r>
          </a:p>
        </p:txBody>
      </p:sp>
      <p:pic>
        <p:nvPicPr>
          <p:cNvPr id="15" name="Picture 14" descr="chart_cutoff_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204" y="3576624"/>
            <a:ext cx="4627085" cy="266542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BS-302 시그니처_좌우조합 A(국영문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재료데이터·분석연구본부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·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철스크랩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라벨링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컷오프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기준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분석</a:t>
            </a:r>
            <a:endParaRPr sz="1100" b="0" dirty="0">
              <a:solidFill>
                <a:srgbClr val="888888"/>
              </a:solidFill>
              <a:latin typeface="Paperlogy 4 Regular"/>
              <a:ea typeface="Paperlogy 4 Regular"/>
              <a:cs typeface="Paperlogy 4 Regula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· 픽셀 크기별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크기 구간별 GT 생존 — 30 px 이상 형상 유지 97%+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000" y="841283"/>
            <a:ext cx="11176000" cy="593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 dirty="0" err="1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전수 501,377 instance를 학습 GT 생성 경로(stride 4 downsample)에 통과_x000B_라벨 폴리곤이 실제 학습에 어떻게 들어가는지 구간별 생존·복원 IoU 측정</a:t>
            </a:r>
            <a:br>
              <a:rPr lang="en-US" sz="1700" b="0" dirty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</a:br>
            <a:endParaRPr sz="1700" b="0" dirty="0">
              <a:solidFill>
                <a:srgbClr val="555555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chart_gt_surv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4562"/>
            <a:ext cx="6350000" cy="35140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33185" y="1520825"/>
            <a:ext cx="4863335" cy="19228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90500" indent="-190500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12 px 미만 — 소실 구간 (생존율 55~92%)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라벨링해도 학습에 전달 안 됨</a:t>
            </a:r>
            <a:endParaRPr sz="125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  <a:p>
            <a:pPr marL="190500" indent="-190500">
              <a:lnSpc>
                <a:spcPct val="135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18 px 미만 과반 IoU&lt;0.5_x000B_24~30 px 92.7%_x000B_30 px 이상 97% 이상</a:t>
            </a:r>
            <a:br>
              <a:rPr 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</a:br>
            <a:br>
              <a:rPr 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</a:br>
            <a:endParaRPr sz="1450" b="1" dirty="0">
              <a:solidFill>
                <a:srgbClr val="1A1A1A"/>
              </a:solidFill>
              <a:latin typeface="Paperlogy 6 SemiBold"/>
              <a:ea typeface="Paperlogy 6 SemiBold"/>
              <a:cs typeface="Paperlogy 6 SemiBold"/>
            </a:endParaRP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cutoff 30 px(A안)·24 px(B안 하한)의 근거</a:t>
            </a:r>
            <a:endParaRPr sz="125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pic>
        <p:nvPicPr>
          <p:cNvPr id="15" name="Picture 14" descr="exp5_rebar_va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0" y="3504049"/>
            <a:ext cx="3750539" cy="2558702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BS-302 시그니처_좌우조합 A(국영문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재료데이터·분석연구본부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·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철스크랩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라벨링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컷오프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기준</a:t>
            </a:r>
            <a:r>
              <a:rPr sz="1100" b="0" dirty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100" b="0" dirty="0" err="1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분석</a:t>
            </a:r>
            <a:endParaRPr sz="1100" b="0" dirty="0">
              <a:solidFill>
                <a:srgbClr val="888888"/>
              </a:solidFill>
              <a:latin typeface="Paperlogy 4 Regular"/>
              <a:ea typeface="Paperlogy 4 Regular"/>
              <a:cs typeface="Paperlogy 4 Regula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· 픽셀 크기별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508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얇은 파이프류 예외 유지 — rebar AP50 −40% 방지</a:t>
            </a:r>
            <a:endParaRPr sz="3200" b="1" dirty="0">
              <a:solidFill>
                <a:srgbClr val="1A1A1A"/>
              </a:solidFill>
              <a:latin typeface="Paperlogy 7 Bold"/>
              <a:ea typeface="Paperlogy 7 Bold"/>
              <a:cs typeface="Paperlogy 7 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593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 dirty="0" err="1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예외 제거 시 전체 +0.35%, rebar는 0.1055→0.0634 하락_x000B_소형·파이프류는 base 모델도 대부분 미검출</a:t>
            </a:r>
            <a:br>
              <a:rPr lang="en-US" sz="1700" b="0" dirty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</a:br>
            <a:endParaRPr sz="1700" b="0" dirty="0">
              <a:solidFill>
                <a:srgbClr val="555555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8000" y="1485260"/>
            <a:ext cx="11176000" cy="1059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90500" indent="-190500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예외 정책 3종 비교 — 현행(긴 변 72 px) 유지가 rebar·small pipe 보존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두께 </a:t>
            </a:r>
            <a:r>
              <a:rPr lang="en-US" altLang="ko-KR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6 </a:t>
            </a:r>
            <a:r>
              <a:rPr lang="en" sz="125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px</a:t>
            </a:r>
            <a:r>
              <a:rPr lang="en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lang="ko-KR" altLang="en-US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조건 추가도 </a:t>
            </a:r>
            <a:r>
              <a:rPr lang="en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rebar −23% </a:t>
            </a:r>
            <a:r>
              <a:rPr lang="en-US" altLang="ko-KR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— </a:t>
            </a:r>
            <a:r>
              <a:rPr lang="ko-KR" altLang="en-US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두께 미달은 제거 대신 </a:t>
            </a:r>
            <a:r>
              <a:rPr lang="en-US" altLang="ko-KR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'</a:t>
            </a:r>
            <a:r>
              <a:rPr lang="ko-KR" altLang="en-US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작업 우선순위 최하위</a:t>
            </a:r>
            <a:r>
              <a:rPr lang="en-US" altLang="ko-KR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'</a:t>
            </a:r>
            <a:r>
              <a:rPr lang="ko-KR" altLang="en-US"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로 처리</a:t>
            </a:r>
          </a:p>
          <a:p>
            <a:pPr marL="190500" indent="-190500">
              <a:lnSpc>
                <a:spcPct val="140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lang="ko-KR" alt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검출 실증 </a:t>
            </a:r>
            <a:r>
              <a:rPr lang="en-US" altLang="ko-KR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— </a:t>
            </a:r>
            <a:r>
              <a:rPr lang="ko-KR" altLang="en-US"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무필터</a:t>
            </a:r>
            <a:r>
              <a:rPr lang="ko-KR" alt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학습 모델도 </a:t>
            </a:r>
            <a:r>
              <a:rPr lang="en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trash 82%·rebar 77%·small pipe 72%</a:t>
            </a:r>
            <a:r>
              <a:rPr lang="ko-KR" altLang="en-US"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를</a:t>
            </a:r>
            <a:r>
              <a:rPr lang="ko-KR" alt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 </a:t>
            </a:r>
            <a:r>
              <a:rPr lang="en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background</a:t>
            </a:r>
            <a:r>
              <a:rPr lang="ko-KR" alt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로 누락</a:t>
            </a:r>
            <a:endParaRPr lang="en" sz="125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pic>
        <p:nvPicPr>
          <p:cNvPr id="13" name="Picture 12" descr="chart_ex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14" y="2872642"/>
            <a:ext cx="5472766" cy="2977510"/>
          </a:xfrm>
          <a:prstGeom prst="rect">
            <a:avLst/>
          </a:prstGeom>
        </p:spPr>
      </p:pic>
      <p:pic>
        <p:nvPicPr>
          <p:cNvPr id="16" name="Picture 15" descr="chart_background_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641" y="2872642"/>
            <a:ext cx="4380359" cy="3130549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BS-302 시그니처_좌우조합 A(국영문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· 픽셀 크기별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508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정성 비교 ① rebar — cut 상향 시 가는 것부터 미검출</a:t>
            </a:r>
            <a:endParaRPr sz="3200" b="1" dirty="0">
              <a:solidFill>
                <a:srgbClr val="1A1A1A"/>
              </a:solidFill>
              <a:latin typeface="Paperlogy 7 Bold"/>
              <a:ea typeface="Paperlogy 7 Bold"/>
              <a:cs typeface="Paperlogy 7 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같은 장면에 GT와 4개 학습 조건 예측을 같은 규격으로 렌더 · 검출 수 277→256→218→200 (conf 0.25)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qual_zoom_rebar_295_13-24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9" y="1286427"/>
            <a:ext cx="10326171" cy="45873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000" y="5994400"/>
            <a:ext cx="11176000" cy="2290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그림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— rebar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밀집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영역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확대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(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원본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1500×1000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px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) ·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cutoff별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마스크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소실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양상</a:t>
            </a:r>
            <a:endParaRPr sz="130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BS-302 시그니처_좌우조합 A(국영문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· 픽셀 크기별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정성 비교 ② small pipe — 얽힌 다발 내부 미검출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GT는 가닥 단위 개별 라벨 · 예측은 가장자리·분리 개체 위주 — 검출 수 277→275→220→213 (conf 0.25)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qual_zoom_smallpipe_429_11-06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1301750"/>
            <a:ext cx="10605162" cy="47112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6135" y="6013013"/>
            <a:ext cx="11176000" cy="2290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그림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— small pipe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밀집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영역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확대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·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cutoff별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검출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밀도</a:t>
            </a:r>
            <a:r>
              <a:rPr sz="130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변화</a:t>
            </a:r>
            <a:endParaRPr sz="130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BS-302 시그니처_좌우조합 A(국영문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 dirty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</a:t>
            </a:r>
            <a:r>
              <a:rPr lang="en-US" altLang="ko-KR" sz="1200" b="0" spc="80" dirty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3</a:t>
            </a:r>
            <a:r>
              <a:rPr sz="1200" b="0" spc="80" dirty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 · </a:t>
            </a:r>
            <a:r>
              <a:rPr sz="1200" b="0" spc="80" dirty="0" err="1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향후</a:t>
            </a:r>
            <a:r>
              <a:rPr sz="1200" b="0" spc="80" dirty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200" b="0" spc="80" dirty="0" err="1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계획</a:t>
            </a:r>
            <a:endParaRPr sz="1200" b="0" spc="80" dirty="0">
              <a:solidFill>
                <a:srgbClr val="7A7A7A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508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향후</a:t>
            </a: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 </a:t>
            </a: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계획</a:t>
            </a: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 — 3순위 </a:t>
            </a:r>
            <a:r>
              <a:rPr lang="ko-KR" altLang="en-US"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 </a:t>
            </a: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8/4, 4순위 8/21·9/4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79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 dirty="0" err="1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선택지 A/B 결정 필요</a:t>
            </a:r>
            <a:endParaRPr sz="1700" b="0" dirty="0">
              <a:solidFill>
                <a:srgbClr val="555555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905488"/>
              </p:ext>
            </p:extLst>
          </p:nvPr>
        </p:nvGraphicFramePr>
        <p:xfrm>
          <a:off x="508000" y="1371600"/>
          <a:ext cx="11176000" cy="1978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일정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내용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8/4 (화)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exp3 최종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성능·속도·VRAM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균형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2~3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확정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학습</a:t>
                      </a:r>
                      <a:endParaRPr sz="1300" b="0" dirty="0">
                        <a:solidFill>
                          <a:srgbClr val="333333"/>
                        </a:solidFill>
                        <a:latin typeface="Paperlogy 4 Regular"/>
                        <a:ea typeface="Paperlogy 4 Regular"/>
                        <a:cs typeface="Paperlogy 4 Regular"/>
                      </a:endParaRP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8/21 (금)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exp4 중간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클래스×크기 구간 recall — 클래스별 최소 크기 지도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9/4 (금)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exp4 최종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클래스별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차등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기준표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확정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—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최종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라벨링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  <a:endParaRPr sz="1300" b="0" dirty="0">
                        <a:solidFill>
                          <a:srgbClr val="333333"/>
                        </a:solidFill>
                        <a:latin typeface="Paperlogy 4 Regular"/>
                        <a:ea typeface="Paperlogy 4 Regular"/>
                        <a:cs typeface="Paperlogy 4 Regular"/>
                      </a:endParaRP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병행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확정성 보강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cut 24/30 px seed 3회 반복 · PQ·Count 지표 환산 평가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합의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문서 확정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Count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분모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('30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px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이상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') · 1순위 Point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가이드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수신</a:t>
                      </a:r>
                      <a:endParaRPr sz="1300" b="0" dirty="0">
                        <a:solidFill>
                          <a:srgbClr val="333333"/>
                        </a:solidFill>
                        <a:latin typeface="Paperlogy 4 Regular"/>
                        <a:ea typeface="Paperlogy 4 Regular"/>
                        <a:cs typeface="Paperlogy 4 Regular"/>
                      </a:endParaRP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8C37FF11-7CA6-BE5E-E93A-91076C53EAFC}"/>
              </a:ext>
            </a:extLst>
          </p:cNvPr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CDE073-BDBD-78DA-8E55-99CE37E71CCD}"/>
              </a:ext>
            </a:extLst>
          </p:cNvPr>
          <p:cNvSpPr txBox="1"/>
          <p:nvPr/>
        </p:nvSpPr>
        <p:spPr>
          <a:xfrm>
            <a:off x="457200" y="139700"/>
            <a:ext cx="11176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 dirty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PLAN · </a:t>
            </a:r>
            <a:r>
              <a:rPr lang="ko-KR" altLang="en-US" sz="1200" b="0" spc="80" dirty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추가 </a:t>
            </a:r>
            <a:r>
              <a:rPr sz="1200" b="0" spc="80" dirty="0" err="1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실행</a:t>
            </a:r>
            <a:r>
              <a:rPr sz="1200" b="0" spc="80" dirty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200" b="0" spc="80" dirty="0" err="1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계획</a:t>
            </a:r>
            <a:endParaRPr sz="1200" b="0" spc="80" dirty="0">
              <a:solidFill>
                <a:srgbClr val="7A7A7A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1F926-1781-BE2E-7693-6E67168837A9}"/>
              </a:ext>
            </a:extLst>
          </p:cNvPr>
          <p:cNvSpPr txBox="1"/>
          <p:nvPr/>
        </p:nvSpPr>
        <p:spPr>
          <a:xfrm>
            <a:off x="508000" y="304800"/>
            <a:ext cx="11176000" cy="508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GT </a:t>
            </a: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무필터</a:t>
            </a: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 </a:t>
            </a: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정확도</a:t>
            </a: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 </a:t>
            </a: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개선</a:t>
            </a:r>
            <a:r>
              <a:rPr lang="ko-KR" altLang="en-US"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 </a:t>
            </a:r>
            <a:r>
              <a:rPr lang="en-US" altLang="ko-KR"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(</a:t>
            </a:r>
            <a:r>
              <a:rPr lang="ko-KR" altLang="en-US"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추가실험</a:t>
            </a:r>
            <a:r>
              <a:rPr lang="en-US" altLang="ko-KR"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)</a:t>
            </a: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 — </a:t>
            </a: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실행</a:t>
            </a:r>
            <a:r>
              <a:rPr sz="3200" b="1" dirty="0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 </a:t>
            </a:r>
            <a:r>
              <a:rPr sz="3200" b="1" dirty="0" err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계획</a:t>
            </a:r>
            <a:endParaRPr sz="3200" b="1" dirty="0">
              <a:solidFill>
                <a:srgbClr val="1A1A1A"/>
              </a:solidFill>
              <a:latin typeface="Paperlogy 7 Bold"/>
              <a:ea typeface="Paperlogy 7 Bold"/>
              <a:cs typeface="Paperlogy 7 Bold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5A1BE71-0240-A437-7FA2-1F59D2C6A64F}"/>
              </a:ext>
            </a:extLst>
          </p:cNvPr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2E011220-0BD3-C118-6B91-BAE435EC6DF7}"/>
              </a:ext>
            </a:extLst>
          </p:cNvPr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B746DC-15F7-BFEC-A50B-0CF44FA45E46}"/>
              </a:ext>
            </a:extLst>
          </p:cNvPr>
          <p:cNvSpPr txBox="1"/>
          <p:nvPr/>
        </p:nvSpPr>
        <p:spPr>
          <a:xfrm>
            <a:off x="508000" y="863600"/>
            <a:ext cx="11176000" cy="279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 dirty="0" err="1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실험</a:t>
            </a:r>
            <a:r>
              <a:rPr sz="1700" b="0" dirty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 4단계 · GPU </a:t>
            </a:r>
            <a:r>
              <a:rPr sz="1700" b="0" dirty="0" err="1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배정</a:t>
            </a:r>
            <a:r>
              <a:rPr sz="1700" b="0" dirty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 · </a:t>
            </a:r>
            <a:r>
              <a:rPr sz="1700" b="0" dirty="0" err="1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소요</a:t>
            </a:r>
            <a:r>
              <a:rPr sz="1700" b="0" dirty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  <a:r>
              <a:rPr sz="1700" b="0" dirty="0" err="1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기간</a:t>
            </a:r>
            <a:r>
              <a:rPr sz="1700" b="0" dirty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27709B-D4ED-6D0C-1B97-1DC9DAEE28C3}"/>
              </a:ext>
            </a:extLst>
          </p:cNvPr>
          <p:cNvSpPr txBox="1"/>
          <p:nvPr/>
        </p:nvSpPr>
        <p:spPr>
          <a:xfrm>
            <a:off x="635000" y="1104900"/>
            <a:ext cx="11049000" cy="247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2400" indent="-152400">
              <a:lnSpc>
                <a:spcPct val="140000"/>
              </a:lnSpc>
              <a:buClr>
                <a:srgbClr val="333333"/>
              </a:buClr>
              <a:buSzPct val="100000"/>
              <a:buFont typeface="Paperlogy"/>
              <a:buChar char="•"/>
            </a:pPr>
            <a:r>
              <a:rPr lang="ko-KR" altLang="en-US" sz="130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기존 YOLO 모델 고정으로만 현재 테스트 진행 → 자체 GT 무필터 조건에서도 정확도 한계 (다른 백본 고려, 하이퍼파라미터 재설정 고려)</a:t>
            </a:r>
            <a:endParaRPr sz="130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</p:txBody>
      </p:sp>
      <p:sp>
        <p:nvSpPr>
          <p:cNvPr id="9" name="Rectangle 10">
            <a:extLst>
              <a:ext uri="{FF2B5EF4-FFF2-40B4-BE49-F238E27FC236}">
                <a16:creationId xmlns:a16="http://schemas.microsoft.com/office/drawing/2014/main" id="{473DC9CB-AEA0-A71E-74D5-F4D52E0DAD42}"/>
              </a:ext>
            </a:extLst>
          </p:cNvPr>
          <p:cNvSpPr/>
          <p:nvPr/>
        </p:nvSpPr>
        <p:spPr>
          <a:xfrm>
            <a:off x="508000" y="15494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graphicFrame>
        <p:nvGraphicFramePr>
          <p:cNvPr id="10" name="Table 11">
            <a:extLst>
              <a:ext uri="{FF2B5EF4-FFF2-40B4-BE49-F238E27FC236}">
                <a16:creationId xmlns:a16="http://schemas.microsoft.com/office/drawing/2014/main" id="{33A15958-33AA-5338-FE03-3C039EF7A1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614709"/>
              </p:ext>
            </p:extLst>
          </p:nvPr>
        </p:nvGraphicFramePr>
        <p:xfrm>
          <a:off x="508000" y="1765300"/>
          <a:ext cx="11176000" cy="1902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단계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내용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GPU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기간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① 개선 실험 8종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기준선 확립 + 증강·라벨 정제·타일·고해상 동시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A</a:t>
                      </a:r>
                      <a:r>
                        <a:rPr lang="en-US" altLang="ko-KR"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00 ×8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2~4일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7/28 (월)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② P2 헤드 추가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마스크 해상도 2배 — 아키텍처 조사 1위, 준비 완료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A</a:t>
                      </a:r>
                      <a:r>
                        <a:rPr lang="en-US" altLang="ko-KR"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00 ×1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3~5일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GPU 비는 즉시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③ EoMT-L 파일럿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파운데이션 백본 교체 — 조사 2위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" altLang="ko-KR"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A100 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7~10일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8월 1주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④ EVA-02-L 파일럿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검출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개수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제한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없는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2단계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구조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— </a:t>
                      </a:r>
                      <a:r>
                        <a:rPr sz="1300" b="0" dirty="0" err="1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조사</a:t>
                      </a: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 2위 B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A6000 ×8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5~8일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 dirty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8월 1~2주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E37E05F-059A-A48A-5892-26A119B3F6FB}"/>
              </a:ext>
            </a:extLst>
          </p:cNvPr>
          <p:cNvSpPr txBox="1"/>
          <p:nvPr/>
        </p:nvSpPr>
        <p:spPr>
          <a:xfrm>
            <a:off x="508000" y="4064000"/>
            <a:ext cx="11176000" cy="13204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90500" indent="-190500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lang="ko-KR" alt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기존 </a:t>
            </a:r>
            <a:r>
              <a:rPr lang="en-US" altLang="ko-KR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Yolo </a:t>
            </a:r>
            <a:r>
              <a:rPr lang="ko-KR" altLang="en-US" sz="1450" b="1" dirty="0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모델과 성능비교</a:t>
            </a:r>
            <a:endParaRPr sz="1450" b="1" dirty="0">
              <a:solidFill>
                <a:srgbClr val="1A1A1A"/>
              </a:solidFill>
              <a:latin typeface="Paperlogy 6 SemiBold"/>
              <a:ea typeface="Paperlogy 6 SemiBold"/>
              <a:cs typeface="Paperlogy 6 SemiBold"/>
            </a:endParaRP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 dirty="0" err="1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지표 = mask mAP50 · 취약 클래스(철근·소형 파이프)</a:t>
            </a:r>
          </a:p>
          <a:p>
            <a:pPr marL="190500" indent="-190500">
              <a:lnSpc>
                <a:spcPct val="135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450" b="1" dirty="0" err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총 일정 약 3주 — 8월 중순 종합 판정 후 최종 방식 결정</a:t>
            </a:r>
            <a:endParaRPr sz="1450" b="1" dirty="0">
              <a:solidFill>
                <a:srgbClr val="1A1A1A"/>
              </a:solidFill>
              <a:latin typeface="Paperlogy 6 SemiBold"/>
              <a:ea typeface="Paperlogy 6 SemiBold"/>
              <a:cs typeface="Paperlogy 6 SemiBold"/>
            </a:endParaRP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 dirty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P2·EoMT·EVA-02는 통과 기준(+1%p 이상) 미달 시 종료 (이후 해당 모델로 추가 실험)</a:t>
            </a:r>
            <a:endParaRPr sz="1250" b="0" dirty="0">
              <a:solidFill>
                <a:srgbClr val="333333"/>
              </a:solidFill>
              <a:latin typeface="Paperlogy 4 Regular"/>
              <a:ea typeface="Paperlogy 4 Regular"/>
              <a:cs typeface="Paperlogy 4 Regular"/>
            </a:endParaRPr>
          </a:p>
        </p:txBody>
      </p:sp>
    </p:spTree>
    <p:extLst>
      <p:ext uri="{BB962C8B-B14F-4D97-AF65-F5344CB8AC3E}">
        <p14:creationId xmlns:p14="http://schemas.microsoft.com/office/powerpoint/2010/main" val="776909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1471</TotalTime>
  <Words>1333</Words>
  <Application>Microsoft Macintosh PowerPoint</Application>
  <PresentationFormat>와이드스크린</PresentationFormat>
  <Paragraphs>181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9" baseType="lpstr">
      <vt:lpstr>맑은 고딕</vt:lpstr>
      <vt:lpstr>Paperlogy</vt:lpstr>
      <vt:lpstr>Paperlogy 4 Regular</vt:lpstr>
      <vt:lpstr>Paperlogy 6 SemiBold</vt:lpstr>
      <vt:lpstr>Paperlogy 7 Bold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성명륜(기계공학과)</cp:lastModifiedBy>
  <cp:revision>4</cp:revision>
  <dcterms:created xsi:type="dcterms:W3CDTF">2013-01-27T09:14:16Z</dcterms:created>
  <dcterms:modified xsi:type="dcterms:W3CDTF">2026-07-27T09:46:06Z</dcterms:modified>
  <cp:category/>
</cp:coreProperties>
</file>
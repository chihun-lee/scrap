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3726F6-279B-B04A-AA9C-3AB727E0A341}" type="datetimeFigureOut">
              <a:rPr kumimoji="1" lang="ko-KR" altLang="en-US" smtClean="0"/>
              <a:t>2026. 7. 26.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EFE53-76EB-8C41-8BD8-D151802FB46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8703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8EFE53-76EB-8C41-8BD8-D151802FB46B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9225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08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8000" y="698500"/>
            <a:ext cx="3175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spc="100">
                <a:solidFill>
                  <a:srgbClr val="6FA32E"/>
                </a:solidFill>
                <a:latin typeface="Paperlogy 6 SemiBold"/>
                <a:ea typeface="Paperlogy 6 SemiBold"/>
                <a:cs typeface="Paperlogy 6 SemiBold"/>
              </a:rPr>
              <a:t>REPORT · 분석 보고자료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8000" y="1003300"/>
            <a:ext cx="457200" cy="2540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8000" y="1219200"/>
            <a:ext cx="11176000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철스크랩 라벨링 컷오프 기준</a:t>
            </a:r>
          </a:p>
          <a:p>
            <a:pPr algn="l">
              <a:lnSpc>
                <a:spcPct val="120000"/>
              </a:lnSpc>
            </a:pPr>
            <a:r>
              <a:rPr sz="40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결론 · 선택지 분석 · 향후 계획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000" y="31496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2000" y="3556000"/>
            <a:ext cx="6032500" cy="281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KIMS </a:t>
            </a:r>
            <a:r>
              <a:rPr sz="16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재료데이터·분석연구본부</a:t>
            </a:r>
            <a:r>
              <a:rPr sz="16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이치헌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3500" y="3327400"/>
            <a:ext cx="4000500" cy="2260600"/>
          </a:xfrm>
          <a:prstGeom prst="rect">
            <a:avLst/>
          </a:prstGeom>
          <a:solidFill>
            <a:srgbClr val="0F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0200" y="3543300"/>
            <a:ext cx="3556000" cy="7897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A </a:t>
            </a:r>
            <a:r>
              <a:rPr sz="1500" b="1" dirty="0" err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확정안</a:t>
            </a: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 — 30 </a:t>
            </a:r>
            <a:r>
              <a:rPr sz="1500" b="1" dirty="0" err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생략</a:t>
            </a: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 · </a:t>
            </a:r>
            <a:r>
              <a:rPr lang="ko-KR" altLang="en-US" sz="1500" b="1" dirty="0" err="1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라벨링축소</a:t>
            </a:r>
            <a:r>
              <a:rPr sz="1500" b="1" dirty="0">
                <a:solidFill>
                  <a:srgbClr val="FFFFFF"/>
                </a:solidFill>
                <a:latin typeface="Paperlogy 6 SemiBold"/>
                <a:ea typeface="Paperlogy 6 SemiBold"/>
                <a:cs typeface="Paperlogy 6 SemiBold"/>
              </a:rPr>
              <a:t> 46.5%</a:t>
            </a:r>
          </a:p>
          <a:p>
            <a:pPr algn="l">
              <a:lnSpc>
                <a:spcPct val="135000"/>
              </a:lnSpc>
              <a:spcBef>
                <a:spcPts val="1600"/>
              </a:spcBef>
            </a:pPr>
            <a:r>
              <a:rPr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B </a:t>
            </a:r>
            <a:r>
              <a:rPr sz="1500" b="1" dirty="0" err="1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보수안</a:t>
            </a:r>
            <a:r>
              <a:rPr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 — 24 </a:t>
            </a:r>
            <a:r>
              <a:rPr sz="1500" b="1" dirty="0" err="1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라벨</a:t>
            </a:r>
            <a:r>
              <a:rPr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 + </a:t>
            </a:r>
            <a:r>
              <a:rPr lang="ko-KR" altLang="en-US" sz="1500" b="1" dirty="0">
                <a:solidFill>
                  <a:srgbClr val="D9EFC5"/>
                </a:solidFill>
                <a:latin typeface="Paperlogy 6 SemiBold"/>
                <a:ea typeface="Paperlogy 6 SemiBold"/>
                <a:cs typeface="Paperlogy 6 SemiBold"/>
              </a:rPr>
              <a:t>추후 코드로 필터</a:t>
            </a:r>
            <a:endParaRPr sz="1500" b="1" dirty="0">
              <a:solidFill>
                <a:srgbClr val="D9EFC5"/>
              </a:solidFill>
              <a:latin typeface="Paperlogy 6 SemiBold"/>
              <a:ea typeface="Paperlogy 6 SemiBold"/>
              <a:cs typeface="Paperlogy 6 SemiBold"/>
            </a:endParaRPr>
          </a:p>
        </p:txBody>
      </p:sp>
      <p:pic>
        <p:nvPicPr>
          <p:cNvPr id="14" name="Picture 13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0" y="5816600"/>
            <a:ext cx="1975373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SUMMARY · 핵심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결론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—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확정안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보수안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성능·공수 기준 확정안 = 30 px 생략 · 재라벨링 리스크 회피가 필요하면 보수안 = 24 px 라벨+30 px 코드 필터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8777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8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A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확정안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원본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30×30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미만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생략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+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세장형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예외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긴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72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)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유지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· 7/24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회신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기준</a:t>
            </a:r>
            <a:endParaRPr sz="150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필요 인스턴스 수 기존 대비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46.5% ·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공통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val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mask mAP50 0.4766(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무필터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−1.06%p) —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생략분은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개수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53.5%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면적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6.7%</a:t>
            </a:r>
          </a:p>
          <a:p>
            <a:pPr marL="190500" indent="-190500">
              <a:lnSpc>
                <a:spcPct val="138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B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보수안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라벨은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24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px까지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그리고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,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학습은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30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기준으로 코드상에서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필터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링</a:t>
            </a:r>
            <a:endParaRPr sz="150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 필요 인스턴스 수 기존대비 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54.2%(+7.7%p·38,543개)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en-US" altLang="ko-KR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but</a:t>
            </a:r>
            <a:r>
              <a:rPr lang="ko-KR" altLang="en-US" sz="130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가역성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확보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—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입력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상향·tile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추론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도입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필터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해제만으로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24~30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즉시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활용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  <a:p>
            <a:pPr marL="190500" indent="-190500">
              <a:lnSpc>
                <a:spcPct val="138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③"/>
            </a:pP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공통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확정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긴 파이프 유형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예외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유지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제거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시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rebar AP50 −40%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8000" y="3949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840270"/>
              </p:ext>
            </p:extLst>
          </p:nvPr>
        </p:nvGraphicFramePr>
        <p:xfrm>
          <a:off x="508000" y="4089400"/>
          <a:ext cx="11176000" cy="988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선택지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가역성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확정안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— 30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미만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생략</a:t>
                      </a:r>
                      <a:endParaRPr sz="1300" b="1" dirty="0">
                        <a:solidFill>
                          <a:srgbClr val="6FA32E"/>
                        </a:solidFill>
                        <a:latin typeface="Paperlogy 6 SemiBold"/>
                        <a:ea typeface="Paperlogy 6 SemiBold"/>
                        <a:cs typeface="Paperlogy 6 SemiBold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 (−1.06%p)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 · 소급 불가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보수안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— 24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라벨+30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300" b="1" dirty="0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필터</a:t>
                      </a:r>
                      <a:endParaRPr sz="1300" b="1" dirty="0">
                        <a:solidFill>
                          <a:srgbClr val="6FA32E"/>
                        </a:solidFill>
                        <a:latin typeface="Paperlogy 6 SemiBold"/>
                        <a:ea typeface="Paperlogy 6 SemiBold"/>
                        <a:cs typeface="Paperlogy 6 SemiBold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54.2%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 (학습 동일)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있음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·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필터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재조정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Picture 15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01 · 선택지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선택지 A·B 정량 비교 — 공수·성능·가역성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학습 데이터는 두 안 모두 30 px 필터로 동일 — 차이는 라벨 원본의 하한(30 vs 24 px)과 가역성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15644"/>
              </p:ext>
            </p:extLst>
          </p:nvPr>
        </p:nvGraphicFramePr>
        <p:xfrm>
          <a:off x="508000" y="1371600"/>
          <a:ext cx="11176000" cy="1978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항목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A</a:t>
                      </a:r>
                      <a:r>
                        <a:rPr lang="ko-KR" altLang="en-US"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안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(30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생략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B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안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(24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라벨+30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px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필터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)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라벨링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30 px 미만 미생성 + 세장형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24 px 미만 미생성 + 세장형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라벨 그대로 (30 px 컷)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코드 필터로 30 px 컷 — A와 동일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54.2% (+7.7%p · 38,543개)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성능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공통 val 0.4766 (−1.06%p)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동일 0.4766 · 필터 해제 시 0.4857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가역성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없음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— 24~30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px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소급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불가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있음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—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입력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상향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즉시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활용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01 · 선택지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선택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기준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en-US" altLang="ko-KR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-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실험 기반 </a:t>
            </a:r>
            <a:r>
              <a:rPr lang="ko-KR" altLang="en-US"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라벨링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비용 </a:t>
            </a:r>
            <a:r>
              <a:rPr lang="en-US" altLang="ko-KR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vs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정확도 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8000" y="1371600"/>
            <a:ext cx="11176000" cy="1385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8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비용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축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B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안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추가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비용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= 24~30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구간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instance 38,543개 (+7.7%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추가</a:t>
            </a:r>
            <a:r>
              <a:rPr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)</a:t>
            </a: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공수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대비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성능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곡선상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24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px는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무필터와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사실상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동등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(−0.15%p) —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이하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GT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소실</a:t>
            </a:r>
            <a:endParaRPr lang="ko-KR" altLang="en-US"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  <a:p>
            <a:pPr marL="190500" indent="-190500">
              <a:lnSpc>
                <a:spcPct val="138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편익 축 </a:t>
            </a:r>
            <a:r>
              <a:rPr lang="en-US" altLang="ko-KR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— 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입력 </a:t>
            </a:r>
            <a:r>
              <a:rPr lang="en-US" altLang="ko-KR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1600/1920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에서 소형</a:t>
            </a:r>
            <a:r>
              <a:rPr lang="en-US" altLang="ko-KR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·</a:t>
            </a:r>
            <a:r>
              <a:rPr lang="ko-KR" altLang="en-US" sz="150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세장형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검출이 회복되면 </a:t>
            </a:r>
            <a:r>
              <a:rPr lang="en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B</a:t>
            </a:r>
            <a:r>
              <a:rPr lang="ko-KR" altLang="en-US" sz="150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의 라벨이 즉시 자산화</a:t>
            </a:r>
          </a:p>
          <a:p>
            <a:pPr marL="190500" indent="0">
              <a:lnSpc>
                <a:spcPct val="138000"/>
              </a:lnSpc>
              <a:spcAft>
                <a:spcPts val="0"/>
              </a:spcAft>
            </a:pP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1280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기준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rebar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미검출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77%가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입력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상향으로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얼마나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줄어드는지가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exp3의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관전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포인트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pic>
        <p:nvPicPr>
          <p:cNvPr id="13" name="Picture 12" descr="chart_cost_per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0109" y="2966273"/>
            <a:ext cx="6324402" cy="3309771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Picture 17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cutoff 5수준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재학습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공통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검증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기준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30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px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확정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79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이전 검증 기준은 </a:t>
            </a:r>
            <a:r>
              <a:rPr lang="ko-KR" altLang="en-US"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픽셀수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제한에 따라서 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cutoff↑=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mAP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↑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착시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185217"/>
              </p:ext>
            </p:extLst>
          </p:nvPr>
        </p:nvGraphicFramePr>
        <p:xfrm>
          <a:off x="508000" y="1371600"/>
          <a:ext cx="11176000" cy="1881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학습 데이터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이전 </a:t>
                      </a:r>
                      <a:r>
                        <a:rPr sz="1400" b="1" dirty="0" err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val</a:t>
                      </a:r>
                      <a:r>
                        <a:rPr sz="1400" b="1" dirty="0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공통 val mAP50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 대비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라벨 공수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판정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무필터 (전체 라벨)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대조군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24 px + 예외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0.6454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0.4857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−0.15%p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54.2%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B 보수안 하한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30 px +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−1.06%p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 확정안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36 px + 예외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0.7259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0.4510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−3.62%p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41.9%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필요없음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cut 48 px + 예외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0.7440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0.4301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−5.71%p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38.3%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lang="ko-KR" altLang="en-US"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필요없음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08000" y="37846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999" y="3898900"/>
            <a:ext cx="6058053" cy="13204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이전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val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0.487→0.744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상승은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평가셋이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함께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쉬워진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효과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lang="en-US" altLang="ko-KR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이전메일 결과 무시</a:t>
            </a:r>
            <a:r>
              <a:rPr lang="en-US" altLang="ko-KR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)</a:t>
            </a:r>
            <a:endParaRPr sz="145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공통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val로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재평가하면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0.487→0.430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하락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</a:p>
          <a:p>
            <a:pPr marL="190500" indent="-190500">
              <a:lnSpc>
                <a:spcPct val="135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30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미만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라벨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전체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개수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53.5%)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의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성능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기여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= 1.06%p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24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이상에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학습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신호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사실상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전부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포함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(−0.15%p)</a:t>
            </a:r>
          </a:p>
        </p:txBody>
      </p:sp>
      <p:pic>
        <p:nvPicPr>
          <p:cNvPr id="15" name="Picture 14" descr="chart_cutoff_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204" y="3576624"/>
            <a:ext cx="4627085" cy="2665426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재료데이터·분석연구본부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철스크랩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라벨링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컷오프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기준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분석</a:t>
            </a:r>
            <a:endParaRPr sz="1100" b="0" dirty="0">
              <a:solidFill>
                <a:srgbClr val="888888"/>
              </a:solidFill>
              <a:latin typeface="Paperlogy 4 Regular"/>
              <a:ea typeface="Paperlogy 4 Regular"/>
              <a:cs typeface="Paperlogy 4 Regula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크기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구간별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GT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생존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— 30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px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이상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형상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보존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97%+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41283"/>
            <a:ext cx="11176000" cy="593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전수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501,377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instance를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학습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GT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생성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경로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(stride 4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downsample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)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그대로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통과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br>
              <a:rPr 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</a:b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실제 </a:t>
            </a:r>
            <a:r>
              <a:rPr lang="ko-KR" altLang="en-US"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학습때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라벨링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된 </a:t>
            </a:r>
            <a:r>
              <a:rPr lang="ko-KR" altLang="en-US"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폴리곤이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어떻게 들어가는지 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구간별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생존·복원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IoU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측정</a:t>
            </a:r>
            <a:endParaRPr sz="1700" b="0" dirty="0">
              <a:solidFill>
                <a:srgbClr val="555555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chart_g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54562"/>
            <a:ext cx="6350000" cy="351407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33185" y="1520825"/>
            <a:ext cx="4863335" cy="1922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12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미만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완전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소실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구간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(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생존율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55~92%)</a:t>
            </a: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라벨링해도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학습에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물리적으로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전달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불가</a:t>
            </a:r>
            <a:endParaRPr sz="125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  <a:p>
            <a:pPr marL="190500" indent="-190500">
              <a:lnSpc>
                <a:spcPct val="135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18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미만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과반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IoU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&lt;0.5 </a:t>
            </a:r>
            <a:br>
              <a:rPr 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</a:b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24~30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92.7%</a:t>
            </a:r>
            <a:br>
              <a:rPr 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</a:b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 30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이상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97%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이상</a:t>
            </a:r>
            <a:endParaRPr sz="1450" b="1" dirty="0">
              <a:solidFill>
                <a:srgbClr val="1A1A1A"/>
              </a:solidFill>
              <a:latin typeface="Paperlogy 6 SemiBold"/>
              <a:ea typeface="Paperlogy 6 SemiBold"/>
              <a:cs typeface="Paperlogy 6 SemiBold"/>
            </a:endParaRPr>
          </a:p>
          <a:p>
            <a:pPr marL="190500" indent="0">
              <a:lnSpc>
                <a:spcPct val="135000"/>
              </a:lnSpc>
              <a:spcAft>
                <a:spcPts val="0"/>
              </a:spcAft>
            </a:pP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cutoff 30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A안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)·24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(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B안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하한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의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물리</a:t>
            </a:r>
            <a:r>
              <a:rPr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근거</a:t>
            </a:r>
            <a:endParaRPr sz="125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pic>
        <p:nvPicPr>
          <p:cNvPr id="15" name="Picture 14" descr="exp5_rebar_van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3504049"/>
            <a:ext cx="3750539" cy="255870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9" name="Picture 18" descr="BS-302 시그니처_좌우조합 A(국영문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재료데이터·분석연구본부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철스크랩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라벨링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컷오프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기준</a:t>
            </a:r>
            <a:r>
              <a:rPr sz="1100" b="0" dirty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100" b="0" dirty="0" err="1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분석</a:t>
            </a:r>
            <a:endParaRPr sz="1100" b="0" dirty="0">
              <a:solidFill>
                <a:srgbClr val="888888"/>
              </a:solidFill>
              <a:latin typeface="Paperlogy 4 Regular"/>
              <a:ea typeface="Paperlogy 4 Regular"/>
              <a:cs typeface="Paperlogy 4 Regula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얇은 파이프류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예외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유지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rebar AP50 −40%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방지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5938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예외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제거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시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전체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+0.35%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rebar</a:t>
            </a:r>
            <a:r>
              <a:rPr lang="ko-KR" alt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클래스에 대해선 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0.1055→0.0634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급락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br>
              <a:rPr lang="en-US"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</a:b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소형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·</a:t>
            </a:r>
            <a:r>
              <a:rPr lang="ko-KR" altLang="en-US" sz="170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파이프류는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base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모델도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대부분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미검출</a:t>
            </a:r>
            <a:endParaRPr sz="1700" b="0" dirty="0">
              <a:solidFill>
                <a:srgbClr val="555555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8000" y="1485260"/>
            <a:ext cx="11176000" cy="10590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90500" indent="-190500">
              <a:lnSpc>
                <a:spcPct val="140000"/>
              </a:lnSpc>
              <a:spcBef>
                <a:spcPts val="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①"/>
            </a:pP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예외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정책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3종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비교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—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현행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(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긴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변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72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px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)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유지가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rebar·small</a:t>
            </a:r>
            <a:r>
              <a:rPr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pipe </a:t>
            </a:r>
            <a:r>
              <a:rPr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보존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가능</a:t>
            </a:r>
          </a:p>
          <a:p>
            <a:pPr marL="190500" indent="0">
              <a:lnSpc>
                <a:spcPct val="140000"/>
              </a:lnSpc>
              <a:spcAft>
                <a:spcPts val="0"/>
              </a:spcAft>
            </a:pP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두께 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6 </a:t>
            </a:r>
            <a:r>
              <a:rPr lang="en" sz="125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lang="en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조건 추가도 </a:t>
            </a:r>
            <a:r>
              <a:rPr lang="en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rebar −23% 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— 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두께 미달은 제거 대신 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'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작업 우선순위 최하위</a:t>
            </a:r>
            <a:r>
              <a:rPr lang="en-US" altLang="ko-KR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'</a:t>
            </a:r>
            <a:r>
              <a:rPr lang="ko-KR" altLang="en-US" sz="125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로 처리</a:t>
            </a:r>
          </a:p>
          <a:p>
            <a:pPr marL="190500" indent="-190500">
              <a:lnSpc>
                <a:spcPct val="140000"/>
              </a:lnSpc>
              <a:spcBef>
                <a:spcPts val="1400"/>
              </a:spcBef>
              <a:spcAft>
                <a:spcPts val="200"/>
              </a:spcAft>
              <a:buClr>
                <a:srgbClr val="6FA32E"/>
              </a:buClr>
              <a:buSzPct val="110000"/>
              <a:buFont typeface="Paperlogy"/>
              <a:buChar char="②"/>
            </a:pP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검출 실증 </a:t>
            </a:r>
            <a:r>
              <a:rPr lang="en-US" altLang="ko-KR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— </a:t>
            </a:r>
            <a:r>
              <a:rPr lang="ko-KR" altLang="en-US"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무필터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학습 모델도 </a:t>
            </a:r>
            <a:r>
              <a:rPr lang="en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trash 82%·rebar 77%·small pipe 72%</a:t>
            </a:r>
            <a:r>
              <a:rPr lang="ko-KR" altLang="en-US" sz="1450" b="1" dirty="0" err="1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를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 </a:t>
            </a:r>
            <a:r>
              <a:rPr lang="en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background</a:t>
            </a:r>
            <a:r>
              <a:rPr lang="ko-KR" altLang="en-US" sz="1450" b="1" dirty="0">
                <a:solidFill>
                  <a:srgbClr val="1A1A1A"/>
                </a:solidFill>
                <a:latin typeface="Paperlogy 6 SemiBold"/>
                <a:ea typeface="Paperlogy 6 SemiBold"/>
                <a:cs typeface="Paperlogy 6 SemiBold"/>
              </a:rPr>
              <a:t>로 누락</a:t>
            </a:r>
            <a:endParaRPr lang="en" sz="125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pic>
        <p:nvPicPr>
          <p:cNvPr id="13" name="Picture 12" descr="chart_exce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14" y="2872642"/>
            <a:ext cx="5472766" cy="2977510"/>
          </a:xfrm>
          <a:prstGeom prst="rect">
            <a:avLst/>
          </a:prstGeom>
        </p:spPr>
      </p:pic>
      <p:pic>
        <p:nvPicPr>
          <p:cNvPr id="16" name="Picture 15" descr="chart_background_mi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641" y="2872642"/>
            <a:ext cx="4380359" cy="3130549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20" name="Picture 19" descr="BS-302 시그니처_좌우조합 A(국영문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정성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비교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① rebar — cut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상향시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가는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선형부터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미검출</a:t>
            </a:r>
            <a:endParaRPr sz="3200" b="1" dirty="0">
              <a:solidFill>
                <a:srgbClr val="1A1A1A"/>
              </a:solidFill>
              <a:latin typeface="Paperlogy 7 Bold"/>
              <a:ea typeface="Paperlogy 7 Bold"/>
              <a:cs typeface="Paperlogy 7 Bold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동일 장면에 GT와 4개 학습 조건 예측을 동일 규격 렌더 · 검출 수 277→256→218→200 (conf 0.25)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qual_zoom_rebar_295_13-24-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999" y="1286427"/>
            <a:ext cx="10326171" cy="458732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8000" y="5994400"/>
            <a:ext cx="11176000" cy="229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— rebar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밀집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영역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확대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(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원본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1500×1000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px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) ·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cutoff별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마스크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소실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양상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65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02 · 픽셀 크기별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정성 비교 ② small pipe — 얽힌 다발 내부 미검출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GT는 가닥 단위 개별 라벨 · 예측은 가장자리·분리 개체 위주 — 검출 수 277→275→220→213 (conf 0.25)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1" name="Picture 10" descr="qual_zoom_smallpipe_429_11-06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301750"/>
            <a:ext cx="10605162" cy="47112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6135" y="6013013"/>
            <a:ext cx="11176000" cy="2290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그림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— small pipe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밀집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영역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확대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cutoff별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검출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밀도</a:t>
            </a:r>
            <a:r>
              <a:rPr sz="1300" b="0" dirty="0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300" b="0" dirty="0" err="1">
                <a:solidFill>
                  <a:srgbClr val="333333"/>
                </a:solidFill>
                <a:latin typeface="Paperlogy 4 Regular"/>
                <a:ea typeface="Paperlogy 4 Regular"/>
                <a:cs typeface="Paperlogy 4 Regular"/>
              </a:rPr>
              <a:t>변화</a:t>
            </a:r>
            <a:endParaRPr sz="1300" b="0" dirty="0">
              <a:solidFill>
                <a:srgbClr val="333333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317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81000" y="165100"/>
            <a:ext cx="19050" cy="114300"/>
          </a:xfrm>
          <a:prstGeom prst="rect">
            <a:avLst/>
          </a:prstGeom>
          <a:solidFill>
            <a:srgbClr val="6FA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9700"/>
            <a:ext cx="11176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0</a:t>
            </a:r>
            <a:r>
              <a:rPr lang="en-US" altLang="ko-KR"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3</a:t>
            </a: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 · </a:t>
            </a:r>
            <a:r>
              <a:rPr sz="1200" b="0" spc="80" dirty="0" err="1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향후</a:t>
            </a:r>
            <a:r>
              <a:rPr sz="1200" b="0" spc="80" dirty="0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 </a:t>
            </a:r>
            <a:r>
              <a:rPr sz="1200" b="0" spc="80" dirty="0" err="1">
                <a:solidFill>
                  <a:srgbClr val="7A7A7A"/>
                </a:solidFill>
                <a:latin typeface="Paperlogy 4 Regular"/>
                <a:ea typeface="Paperlogy 4 Regular"/>
                <a:cs typeface="Paperlogy 4 Regular"/>
              </a:rPr>
              <a:t>계획</a:t>
            </a:r>
            <a:endParaRPr sz="1200" b="0" spc="80" dirty="0">
              <a:solidFill>
                <a:srgbClr val="7A7A7A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304800"/>
            <a:ext cx="11176000" cy="5083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향후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계획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— 3순위 </a:t>
            </a:r>
            <a:r>
              <a:rPr lang="ko-KR" altLang="en-US"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 </a:t>
            </a:r>
            <a:r>
              <a:rPr sz="3200" b="1" dirty="0">
                <a:solidFill>
                  <a:srgbClr val="1A1A1A"/>
                </a:solidFill>
                <a:latin typeface="Paperlogy 7 Bold"/>
                <a:ea typeface="Paperlogy 7 Bold"/>
                <a:cs typeface="Paperlogy 7 Bold"/>
              </a:rPr>
              <a:t>8/4, 4순위 8/21·9/4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000" y="774700"/>
            <a:ext cx="381000" cy="19050"/>
          </a:xfrm>
          <a:prstGeom prst="rect">
            <a:avLst/>
          </a:prstGeom>
          <a:solidFill>
            <a:srgbClr val="8D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52500" y="781050"/>
            <a:ext cx="107315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8000" y="863600"/>
            <a:ext cx="11176000" cy="279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90500" indent="-190500">
              <a:lnSpc>
                <a:spcPct val="120000"/>
              </a:lnSpc>
              <a:buClr>
                <a:srgbClr val="1A1A1A"/>
              </a:buClr>
              <a:buSzPct val="78000"/>
              <a:buFont typeface="Paperlogy"/>
              <a:buChar char="◆"/>
            </a:pPr>
            <a:r>
              <a:rPr sz="1700" b="0" dirty="0" err="1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선택지</a:t>
            </a:r>
            <a:r>
              <a:rPr sz="1700" b="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A/B </a:t>
            </a:r>
            <a:r>
              <a:rPr lang="ko-KR" altLang="en-US" sz="1700" dirty="0">
                <a:solidFill>
                  <a:srgbClr val="555555"/>
                </a:solidFill>
                <a:latin typeface="Paperlogy 4 Regular"/>
                <a:ea typeface="Paperlogy 4 Regular"/>
                <a:cs typeface="Paperlogy 4 Regular"/>
              </a:rPr>
              <a:t> 확정 필요 </a:t>
            </a:r>
            <a:endParaRPr sz="1700" b="0" dirty="0">
              <a:solidFill>
                <a:srgbClr val="555555"/>
              </a:solidFill>
              <a:latin typeface="Paperlogy 4 Regular"/>
              <a:ea typeface="Paperlogy 4 Regular"/>
              <a:cs typeface="Paperlogy 4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8000" y="11557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905488"/>
              </p:ext>
            </p:extLst>
          </p:nvPr>
        </p:nvGraphicFramePr>
        <p:xfrm>
          <a:off x="508000" y="1371600"/>
          <a:ext cx="11176000" cy="19787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일정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항목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400" b="1">
                          <a:solidFill>
                            <a:srgbClr val="1A1A1A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내용</a:t>
                      </a:r>
                    </a:p>
                  </a:txBody>
                  <a:tcPr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8/4 (화)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exp3 최종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성능·속도·VRAM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균형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2~3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조합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학습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8/21 (금)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exp4 중간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클래스×크기 구간 recall — 클래스별 최소 크기 지도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9/4 (금)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exp4 최종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클래스별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차등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기준표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—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최종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라벨링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기준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병행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확정성 보강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cut 24/30 px seed 3회 반복 · PQ·Count 지표 환산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1">
                          <a:solidFill>
                            <a:srgbClr val="6FA32E"/>
                          </a:solidFill>
                          <a:latin typeface="Paperlogy 6 SemiBold"/>
                          <a:ea typeface="Paperlogy 6 SemiBold"/>
                          <a:cs typeface="Paperlogy 6 SemiBold"/>
                        </a:rPr>
                        <a:t>합의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문서 확정</a:t>
                      </a: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</a:pP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Count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분모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('30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px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이상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') · 1순위 Point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가이드</a:t>
                      </a:r>
                      <a:r>
                        <a:rPr sz="1300" b="0" dirty="0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333333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수신</a:t>
                      </a:r>
                      <a:endParaRPr sz="1300" b="0" dirty="0">
                        <a:solidFill>
                          <a:srgbClr val="333333"/>
                        </a:solidFill>
                        <a:latin typeface="Paperlogy 4 Regular"/>
                        <a:ea typeface="Paperlogy 4 Regular"/>
                        <a:cs typeface="Paperlogy 4 Regular"/>
                      </a:endParaRPr>
                    </a:p>
                  </a:txBody>
                  <a:tcPr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508000" y="6337300"/>
            <a:ext cx="11176000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5" name="Picture 14" descr="BS-302 시그니처_좌우조합 A(국영문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438900"/>
            <a:ext cx="1823421" cy="3048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0000" y="6464300"/>
            <a:ext cx="533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>
                <a:solidFill>
                  <a:srgbClr val="888888"/>
                </a:solidFill>
                <a:latin typeface="Paperlogy 4 Regular"/>
                <a:ea typeface="Paperlogy 4 Regular"/>
                <a:cs typeface="Paperlogy 4 Regular"/>
              </a:rPr>
              <a:t>KIMS 재료데이터·분석연구본부 · 철스크랩 라벨링 컷오프 기준 분석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1124</Words>
  <Application>Microsoft Macintosh PowerPoint</Application>
  <PresentationFormat>와이드스크린</PresentationFormat>
  <Paragraphs>148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맑은 고딕</vt:lpstr>
      <vt:lpstr>Paperlogy</vt:lpstr>
      <vt:lpstr>Paperlogy 4 Regular</vt:lpstr>
      <vt:lpstr>Paperlogy 6 SemiBold</vt:lpstr>
      <vt:lpstr>Paperlogy 7 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성명륜(기계공학과)</cp:lastModifiedBy>
  <cp:revision>3</cp:revision>
  <dcterms:created xsi:type="dcterms:W3CDTF">2013-01-27T09:14:16Z</dcterms:created>
  <dcterms:modified xsi:type="dcterms:W3CDTF">2026-07-26T14:04:17Z</dcterms:modified>
  <cp:category/>
</cp:coreProperties>
</file>
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8000" y="698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spc="100">
                <a:solidFill>
                  <a:srgbClr val="6FA32E"/>
                </a:solidFill>
                <a:latin typeface="Paperlogy 6 SemiBold"/>
                <a:ea typeface="Paperlogy 6 SemiBold"/>
                <a:cs typeface="Paperlogy 6 SemiBold"/>
              </a:rPr>
              <a:t>REPORT · 보고자료</a:t>
            </a:r>
          </a:p>
        </p:txBody>
      </p:sp>
      <p:sp>
        <p:nvSpPr>
          <p:cNvPr id="5" name="Rectangle 4"/>
          <p:cNvSpPr/>
          <p:nvPr/>
        </p:nvSpPr>
        <p:spPr>
          <a:xfrm>
            <a:off x="508000" y="1003300"/>
            <a:ext cx="457200" cy="2540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8000" y="1219200"/>
            <a:ext cx="11176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철스크랩 Instance 최소크기</a:t>
            </a:r>
          </a:p>
          <a:p>
            <a:pPr algn="l">
              <a:lnSpc>
                <a:spcPct val="120000"/>
              </a:lnSpc>
            </a:pPr>
            <a:r>
              <a:rPr sz="40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라벨링 기준 재검증 결과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2730500"/>
            <a:ext cx="11176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25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600" b="1">
                <a:solidFill>
                  <a:srgbClr val="555555"/>
                </a:solidFill>
                <a:latin typeface="Paperlogy 6 SemiBold"/>
                <a:ea typeface="Paperlogy 6 SemiBold"/>
                <a:cs typeface="Paperlogy 6 SemiBold"/>
              </a:rPr>
              <a:t>확인요청 3건(2026-07-09) 대응 · YOLO26x-seg @1280 재학습 8회 · GT 시뮬레이션 501,377건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000" y="31496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08000" y="3327400"/>
            <a:ext cx="6540500" cy="2260600"/>
          </a:xfrm>
          <a:prstGeom prst="rect">
            <a:avLst/>
          </a:prstGeom>
          <a:solidFill>
            <a:srgbClr val="FAFB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2000" y="3556000"/>
            <a:ext cx="6032500" cy="184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수신 · ㈜아이티브에이아이 SmartX사업부</a:t>
            </a:r>
          </a:p>
          <a:p>
            <a:pPr algn="l">
              <a:lnSpc>
                <a:spcPct val="130000"/>
              </a:lnSpc>
              <a:spcBef>
                <a:spcPts val="1400"/>
              </a:spcBef>
            </a:pPr>
            <a:r>
              <a:rPr sz="15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작성 · KIMS 재료데이터·분석연구본부 이치헌</a:t>
            </a:r>
          </a:p>
          <a:p>
            <a:pPr algn="l">
              <a:lnSpc>
                <a:spcPct val="130000"/>
              </a:lnSpc>
              <a:spcBef>
                <a:spcPts val="1400"/>
              </a:spcBef>
            </a:pPr>
            <a:r>
              <a:rPr sz="15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기간 · 2026.07.14 ~ 07.20</a:t>
            </a:r>
          </a:p>
          <a:p>
            <a:pPr algn="l">
              <a:lnSpc>
                <a:spcPct val="130000"/>
              </a:lnSpc>
              <a:spcBef>
                <a:spcPts val="1400"/>
              </a:spcBef>
            </a:pPr>
            <a:r>
              <a:rPr sz="15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범위 · 2순위 재검증 + 확인요청 3건 대응 (원자료: 부록)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3500" y="3327400"/>
            <a:ext cx="4000500" cy="2260600"/>
          </a:xfrm>
          <a:prstGeom prst="rect">
            <a:avLst/>
          </a:prstGeom>
          <a:solidFill>
            <a:srgbClr val="0F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950200" y="3556000"/>
            <a:ext cx="3492500" cy="184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8DC63F"/>
                </a:solidFill>
                <a:latin typeface="Paperlogy 6 SemiBold"/>
                <a:ea typeface="Paperlogy 6 SemiBold"/>
                <a:cs typeface="Paperlogy 6 SemiBold"/>
              </a:rPr>
              <a:t>확정 제안 기준</a:t>
            </a:r>
          </a:p>
          <a:p>
            <a:pPr algn="l">
              <a:lnSpc>
                <a:spcPct val="135000"/>
              </a:lnSpc>
              <a:spcBef>
                <a:spcPts val="1600"/>
              </a:spcBef>
            </a:pPr>
            <a:r>
              <a:rPr sz="200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원본 30×30 px 미만 생략</a:t>
            </a:r>
          </a:p>
          <a:p>
            <a:pPr algn="l">
              <a:lnSpc>
                <a:spcPct val="135000"/>
              </a:lnSpc>
              <a:spcBef>
                <a:spcPts val="1600"/>
              </a:spcBef>
            </a:pPr>
            <a:r>
              <a:rPr sz="1600" b="1">
                <a:solidFill>
                  <a:srgbClr val="D9EFC5"/>
                </a:solidFill>
                <a:latin typeface="Paperlogy 6 SemiBold"/>
                <a:ea typeface="Paperlogy 6 SemiBold"/>
                <a:cs typeface="Paperlogy 6 SemiBold"/>
              </a:rPr>
              <a:t>길이 72 px 이상 선형 객체는 유지</a:t>
            </a:r>
          </a:p>
          <a:p>
            <a:pPr algn="l">
              <a:lnSpc>
                <a:spcPct val="135000"/>
              </a:lnSpc>
              <a:spcBef>
                <a:spcPts val="1600"/>
              </a:spcBef>
            </a:pPr>
            <a:r>
              <a:rPr sz="1400" b="0">
                <a:solidFill>
                  <a:srgbClr val="C9D6CF"/>
                </a:solidFill>
                <a:latin typeface="Paperlogy 4 Regular"/>
                <a:ea typeface="Paperlogy 4 Regular"/>
                <a:cs typeface="Paperlogy 4 Regular"/>
              </a:rPr>
              <a:t>무필터 대비 −1.06%p · 공수 46.5%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000" y="5892800"/>
            <a:ext cx="317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>
                <a:solidFill>
                  <a:srgbClr val="7A7A7A"/>
                </a:solidFill>
                <a:latin typeface="Paperlogy 6 SemiBold"/>
                <a:ea typeface="Paperlogy 6 SemiBold"/>
                <a:cs typeface="Paperlogy 6 SemiBold"/>
              </a:rPr>
              <a:t>2026. 07. 24</a:t>
            </a:r>
          </a:p>
        </p:txBody>
      </p:sp>
      <p:pic>
        <p:nvPicPr>
          <p:cNvPr id="14" name="Picture 13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0" y="5816600"/>
            <a:ext cx="1975373" cy="330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CONTENTS · 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재검증 보고 구성 — 가설, 실험, 결과, 결론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가설 3건(H1~H3)을 시뮬레이션·재학습·정성 비교로 검증하고 라벨링 기준을 확정하는 구성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58800" y="1638300"/>
            <a:ext cx="444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6FA32E"/>
                </a:solidFill>
                <a:latin typeface="Paperlogy 6 SemiBold"/>
                <a:ea typeface="Paperlogy 6 SemiBold"/>
                <a:cs typeface="Paperlogy 6 SemiBol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6500" y="1625600"/>
            <a:ext cx="8636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배경·가설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25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확인요청 3건(2026-07-09) 정리와 검증 가설 H1~H3 정의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41000" y="16637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8000" y="21971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58800" y="2349500"/>
            <a:ext cx="444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6FA32E"/>
                </a:solidFill>
                <a:latin typeface="Paperlogy 6 SemiBold"/>
                <a:ea typeface="Paperlogy 6 SemiBold"/>
                <a:cs typeface="Paperlogy 6 SemiBol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6500" y="2336800"/>
            <a:ext cx="8636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실험 설계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25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이전(1024 crop)·이번(1280 full-frame) 조건과 이중 평가 protocol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41000" y="23749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000" y="2908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58800" y="3060700"/>
            <a:ext cx="444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6FA32E"/>
                </a:solidFill>
                <a:latin typeface="Paperlogy 6 SemiBold"/>
                <a:ea typeface="Paperlogy 6 SemiBold"/>
                <a:cs typeface="Paperlogy 6 SemiBold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6500" y="3048000"/>
            <a:ext cx="8636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결과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25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A· GT 표현 시뮬레이션 / B· 재학습 정량 8회 / C· cutoff별 정성 비교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41000" y="30861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8000" y="36195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58800" y="3771900"/>
            <a:ext cx="444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6FA32E"/>
                </a:solidFill>
                <a:latin typeface="Paperlogy 6 SemiBold"/>
                <a:ea typeface="Paperlogy 6 SemiBold"/>
                <a:cs typeface="Paperlogy 6 SemiBold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6500" y="3759200"/>
            <a:ext cx="8636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결론·향후 계획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25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확정 라벨링 기준, 제한사항, 3·4순위 일정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41000" y="37973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17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8000" y="4330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08000" y="4610100"/>
            <a:ext cx="11176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부록 · References — 원자료 경로, 코드 근거, 외부 데이터셋 관행  ……  20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9" name="Picture 28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02 / 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분류 SW 라벨링 기준 연구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SUMMARY · 핵심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cutoff 30 px 확정, 세장형 예외 유지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재학습 8회 검증 — 확인요청 3건의 답과 평가 라벨 구성별 상반 결과의 실측 근거 요약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08000" y="1371600"/>
            <a:ext cx="111760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90500" indent="-190500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①"/>
            </a:pPr>
            <a:r>
              <a:rPr sz="15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확인요청 3건의 답 — ① 1878 px = 이전 실험 crop 이미지의 평균 긴 변(실측 1881.5 px) ② 컷 기준은 bbox가 아니라 polygon 면적(√area@1280) ③ stride 4 표현 기준 채택·검증 완료</a:t>
            </a:r>
          </a:p>
          <a:p>
            <a:pPr marL="190500" indent="0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상세는 §1 — 1878은 신규 기준에서 미사용, 세장형 우려는 시뮬레이션·재학습 양쪽으로 검증</a:t>
            </a:r>
          </a:p>
          <a:p>
            <a:pPr marL="190500" indent="-190500">
              <a:lnSpc>
                <a:spcPct val="140000"/>
              </a:lnSpc>
              <a:spcBef>
                <a:spcPts val="15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②"/>
            </a:pPr>
            <a:r>
              <a:rPr sz="15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평가 protocol에 따라 결론이 상반 — 자기 val(필터 적용 라벨) 기준 cutoff↑ = mAP↑(0.645→0.744), 공통 val(무필터 라벨) 기준 cutoff↑ = mAP↓(0.486→0.430)</a:t>
            </a:r>
          </a:p>
          <a:p>
            <a:pPr marL="190500" indent="0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이전(1024) 관찰 '필터 상향 = 성능 개선'은 자기 val 축에서 이번에도 재현 — 공통 val 축을 추가해 두 축을 분리 보고</a:t>
            </a:r>
          </a:p>
          <a:p>
            <a:pPr marL="190500" indent="-190500">
              <a:lnSpc>
                <a:spcPct val="140000"/>
              </a:lnSpc>
              <a:spcBef>
                <a:spcPts val="15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③"/>
            </a:pPr>
            <a:r>
              <a:rPr sz="15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확정 기준 — 원본 30×30 px(면적 900 px²) 미만 생략 + 길이 72 px 이상 선형 객체 유지, 36 px 이상 cutoff는 기각(−3.6%p~), mask_ratio 변경은 채택 안 함</a:t>
            </a:r>
          </a:p>
          <a:p>
            <a:pPr marL="190500" indent="0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무필터 대비 −1.06%p에 라벨 공수 46.5% — 세장형 예외 제거 시 rebar AP 40% 하락(0.106→0.063)으로 예외 유지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8000" y="3441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8000" y="3594100"/>
          <a:ext cx="10858500" cy="132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/>
                <a:gridCol w="1587500"/>
                <a:gridCol w="1587500"/>
                <a:gridCol w="1841500"/>
                <a:gridCol w="1587500"/>
                <a:gridCol w="1587500"/>
              </a:tblGrid>
              <a:tr h="3302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학습 데이터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무필터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cut 24px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cut 30px (확정)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cut 36px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cut 48px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302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공통 val mask mAP50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0.4872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0.4857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0.4766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0.4510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0.4301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무필터 대비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—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−0.15%p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−1.06%p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−3.62%p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−5.71%p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302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라벨 공수(instance 비율)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08000" y="5003800"/>
            <a:ext cx="11176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표 — cutoff 수준별 공통 val 성능과 라벨 공수 · 출처: exp2_results.csv (YOLO26x-seg @1280, 100 ep)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03 / 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분류 SW 라벨링 기준 연구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8000" y="1905000"/>
            <a:ext cx="2540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>
                <a:solidFill>
                  <a:srgbClr val="E8F4D6"/>
                </a:solidFill>
                <a:latin typeface="Paperlogy 8 ExtraBold"/>
                <a:ea typeface="Paperlogy 8 ExtraBold"/>
                <a:cs typeface="Paperlogy 8 ExtraBold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2730500"/>
            <a:ext cx="8890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배경·가설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3020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4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1">
                <a:solidFill>
                  <a:srgbClr val="555555"/>
                </a:solidFill>
                <a:latin typeface="Paperlogy 6 SemiBold"/>
                <a:ea typeface="Paperlogy 6 SemiBold"/>
                <a:cs typeface="Paperlogy 6 SemiBold"/>
              </a:rPr>
              <a:t>확인요청 3건(2026-07-09) 정리와 검증 가설 H1~H3 정의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39370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8800" y="40640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6FA32E"/>
                </a:solidFill>
                <a:latin typeface="Paperlogy 6 SemiBold"/>
                <a:ea typeface="Paperlogy 6 SemiBold"/>
                <a:cs typeface="Paperlogy 6 SemiBo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4064000"/>
            <a:ext cx="508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배경·가설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0" y="40640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FA32E"/>
                </a:solidFill>
                <a:latin typeface="Paperlogy 4 Regular"/>
                <a:ea typeface="Paperlogy 4 Regular"/>
                <a:cs typeface="Paperlogy 4 Regular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800" y="43561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CA3AF"/>
                </a:solidFill>
                <a:latin typeface="Paperlogy 6 SemiBold"/>
                <a:ea typeface="Paperlogy 6 SemiBold"/>
                <a:cs typeface="Paperlogy 6 SemiBol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4356100"/>
            <a:ext cx="508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실험 설계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0" y="43561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8800" y="46482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CA3AF"/>
                </a:solidFill>
                <a:latin typeface="Paperlogy 6 SemiBold"/>
                <a:ea typeface="Paperlogy 6 SemiBold"/>
                <a:cs typeface="Paperlogy 6 SemiBol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6000" y="4648200"/>
            <a:ext cx="508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결과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0" y="46482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8800" y="49403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CA3AF"/>
                </a:solidFill>
                <a:latin typeface="Paperlogy 6 SemiBold"/>
                <a:ea typeface="Paperlogy 6 SemiBold"/>
                <a:cs typeface="Paperlogy 6 SemiBold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6000" y="4940300"/>
            <a:ext cx="508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결론·향후 계획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0" y="49403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17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04 / 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분류 SW 라벨링 기준 연구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01 · 배경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확인요청 3건(2026-07-09)과 답 — 2건 즉답, 1건 실험 검증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요청 ①②는 자료 확인으로 즉답, 요청 ③(stride 4 학습 가능성)은 시뮬레이션+재학습으로 검증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08000" y="1371600"/>
            <a:ext cx="111760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90500" indent="-190500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①"/>
            </a:pPr>
            <a:r>
              <a:rPr sz="15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“1878 픽셀 이미지” = 별도 생성 이미지가 아니라 이전 실험(1024) crop 이미지들의 평균 긴 변</a:t>
            </a:r>
          </a:p>
          <a:p>
            <a:pPr marL="190500" indent="0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원본 4K에서 Cargo Area polygon 기준 crop한 이미지 크기의 평균 — 전달 자료 실측 1881.5 px(표본 400장), 문서값 1877.86 px. 신규 1280 full-frame 기준에서는 미사용(환산 1/3 고정)</a:t>
            </a:r>
          </a:p>
          <a:p>
            <a:pPr marL="190500" indent="-190500">
              <a:lnSpc>
                <a:spcPct val="140000"/>
              </a:lnSpc>
              <a:spcBef>
                <a:spcPts val="15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②"/>
            </a:pPr>
            <a:r>
              <a:rPr sz="15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“1280 기준 8 px / 원본 24 px” = bbox 한 변이 아니라 Instance Polygon 면적 기준</a:t>
            </a:r>
          </a:p>
          <a:p>
            <a:pPr marL="190500" indent="0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√(polygon 면적)@1280 — 8 px는 면적 64 px²@1280(원본 576 px², 이미지 면적의 0.007%). 요청 주신 면적 기준과 이미 동일</a:t>
            </a:r>
          </a:p>
          <a:p>
            <a:pPr marL="190500" indent="-190500">
              <a:lnSpc>
                <a:spcPct val="140000"/>
              </a:lnSpc>
              <a:spcBef>
                <a:spcPts val="15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③"/>
            </a:pPr>
            <a:r>
              <a:rPr sz="15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검토 기준으로 “stride 4 feature map 표현 가능성” 채택</a:t>
            </a:r>
          </a:p>
          <a:p>
            <a:pPr marL="190500" indent="0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YOLO26x-seg는 mask prototype과 seg loss가 모두 입력 1/4(stride 4) 해상도 — 학습 GT도 같은 해상도로 downsample(mask_ratio=4). §3에서 전수 시뮬레이션, §4·§5에서 재학습으로 검증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8000" y="3543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8000" y="3683000"/>
          <a:ext cx="11176000" cy="134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0500"/>
                <a:gridCol w="3048000"/>
                <a:gridCol w="5397500"/>
              </a:tblGrid>
              <a:tr h="3175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확인요청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답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근거·상세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429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① 1878 px 이미지의 정체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crop 이미지 평균 긴 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training_method_ver3.md · 실측 재검증(§2)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② 8 px 기준이 bbox인지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polygon 면적 기준(√area)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prepare_yolo_dataset.py 필터 로직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429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③ stride 4 학습 가능성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시뮬레이션+재학습 검증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§3 exp5 · §4 exp2/6/7 · §5 정성 비교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08000" y="5118100"/>
            <a:ext cx="1117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표 — 확인요청별 답 요약 · 출처: 2026-07-09 수신 메일, 본 보고서 각 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05 / 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분류 SW 라벨링 기준 연구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01 · 가설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검증 가설 3건 — GT 표현, cutoff 효과, 세장형 예외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각 가설에 독립 검증 수단을 배정 — 시뮬레이션(비용 0)과 재학습(8회)을 분리 설계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08000" y="1371600"/>
            <a:ext cx="11176000" cy="158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90500" indent="-190500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①"/>
            </a:pPr>
            <a:r>
              <a:rPr sz="15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H1 · stride 4 grid에서 GT 형상이 유지되는 instance만 mask 학습에 기여</a:t>
            </a:r>
          </a:p>
          <a:p>
            <a:pPr marL="190500" indent="0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seg loss가 GT를 320×320(1280 입력 기준)으로 downsample해 계산되므로, 이 해상도에서 소실·분절되는 instance는 형상 학습 신호가 제한된다는 가설</a:t>
            </a:r>
          </a:p>
          <a:p>
            <a:pPr marL="190500" indent="-190500">
              <a:lnSpc>
                <a:spcPct val="140000"/>
              </a:lnSpc>
              <a:spcBef>
                <a:spcPts val="15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②"/>
            </a:pPr>
            <a:r>
              <a:rPr sz="15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H2 · 소형 instance cutoff 상향은 성능을 개선 (이전 1024 실험의 관찰)</a:t>
            </a:r>
          </a:p>
          <a:p>
            <a:pPr marL="190500" indent="0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이전 실험에서 필터 10→16 px@1024에 따라 mAP 0.787→0.901 단조 상승 — 평가 라벨 구성의 영향을 분리해 재검증</a:t>
            </a:r>
          </a:p>
          <a:p>
            <a:pPr marL="190500" indent="-190500">
              <a:lnSpc>
                <a:spcPct val="140000"/>
              </a:lnSpc>
              <a:spcBef>
                <a:spcPts val="15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③"/>
            </a:pPr>
            <a:r>
              <a:rPr sz="15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H3 · 세장형(길이 72 px↑) 예외 라벨은 rebar류 성능에 기여</a:t>
            </a:r>
          </a:p>
          <a:p>
            <a:pPr marL="190500" indent="0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면적 미달이어도 길이가 긴 객체를 유지하는 현행 예외 규칙의 실효를, 예외 제거·두께 조건 추가 2개 대안과 비교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8000" y="34671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8000" y="3606800"/>
          <a:ext cx="11176000" cy="134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9000"/>
                <a:gridCol w="3302000"/>
                <a:gridCol w="3048000"/>
                <a:gridCol w="2667000"/>
              </a:tblGrid>
              <a:tr h="3175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가설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검증 수단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판정 데이터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결과(§)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429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H1 GT 표현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exp5 전수 시뮬레이션 501,377건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생존율·복원 IoU·분절률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§3 — 조건부 지지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H2 cutoff 효과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exp2 재학습 5수준 + 이중 val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자기/공통 mask mAP50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§4 — 평가축 의존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429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H3 세장형 예외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exp6 재학습 3정책 + exp7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공통 val 전체·rebar AP50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§4 — 지지(예외 유지)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08000" y="5041900"/>
            <a:ext cx="1117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표 — 가설-검증 배정표 · 출처: 본 보고서 실험 설계(§2)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06 / 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분류 SW 라벨링 기준 연구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8000" y="1905000"/>
            <a:ext cx="2540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>
                <a:solidFill>
                  <a:srgbClr val="E8F4D6"/>
                </a:solidFill>
                <a:latin typeface="Paperlogy 8 ExtraBold"/>
                <a:ea typeface="Paperlogy 8 ExtraBold"/>
                <a:cs typeface="Paperlogy 8 ExtraBold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2730500"/>
            <a:ext cx="8890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실험 설계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3020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4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1">
                <a:solidFill>
                  <a:srgbClr val="555555"/>
                </a:solidFill>
                <a:latin typeface="Paperlogy 6 SemiBold"/>
                <a:ea typeface="Paperlogy 6 SemiBold"/>
                <a:cs typeface="Paperlogy 6 SemiBold"/>
              </a:rPr>
              <a:t>이전(1024 crop)·이번(1280 full-frame) 조건과 이중 평가 protocol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39370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8800" y="40640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CA3AF"/>
                </a:solidFill>
                <a:latin typeface="Paperlogy 6 SemiBold"/>
                <a:ea typeface="Paperlogy 6 SemiBold"/>
                <a:cs typeface="Paperlogy 6 SemiBo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4064000"/>
            <a:ext cx="508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배경·가설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0" y="40640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800" y="43561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6FA32E"/>
                </a:solidFill>
                <a:latin typeface="Paperlogy 6 SemiBold"/>
                <a:ea typeface="Paperlogy 6 SemiBold"/>
                <a:cs typeface="Paperlogy 6 SemiBol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4356100"/>
            <a:ext cx="508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실험 설계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0" y="43561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FA32E"/>
                </a:solidFill>
                <a:latin typeface="Paperlogy 4 Regular"/>
                <a:ea typeface="Paperlogy 4 Regular"/>
                <a:cs typeface="Paperlogy 4 Regular"/>
              </a:rPr>
              <a:t>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8800" y="46482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CA3AF"/>
                </a:solidFill>
                <a:latin typeface="Paperlogy 6 SemiBold"/>
                <a:ea typeface="Paperlogy 6 SemiBold"/>
                <a:cs typeface="Paperlogy 6 SemiBol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6000" y="4648200"/>
            <a:ext cx="508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결과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0" y="46482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8800" y="49403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CA3AF"/>
                </a:solidFill>
                <a:latin typeface="Paperlogy 6 SemiBold"/>
                <a:ea typeface="Paperlogy 6 SemiBold"/>
                <a:cs typeface="Paperlogy 6 SemiBold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6000" y="4940300"/>
            <a:ext cx="508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결론·향후 계획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0" y="49403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17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07 / 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분류 SW 라벨링 기준 연구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02 · 실험 설계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이전(1024 crop)·이번(1280 full-frame) 실험 조건 비교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두 실험은 입력 스케일·데이터 구성·평가 라벨이 달라 절대값 직접 비교가 성립하지 않음 — 축별 분리 보고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8000" y="1384300"/>
          <a:ext cx="1117600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000"/>
                <a:gridCol w="4699000"/>
                <a:gridCol w="4699000"/>
              </a:tblGrid>
              <a:tr h="3302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항목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이전 실험 (2026.06, 최소 픽셀 연구)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이번 재검증 (2026.07)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302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모델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yolo11s-seg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yolo26x-seg (요청 모델)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입력 해상도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1024 (Cargo crop, 평균 긴 변 1878 px)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1280 (원본 4K full-frame)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302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유효 축소비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약 0.545 (crop → 1024)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0.333 (4K → 1280)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학습 데이터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crop 1,676장 (문서 기재 2,096장과 상이)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full-frame 2,096장 + val 419장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302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epoch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100 (수렴 확인: 마지막 10 ep +0.8%p 이내)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필터 기준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bbox 짧은 변 + 면적 병용 @1024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√(polygon 면적) @1280 + 세장형 예외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302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평가 라벨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자기 val (각 조건의 필터 적용)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자기 val + 공통 val(무필터) 이중 평가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mAP 종류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문서 미기재 (box/mask 확인 중)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box·mask 분리 기록 (본 보고서는 mask)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8000" y="4445000"/>
            <a:ext cx="11176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표 — 실험 조건 대조 · 출처: training_method_ver3.md(이전) · exp2 학습 로그/args.yaml(이번) · 전달 데이터 실측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08 / 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분류 SW 라벨링 기준 연구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02 · 실험 설계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이중 평가 protocol과 재학습 8회 조건 구성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동일 가중치를 두 val 라벨로 각각 평가 — 필터가 평가셋에 미치는 영향을 분리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08000" y="1371600"/>
            <a:ext cx="11176000" cy="1206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90500" indent="-190500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①"/>
            </a:pPr>
            <a:r>
              <a:rPr sz="15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자기 val — 각 조건의 필터가 적용된 val 라벨로 평가</a:t>
            </a:r>
          </a:p>
          <a:p>
            <a:pPr marL="190500" indent="0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라벨링 기준을 적용했을 때 그 기준 안에서의 성능 — 이전 실험과 동일한 축</a:t>
            </a:r>
          </a:p>
          <a:p>
            <a:pPr marL="190500" indent="-190500">
              <a:lnSpc>
                <a:spcPct val="140000"/>
              </a:lnSpc>
              <a:spcBef>
                <a:spcPts val="14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②"/>
            </a:pPr>
            <a:r>
              <a:rPr sz="15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공통 val — 모든 조건을 무필터 val 라벨 하나로 통일 평가</a:t>
            </a:r>
          </a:p>
          <a:p>
            <a:pPr marL="190500" indent="0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조건 간 공정 비교 축 — 필터로 평가 대상이 함께 줄어드는 효과를 제거, 본 보고서의 판정 기준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8000" y="2806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8000" y="2946400"/>
          <a:ext cx="11176000" cy="134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/>
                <a:gridCol w="4445000"/>
                <a:gridCol w="2667000"/>
                <a:gridCol w="2413000"/>
              </a:tblGrid>
              <a:tr h="3175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런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학습 데이터 (원본 4K 환산)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장비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목적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429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exp2 ×5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무필터 / cut 24 / 30 / 36 / 48 px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node002 A6000 ×5 병렬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H2 — cutoff 수준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exp6 ×2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cut 30 px + 예외 없음 / 두께 6 px 조건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node002 A6000 ×2 병렬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H3 — 세장형 예외 정책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429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exp7 ×1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cut 30 px + mask_ratio 2 (GT 해상도 2배)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node005 A100 80GB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H1 파생 — 학습 설정 대안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08000" y="4368800"/>
            <a:ext cx="1117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표 — 재학습 8회 구성 · 공통: YOLO26x-seg, imgsz 1280, 100 ep, batch 4, AdamW lr0 0.001 · mask_ratio=1은 메모리 초과로 실행 불가(§4)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09 / 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분류 SW 라벨링 기준 연구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8000" y="1905000"/>
            <a:ext cx="2540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>
                <a:solidFill>
                  <a:srgbClr val="E8F4D6"/>
                </a:solidFill>
                <a:latin typeface="Paperlogy 8 ExtraBold"/>
                <a:ea typeface="Paperlogy 8 ExtraBold"/>
                <a:cs typeface="Paperlogy 8 ExtraBold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2730500"/>
            <a:ext cx="8890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3020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4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1">
                <a:solidFill>
                  <a:srgbClr val="555555"/>
                </a:solidFill>
                <a:latin typeface="Paperlogy 6 SemiBold"/>
                <a:ea typeface="Paperlogy 6 SemiBold"/>
                <a:cs typeface="Paperlogy 6 SemiBold"/>
              </a:rPr>
              <a:t>A· GT 표현 시뮬레이션 / B· 재학습 정량 8회 / C· cutoff별 정성 비교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39370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8800" y="40640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CA3AF"/>
                </a:solidFill>
                <a:latin typeface="Paperlogy 6 SemiBold"/>
                <a:ea typeface="Paperlogy 6 SemiBold"/>
                <a:cs typeface="Paperlogy 6 SemiBo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4064000"/>
            <a:ext cx="508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배경·가설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0" y="40640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800" y="43561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CA3AF"/>
                </a:solidFill>
                <a:latin typeface="Paperlogy 6 SemiBold"/>
                <a:ea typeface="Paperlogy 6 SemiBold"/>
                <a:cs typeface="Paperlogy 6 SemiBol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4356100"/>
            <a:ext cx="508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실험 설계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0" y="43561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8800" y="46482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6FA32E"/>
                </a:solidFill>
                <a:latin typeface="Paperlogy 6 SemiBold"/>
                <a:ea typeface="Paperlogy 6 SemiBold"/>
                <a:cs typeface="Paperlogy 6 SemiBol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6000" y="4648200"/>
            <a:ext cx="508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결과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0" y="46482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FA32E"/>
                </a:solidFill>
                <a:latin typeface="Paperlogy 4 Regular"/>
                <a:ea typeface="Paperlogy 4 Regular"/>
                <a:cs typeface="Paperlogy 4 Regular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8800" y="49403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CA3AF"/>
                </a:solidFill>
                <a:latin typeface="Paperlogy 6 SemiBold"/>
                <a:ea typeface="Paperlogy 6 SemiBold"/>
                <a:cs typeface="Paperlogy 6 SemiBold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6000" y="4940300"/>
            <a:ext cx="508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결론·향후 계획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0" y="49403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17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10 / 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분류 SW 라벨링 기준 연구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03 · 결과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GT 표현 시뮬레이션 — 소실은 드물고, 형상 열화가 지배적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전체 라벨 501,377 instance를 학습 GT 생성 경로(fillPoly→1/4 downsample) 그대로 통과시켜 전수 측정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08000" y="1371600"/>
            <a:ext cx="63500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90500" indent="-190500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①"/>
            </a:pPr>
            <a:r>
              <a:rPr sz="145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완전 소실은 √면적 원본 12 px 미만에서만 발생 — 그 이상 생존율 약 100%</a:t>
            </a:r>
          </a:p>
          <a:p>
            <a:pPr marL="190500" indent="0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“존재 자체가 사라지는” 경우는 드묾 — 문제는 형상</a:t>
            </a:r>
          </a:p>
          <a:p>
            <a:pPr marL="190500" indent="-190500">
              <a:lnSpc>
                <a:spcPct val="135000"/>
              </a:lnSpc>
              <a:spcBef>
                <a:spcPts val="13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②"/>
            </a:pPr>
            <a:r>
              <a:rPr sz="145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원본 18 px 미만은 과반이 복원 IoU 0.5 미만 — 24~30 px 92.7%, 30 px 이상 97% 이상</a:t>
            </a:r>
          </a:p>
          <a:p>
            <a:pPr marL="190500" indent="0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30 px 경계에서 GT 형상 보존이 안정화 — cutoff 후보의 물리 근거</a:t>
            </a:r>
          </a:p>
          <a:p>
            <a:pPr marL="190500" indent="-190500">
              <a:lnSpc>
                <a:spcPct val="135000"/>
              </a:lnSpc>
              <a:spcBef>
                <a:spcPts val="13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③"/>
            </a:pPr>
            <a:r>
              <a:rPr sz="145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두께 원본 6 px 미만 세장형은 GT가 52~74% 분절</a:t>
            </a:r>
          </a:p>
          <a:p>
            <a:pPr marL="190500" indent="0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요청 주신 “얇은 철근 소실” 관찰의 정량 재현 — 학습 기여 여부는 §4에서 재학습으로 판정</a:t>
            </a:r>
          </a:p>
        </p:txBody>
      </p:sp>
      <p:pic>
        <p:nvPicPr>
          <p:cNvPr id="12" name="Picture 11" descr="exp5_rebar_vani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7827" y="1371600"/>
            <a:ext cx="2792345" cy="19050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747827" y="1371600"/>
            <a:ext cx="2792345" cy="1905000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112000" y="3327400"/>
            <a:ext cx="4064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그림 — 가는 rebar GT의 stride 4 분절 (상: 입력 GT, 하: 복원)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출처: exp5 시뮬레이션 · val 1753256830 rebar (복원 IoU 0.29)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000" y="41529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8000" y="4279900"/>
          <a:ext cx="11176000" cy="952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/>
                <a:gridCol w="1397000"/>
                <a:gridCol w="1397000"/>
                <a:gridCol w="1397000"/>
                <a:gridCol w="1460500"/>
                <a:gridCol w="1460500"/>
                <a:gridCol w="1524000"/>
              </a:tblGrid>
              <a:tr h="3175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√면적 (원본 환산)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0~12 px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12~18 px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18~24 px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24~30 px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30~36 px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36 px~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175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stride 4 생존율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55~92%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99.8%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복원 IoU ≥ 0.5 비율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6~21%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47.6%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79.1%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92.7%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96.9%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99.2%~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08000" y="5308600"/>
            <a:ext cx="1117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표 — 크기 구간별 GT 생존·형상 보존 · 출처: exp5_survival_summary.md (N=501,377)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BS-302 시그니처_좌우조합 A(국영문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11 / 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분류 SW 라벨링 기준 연구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03 · 결과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평가 라벨 구성에 따라 cutoff 효과의 부호가 반전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자기 val 축에서는 이전(1024) 관찰이 재현 — 공통 val 축을 추가하면 순위가 역전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chart_di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546" y="1371600"/>
            <a:ext cx="6742906" cy="3810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65546" y="1371600"/>
            <a:ext cx="6742906" cy="3810000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08000" y="5232400"/>
            <a:ext cx="6858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그림 — cutoff 5수준의 자기 val(청) vs 공통 val(녹) mask mAP50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출처: exp2_results.csv (YOLO26x-seg @1280, 100 ep, batch 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3500" y="1371600"/>
            <a:ext cx="3492500" cy="393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90500" indent="-190500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①"/>
            </a:pPr>
            <a:r>
              <a:rPr sz="145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자기 val: cutoff↑에 따라 0.645→0.744 단조 상승</a:t>
            </a:r>
          </a:p>
          <a:p>
            <a:pPr marL="190500" indent="0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이전 1024 실험의 관찰(0.787→0.901)과 같은 방향 — H2가 이 축에서는 재현</a:t>
            </a:r>
          </a:p>
          <a:p>
            <a:pPr marL="190500" indent="-190500">
              <a:lnSpc>
                <a:spcPct val="140000"/>
              </a:lnSpc>
              <a:spcBef>
                <a:spcPts val="16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②"/>
            </a:pPr>
            <a:r>
              <a:rPr sz="145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공통 val: 같은 가중치가 0.486→0.430 단조 하락</a:t>
            </a:r>
          </a:p>
          <a:p>
            <a:pPr marL="190500" indent="0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평가 라벨에서 소형 instance가 함께 제거된 효과를 분리하면 부호가 반전</a:t>
            </a:r>
          </a:p>
          <a:p>
            <a:pPr marL="190500" indent="-190500">
              <a:lnSpc>
                <a:spcPct val="140000"/>
              </a:lnSpc>
              <a:spcBef>
                <a:spcPts val="16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③"/>
            </a:pPr>
            <a:r>
              <a:rPr sz="145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본 보고서 판정 축 = 공통 val</a:t>
            </a:r>
          </a:p>
          <a:p>
            <a:pPr marL="190500" indent="0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“기준 적용 후에도 전체 장면 기준 성능이 유지되는가”가 라벨링 기준의 목적함수이기 때문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BS-302 시그니처_좌우조합 A(국영문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12 / 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분류 SW 라벨링 기준 연구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03 · 결과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최적 구간 24~30 px — 36 px부터 손실 가속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무필터 학습조차 cut 24 px 대비 +0.15%p — 30 px 미만 소형 라벨의 학습 기여는 제한적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8000" y="1384300"/>
          <a:ext cx="1117600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/>
                <a:gridCol w="1778000"/>
                <a:gridCol w="1778000"/>
                <a:gridCol w="1587500"/>
                <a:gridCol w="1460500"/>
                <a:gridCol w="2032000"/>
              </a:tblGrid>
              <a:tr h="3302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학습 데이터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자기 val mAP50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공통 val mAP50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무필터 대비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라벨 공수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판정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302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무필터 (전체 라벨)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0.4872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0.4872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대조군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cut 24 px (이론 하한)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0.6454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0.4857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−0.15%p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52%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성능 상한 대안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302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cut 30 px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0.7043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0.4766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−1.06%p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확정 제안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cut 36 px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0.7259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0.4510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−3.62%p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42%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기각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302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cut 48 px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0.7440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0.4301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−5.71%p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기각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8000" y="3441700"/>
            <a:ext cx="1117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표 — cutoff 수준별 정량 결과 · 출처: exp2_results.csv · 공수 = 유지 instance 비율(전체 501,377 기준)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8000" y="37338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08000" y="3860800"/>
            <a:ext cx="11176000" cy="1206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90500" indent="-190500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①"/>
            </a:pPr>
            <a:r>
              <a:rPr sz="145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cut 30 px 확정 제안 — 공수 46.5%에 성능 −1.06%p, 소형 검출 우선 시 24 px(−0.15%p·52%)이 상한 대안</a:t>
            </a:r>
          </a:p>
          <a:p>
            <a:pPr marL="190500" indent="0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24 vs 30의 0.9%p 차이는 단일 학습 기준 — 반복(seed) 검증 전 통계 확정은 유보(§6 제한사항)</a:t>
            </a:r>
          </a:p>
          <a:p>
            <a:pPr marL="190500" indent="-190500">
              <a:lnSpc>
                <a:spcPct val="135000"/>
              </a:lnSpc>
              <a:spcBef>
                <a:spcPts val="13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②"/>
            </a:pPr>
            <a:r>
              <a:rPr sz="145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36 px 이상은 −3.6%p부터 손실 가속 — cutoff 상향 여지의 상한이 실측으로 확정</a:t>
            </a:r>
          </a:p>
          <a:p>
            <a:pPr marL="190500" indent="0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이전 실험에서 미확인이던 “어디까지 올릴 수 있는가”에 대한 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13 / 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분류 SW 라벨링 기준 연구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03 · 결과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세장형 예외 제거 시 rebar AP 40% 하락 — 예외 유지 판정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분절된 GT도 위치 신호로 기여(H1의 조건부 수정) · mask_ratio 변경은 개선 없음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8000" y="1384300"/>
          <a:ext cx="10414000" cy="132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/>
                <a:gridCol w="1778000"/>
                <a:gridCol w="1651000"/>
                <a:gridCol w="1905000"/>
                <a:gridCol w="1524000"/>
              </a:tblGrid>
              <a:tr h="3302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세장형 예외 정책 (cut 30 px 고정)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공통 val mAP50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rebar AP50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small pipe AP50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라벨 수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302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길이 72 px 이상 유지 (현행·확정)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0.4766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0.1055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0.0846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232,978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+ 두께 6 px 이상 조건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0.4777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0.0815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0.0812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222,029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302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예외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0.4801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0.0634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0.0623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204,135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8000" y="2819400"/>
          <a:ext cx="10414000" cy="12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/>
                <a:gridCol w="1778000"/>
                <a:gridCol w="1651000"/>
                <a:gridCol w="3429000"/>
              </a:tblGrid>
              <a:tr h="3175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학습 설정 (cut 30 px 고정)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공통 val mAP50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rebar AP50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비고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175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mask_ratio 4 (기본)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0.4766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0.1055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채택 유지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mask_ratio 2 (GT 해상도 2배)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0.4644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0.0866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개선 없음 — 기각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175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mask_ratio 1 (downsample 없음)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실행 불가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instance 수 비례 메모리로 A100 80GB 초과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08000" y="4165600"/>
            <a:ext cx="1117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표 — 예외 정책(상)·학습 설정(하) 비교 · 출처: exp6/exp7_results.csv · 정책 간 전체 mAP 차 0.35%p는 단일 학습 분산 범위 가능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000" y="4457700"/>
            <a:ext cx="11176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90500" indent="-190500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①"/>
            </a:pPr>
            <a:r>
              <a:rPr sz="145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H3 지지 — 예외 제거의 전체 +0.35%p는 rebar −40%(0.106→0.063)를 상쇄하지 못함</a:t>
            </a:r>
          </a:p>
          <a:p>
            <a:pPr marL="190500" indent="0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H1은 조건부 수정: stride 4에서 분절된 GT도 “해당 위치에 rebar 존재” 신호로 학습에 기여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14 / 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분류 SW 라벨링 기준 연구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03 · 결과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동일 val 장면 — cutoff↑에 따라 검출 277→200개로 감소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rebar 최다 val 장면(GT 350개)에 5개 조건 예측을 동일 렌더 규격(polygon alpha-fill)으로 비교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qual_full_rebar_295_13-24-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757" y="1371600"/>
            <a:ext cx="10850485" cy="4064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70757" y="1371600"/>
            <a:ext cx="10850485" cy="4064000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08000" y="5486400"/>
            <a:ext cx="11176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그림 — GT(전체 라벨)와 4개 학습 조건의 예측 · 배지 = 이미지 전체 검출 수 (conf 0.25 동일)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출처: val 295_13-24-56 · 각 조건 best.pt 추론 (imgsz 1280)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BS-302 시그니처_좌우조합 A(국영문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15 / 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분류 SW 라벨링 기준 연구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03 · 결과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rebar 밀집 영역 확대 — 가는 선형부터 순차 미검출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동일 1500×1000 px 영역 — cut 상향에 따라 두께가 얇은 rebar의 마스크가 먼저 사라짐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qual_zoom_rebar_295_13-24-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920" y="1371600"/>
            <a:ext cx="9148158" cy="4064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521920" y="1371600"/>
            <a:ext cx="9148158" cy="4064000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08000" y="5486400"/>
            <a:ext cx="11176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그림 — rebar 밀집 영역(원본 1500×1000 px) 확대 비교 · GT 대비 조건별 마스크 소실 양상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출처: val 295_13-24-56 (1106, 673) 창 · 배지 검출 수는 이미지 전체 기준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BS-302 시그니처_좌우조합 A(국영문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16 / 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분류 SW 라벨링 기준 연구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8000" y="1905000"/>
            <a:ext cx="2540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>
                <a:solidFill>
                  <a:srgbClr val="E8F4D6"/>
                </a:solidFill>
                <a:latin typeface="Paperlogy 8 ExtraBold"/>
                <a:ea typeface="Paperlogy 8 ExtraBold"/>
                <a:cs typeface="Paperlogy 8 ExtraBold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2730500"/>
            <a:ext cx="8890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결론·향후 계획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3020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4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1">
                <a:solidFill>
                  <a:srgbClr val="555555"/>
                </a:solidFill>
                <a:latin typeface="Paperlogy 6 SemiBold"/>
                <a:ea typeface="Paperlogy 6 SemiBold"/>
                <a:cs typeface="Paperlogy 6 SemiBold"/>
              </a:rPr>
              <a:t>확정 라벨링 기준, 제한사항, 3·4순위 일정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39370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8800" y="40640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CA3AF"/>
                </a:solidFill>
                <a:latin typeface="Paperlogy 6 SemiBold"/>
                <a:ea typeface="Paperlogy 6 SemiBold"/>
                <a:cs typeface="Paperlogy 6 SemiBo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4064000"/>
            <a:ext cx="508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배경·가설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0" y="40640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800" y="43561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CA3AF"/>
                </a:solidFill>
                <a:latin typeface="Paperlogy 6 SemiBold"/>
                <a:ea typeface="Paperlogy 6 SemiBold"/>
                <a:cs typeface="Paperlogy 6 SemiBol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4356100"/>
            <a:ext cx="508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실험 설계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0" y="43561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8800" y="46482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CA3AF"/>
                </a:solidFill>
                <a:latin typeface="Paperlogy 6 SemiBold"/>
                <a:ea typeface="Paperlogy 6 SemiBold"/>
                <a:cs typeface="Paperlogy 6 SemiBol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6000" y="4648200"/>
            <a:ext cx="508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결과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0" y="46482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8800" y="49403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6FA32E"/>
                </a:solidFill>
                <a:latin typeface="Paperlogy 6 SemiBold"/>
                <a:ea typeface="Paperlogy 6 SemiBold"/>
                <a:cs typeface="Paperlogy 6 SemiBold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6000" y="4940300"/>
            <a:ext cx="508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결론·향후 계획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0" y="49403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FA32E"/>
                </a:solidFill>
                <a:latin typeface="Paperlogy 4 Regular"/>
                <a:ea typeface="Paperlogy 4 Regular"/>
                <a:cs typeface="Paperlogy 4 Regular"/>
              </a:rPr>
              <a:t>17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17 / 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분류 SW 라벨링 기준 연구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04 · 결론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확정 라벨링 기준과 명시적 제한사항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기준 3항 확정 — 반복 검증 전 단정을 피해야 하는 항목을 제한사항으로 분리 기재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8000" y="1384300"/>
          <a:ext cx="11176000" cy="1739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000"/>
                <a:gridCol w="4953000"/>
                <a:gridCol w="4445000"/>
              </a:tblGrid>
              <a:tr h="3175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구분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확정 기준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근거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556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기본 cutoff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원본 30×30 px (면적 900 px², √area@1280 10 px) 미만 생략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§4 — 공수 46.5%·−1.06%p / 성능 우선 시 24 px 대안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세장형 예외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길이 원본 72 px 이상 선형 객체는 유지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§4 — 제거 시 rebar AP 40% 하락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556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작업 우선순위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두께 원본 6 px 미만 세장형은 후순위 (여력 시 라벨)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§3 — GT 분절 52~74%, §4 — 위치 신호 기여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기각 항목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cutoff 36 px 이상 · mask_ratio 변경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§4 — 각 −3.6%p~ · 개선 없음/실행 불가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8000" y="32512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08000" y="3378200"/>
            <a:ext cx="11176000" cy="139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90500" indent="-190500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①"/>
            </a:pPr>
            <a:r>
              <a:rPr sz="145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제한 1 — 조건당 단일 학습: 24 vs 30 px(0.9%p)·예외 정책 간(0.35%p) 차이는 seed 반복 전 통계 확정 유보</a:t>
            </a:r>
          </a:p>
          <a:p>
            <a:pPr marL="190500" indent="0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seed 3회 반복을 후속 계획에 포함(§6 계획)</a:t>
            </a:r>
          </a:p>
          <a:p>
            <a:pPr marL="190500" indent="-190500">
              <a:lnSpc>
                <a:spcPct val="135000"/>
              </a:lnSpc>
              <a:spcBef>
                <a:spcPts val="13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②"/>
            </a:pPr>
            <a:r>
              <a:rPr sz="145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제한 2 — 본 결과는 imgsz 1280 조건부: 입력 1600/1920 채택 시 학습 가능 하한이 비례 축소</a:t>
            </a:r>
          </a:p>
          <a:p>
            <a:pPr marL="190500" indent="0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3순위(입력 크기) 실험과 결합해 최종 확정 예정</a:t>
            </a:r>
          </a:p>
          <a:p>
            <a:pPr marL="190500" indent="-190500">
              <a:lnSpc>
                <a:spcPct val="135000"/>
              </a:lnSpc>
              <a:spcBef>
                <a:spcPts val="13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③"/>
            </a:pPr>
            <a:r>
              <a:rPr sz="145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제한 3 — cutoff 적용 시 Count Accuracy 등 지표의 분모(정답 개수) 정의가 변경</a:t>
            </a:r>
          </a:p>
          <a:p>
            <a:pPr marL="190500" indent="0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검수 혼선 방지를 위해 지표 정의 문서 합의 요청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18 / 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분류 SW 라벨링 기준 연구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04 · 향후 계획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3순위 7/31 스크리닝 · 4순위 9/4 최종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확정 기준의 후속 검증(seed 반복·PQ 환산)과 요청 일정(3·4순위)을 병행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8000" y="1384300"/>
          <a:ext cx="11176000" cy="20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2159000"/>
                <a:gridCol w="7493000"/>
              </a:tblGrid>
              <a:tr h="3175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일정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항목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내용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429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7/31 (금)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3순위 스크리닝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imgsz 960/1280/1600/1920 × point 단순화 3수준 — rebar류의 입력 크기 민감도 포함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8/4 (화)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3순위 최종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성능·속도·VRAM 균형점 2~3 조합 확정 학습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429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8/21 (금)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4순위 중간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클래스별 최소 크기(크기 구간별 recall) — rebar 덩어리/개별 기준 포함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9/4 (금)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4순위 최종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클래스별 차등 기준표 확정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429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병행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확정성 보강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cut 24/30 px seed 3회 반복 · PQ/Count 지표 환산 평가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8000" y="3492500"/>
            <a:ext cx="11176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표 — 3·4순위 검증 일정과 병행 보강 항목 · 출처: 본 연구 계획(전체계획_20260715)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000" y="3771900"/>
            <a:ext cx="111760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90500" indent="-190500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①"/>
            </a:pPr>
            <a:r>
              <a:rPr sz="145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협의 요청 — Count Accuracy 분모 정의(30 px 미만 제외 여부)의 문서 합의</a:t>
            </a:r>
          </a:p>
          <a:p>
            <a:pPr marL="190500" indent="0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라벨링 기준과 검수 지표의 정합을 위해 이번 기준 확정과 함께 결정 필요</a:t>
            </a:r>
          </a:p>
          <a:p>
            <a:pPr marL="190500" indent="-190500">
              <a:lnSpc>
                <a:spcPct val="135000"/>
              </a:lnSpc>
              <a:spcBef>
                <a:spcPts val="13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②"/>
            </a:pPr>
            <a:r>
              <a:rPr sz="145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공유 요청 — 1순위 Point 수 최종 가이드 문서와 신규 라벨링 샘플</a:t>
            </a:r>
          </a:p>
          <a:p>
            <a:pPr marL="190500" indent="0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2~4순위 검증 조건을 실제 라벨 특성과 일치시키기 위함 (기요청, 2026-07-08)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19 / 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분류 SW 라벨링 기준 연구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APPENDIX ·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원자료 경로, 코드 근거, 외부 데이터셋 관행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본 보고서 수치의 1차 출처 — 모든 결과는 CSV·로그·가중치로 재현 가능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08000" y="1409700"/>
            <a:ext cx="1117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[1] 재학습 원자료</a:t>
            </a:r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exp2/exp6/exp7_results.csv · 학습 로그 8종 · best.pt 가중치 8종 (ver2_실험/cluster_results/)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8000" y="1917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08000" y="2044700"/>
            <a:ext cx="1117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[2] 시뮬레이션 원자료</a:t>
            </a:r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exp5_survival_summary.md · exp5_instances.csv.gz (N=501,377) · exp5_panels/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8000" y="2552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08000" y="2679700"/>
            <a:ext cx="1117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[3] 이전 실험 자료</a:t>
            </a:r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training_method_ver3.md · 최소 픽셀 연구결과.pptx · 전달 데이터셋(crop 1,676장, 실측)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8000" y="3187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08000" y="3314700"/>
            <a:ext cx="1117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[4] 코드 근거 (ultralytics 8.4.x)</a:t>
            </a:r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polygon2mask fillPoly→resize(1/4) · cfg mask_ratio=4 · Proto26 stride 4 · STAL 소형 할당 보장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000" y="3822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08000" y="3949700"/>
            <a:ext cx="1117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[5] Ultralytics YOLO26</a:t>
            </a:r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arXiv:2606.03748 — STAL ablation AP_small +0.6, YOLO11 대비 mask AP +2.4~3.7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8000" y="4457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08000" y="4584700"/>
            <a:ext cx="1117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[6] 외부 라벨링 관행</a:t>
            </a:r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COCO small=면적 32² px²(mask 기준) · nuImages 높이 10 px 미만 라벨 금지 · DOTA v1.0 10 px 미만 미라벨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8000" y="5092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08000" y="5219700"/>
            <a:ext cx="1117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[7] 정성 비교 그림</a:t>
            </a:r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본 보고서 §5 전 그림: val 295_13-24-56·429_11-06-37, 각 조건 best.pt 추론 (conf 0.25, imgsz 1280)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20 / 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분류 SW 라벨링 기준 연구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
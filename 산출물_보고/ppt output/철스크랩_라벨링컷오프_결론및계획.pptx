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6985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REPORT · 분석 보고자료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1003300"/>
            <a:ext cx="457200" cy="254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8000" y="1219200"/>
            <a:ext cx="11176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철스크랩 라벨링 컷오프 기준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 · 선택지 분석 · 향후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7305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5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6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결론 우선 구성 — 확정안 A vs 보수안 B · 픽셀 크기별 결과 · 학습 환경 · 메일 회신 결론·일정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3149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8000" y="3327400"/>
            <a:ext cx="6540500" cy="2260600"/>
          </a:xfrm>
          <a:prstGeom prst="rect">
            <a:avLst/>
          </a:prstGeom>
          <a:solidFill>
            <a:srgbClr val="FAFB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2000" y="3556000"/>
            <a:ext cx="6032500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작성 · KIMS 재료데이터·분석연구본부 이치헌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근거 · 재학습 8회 + 전수 재집계(N=501,377) + stride 4 시뮬레이션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대응 · itivai 확인요청 3건(7/9)과 2순위 회신(7/24) 결론 반영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원자료 · exp2/exp5/exp6/exp7 CSV·로그 (부록 References)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3500" y="3327400"/>
            <a:ext cx="4000500" cy="2260600"/>
          </a:xfrm>
          <a:prstGeom prst="rect">
            <a:avLst/>
          </a:prstGeom>
          <a:solidFill>
            <a:srgbClr val="0F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50200" y="3543300"/>
            <a:ext cx="3556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8DC63F"/>
                </a:solidFill>
                <a:latin typeface="Paperlogy 6 SemiBold"/>
                <a:ea typeface="Paperlogy 6 SemiBold"/>
                <a:cs typeface="Paperlogy 6 SemiBold"/>
              </a:rPr>
              <a:t>핵심 결론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A 확정안 — 30 px 생략 · 공수 46.5%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B 보수안 — 24 px 라벨 + 코드 필터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400" b="0">
                <a:solidFill>
                  <a:srgbClr val="C9D6CF"/>
                </a:solidFill>
                <a:latin typeface="Paperlogy 4 Regular"/>
                <a:ea typeface="Paperlogy 4 Regular"/>
                <a:cs typeface="Paperlogy 4 Regular"/>
              </a:rPr>
              <a:t>분기점 = exp3 입력 상향 결과 (7/31)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8928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7A7A7A"/>
                </a:solidFill>
                <a:latin typeface="Paperlogy 6 SemiBold"/>
                <a:ea typeface="Paperlogy 6 SemiBold"/>
                <a:cs typeface="Paperlogy 6 SemiBold"/>
              </a:rPr>
              <a:t>2026. 07. 26</a:t>
            </a:r>
          </a:p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816600"/>
            <a:ext cx="1975373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CONTENTS · 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보고자료 구성 — 결론부터, 근거는 뒤에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핵심 결론(선택지 2개) → 픽셀 크기별 정량 근거 → 학습 환경 요인 → 메일 회신 결론과 일정 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462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핵심 결론 (선택지 A·B 요약)  …… 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17018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6500" y="16891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결론·선택지 분석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확정안 A(30 px 생략) vs 보수안 B(24 px 라벨+30 px 코드 필터) 정량 비교·선택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1000" y="17272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260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8800" y="24130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500" y="24003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픽셀 크기별 결과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cutoff 5수준 재학습 · 크기 구간별 GT 생존 · 세장형 예외 · 정성 비교 2장면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1000" y="24384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29718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58800" y="31242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6500" y="31115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학습 환경 고려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평가 축(자기/공통 val) · stride 4 해상도 · mask_ratio · 입력 크기·증강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1000" y="31496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3683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58800" y="38354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6500" y="38227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메일 회신·향후 계획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확인요청 3건(7/9) 답 · 7/24 회신 확정 결론 · 3·4순위 일정과 합의 요청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1000" y="38608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3942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08000" y="46609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부록 · References — 원자료 경로와 재집계 조건  ……  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/ 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SUMMARY · 핵심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 — 확정안 A와 보수안 B, 선택지 2개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성능·공수 기준 확정안 = 30 px 생략 · 재라벨링 리스크 회피가 필요하면 보수안 = 24 px 라벨+30 px 코드 필터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A 확정안 — 원본 30×30 px 미만 생략 + 세장형 예외(긴 변 72 px) 유지 · 7/24 회신 기준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 공수 46.5% · 공통 val mask mAP50 0.4766(무필터 −1.06%p) — 생략분은 개수 53.5%이나 라벨 면적 6.7%</a:t>
            </a: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 보수안 — 라벨은 24 px까지 그리고, 학습은 30 px 코드 필터로 적용 (학습셋은 A와 동일)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공수 54.2%(+7.7%p·38,543개)로 가역성 확보 — 입력 상향·tile 추론 도입 시 필터 해제만으로 24~30 px 라벨 즉시 활용</a:t>
            </a: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공통 확정 — 세장형 예외 유지(제거 시 rebar AP50 −40%) · mask_ratio 4 유지 · 36 px 이상 기각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예외·학습 설정 결론은 A·B 어느 쪽을 골라도 동일하게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949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8000" y="4089400"/>
          <a:ext cx="11176000" cy="97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1524000"/>
                <a:gridCol w="2540000"/>
                <a:gridCol w="3302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선택지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A 확정안 — 30 px 미만 생략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(−1.06%p)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 · 소급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 보수안 — 24 px 라벨+30 px 필터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(학습 동일)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 · 필터 재조정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8000" y="52578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선택지 요약 · 출처: exp2_results.csv·exp5_instances 전수 재집계 · 분기점 = exp3 입력 상향 결과(7/31)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결론·선택지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확정안 A(30 px 생략) vs 보수안 B(24 px 라벨+30 px 코드 필터) 정량 비교·선택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결론·선택지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픽셀 크기별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학습 환경 고려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메일 회신·향후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선택지 A·B 정량 비교 — 공수·성능·가역성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 데이터는 두 안 모두 30 px 필터로 동일 — 차이는 라벨 원본의 하한(30 vs 24 px)과 가역성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71600"/>
          <a:ext cx="11176000" cy="22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/>
                <a:gridCol w="4381500"/>
                <a:gridCol w="46355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A 확정안 (30 px 생략)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 보수안 (24 px 라벨+30 px 필터)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라벨링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 그대로 (30 px 컷)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코드 필터로 30 px 컷 — A와 동일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 (+7.7%p · 38,543개)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성능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공통 val 0.4766 (−1.06%p)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동일 0.4766 · 필터 해제 시 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 — 24~30 px 소급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 — 입력 상향 시 즉시 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Count·Area 지표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분모 '30 px 이상' 합의 필요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원본/필터 기준 병행 재계산 가능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9370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선택지 A·B 비교 · 공수 = 무필터 대비 유지 instance 비율(세장형 예외 포함, 전수 재집계)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2164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두 안의 학습 성능은 동일 — 차이는 '라벨 원본에 24~30 px 구간을 남기느냐'뿐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B의 추가 공수 +7.7%p는 재라벨링 리스크(비가역) 회피 비용 · 필터 코드는 기구현·±0.1% 검증 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05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 기준 — exp3 입력 상향 결과가 분기점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B의 편익(24~30 px 라벨 활용)은 입력 1600/1920에서 소형 검출이 회복될 때만 실효 — 7/31 결과로 판단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 축 — B의 추가 비용 = 24~30 px 구간 instance 38,543개 (+7.7%p)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공수 대비 성능 곡선상 24 px는 무필터와 사실상 동등(−0.15%p) — 그 이하 완전 보수는 GT 소실로 실익 없음</a:t>
            </a: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편익 축 — 입력 1600/1920에서 소형·세장형 검출이 회복되면 B의 라벨이 즉시 자산화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1280 기준 rebar 미검출 77%가 입력 상향으로 얼마나 줄어드는지가 exp3의 관전 포인트</a:t>
            </a: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판단 시점 — exp3 스크리닝(7/31) 결과 확인 후 A/B 확정 권고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 착수가 그보다 선행되어야 하면 B가 안전측 — 되돌릴 수 없는 결정을 뒤로 미루는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683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hart_cos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23" y="3797300"/>
            <a:ext cx="3397452" cy="1778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35023" y="3797300"/>
            <a:ext cx="3397452" cy="1778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8000" y="5613400"/>
            <a:ext cx="565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라벨 공수 vs 공통 val 성능 (cut 30 px 확정 구간)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exp2_results.csv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50000" y="3797300"/>
          <a:ext cx="4826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/>
                <a:gridCol w="2095500"/>
              </a:tblGrid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분기 조건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권고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556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exp3에서 소형 검출 회복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 — 24~30 px 라벨 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회복 미미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 — 30 px 생략으로 축소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556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착수가 exp3보다 선행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B가 안전측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06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cutoff 5수준 재학습 · 크기 구간별 GT 생존 · 세장형 예외 · 정성 비교 2장면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결론·선택지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픽셀 크기별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학습 환경 고려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메일 회신·향후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07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cutoff 5수준 재학습 — 공통 val 기준 30 px 확정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자기 val은 cutoff↑=mAP↑ 착시 · 무필터 공통 val 재평가로 부호 반전 — 36 px 이상 기각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71600"/>
          <a:ext cx="111760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14500"/>
                <a:gridCol w="1714500"/>
                <a:gridCol w="1460500"/>
                <a:gridCol w="1333500"/>
                <a:gridCol w="2667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자기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대비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(전체 라벨)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대조군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24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0.6454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−0.15%p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 보수안 하한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30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−1.06%p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 확정안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36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0.7259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−3.62%p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41.9%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48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−5.71%p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5306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cutoff 수준별 성능·공수 · 출처: exp2_results.csv (YOLO26x-seg@1280, 100 ep)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784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8000" y="3898900"/>
            <a:ext cx="4699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자기 val 0.487→0.744 상승은 평가셋이 함께 쉬워진 효과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 val로 재평가하면 0.487→0.430 하락 — 이전 1024 실험의 '필터↑=성능↑'을 정정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30 px 미만 라벨 전체(개수 53.5%)의 성능 기여 = 1.06%p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24 px 이상에 학습 신호 사실상 전부 포함(−0.15%p)</a:t>
            </a:r>
          </a:p>
        </p:txBody>
      </p:sp>
      <p:pic>
        <p:nvPicPr>
          <p:cNvPr id="15" name="Picture 14" descr="chart_cutoff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977" y="3835400"/>
            <a:ext cx="3086545" cy="177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806977" y="3835400"/>
            <a:ext cx="3086545" cy="1778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524500" y="5664200"/>
            <a:ext cx="565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그림 — 자기 val(상승) vs 공통 val(하락) 발산 · 출처: exp2_results.csv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08 /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크기 구간별 GT 생존 — 30 px 이상 형상 보존 97%+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전수 501,377 instance를 학습 GT 생성 경로(stride 4 downsample) 그대로 통과 — 구간별 생존·복원 IoU 측정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art_g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92561"/>
            <a:ext cx="6350000" cy="351407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8000" y="1392561"/>
            <a:ext cx="6350000" cy="3514077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49784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원본 √면적 구간별 stride 4 생존율·복원 IoU≥0.5 비율 (N=501,377)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exp5_survival_summary.md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0" y="1371600"/>
            <a:ext cx="4064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12 px 미만 — 완전 소실 구간 (생존율 55~92%)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라벨링해도 학습에 물리적으로 전달 불가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18 px 미만 과반 IoU&lt;0.5 · 24~30 px 92.7% · 30 px 이상 97%+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 30 px(A안)·24 px(B안 하한)의 물리 근거</a:t>
            </a:r>
          </a:p>
        </p:txBody>
      </p:sp>
      <p:pic>
        <p:nvPicPr>
          <p:cNvPr id="15" name="Picture 14" descr="exp5_rebar_van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679" y="3378200"/>
            <a:ext cx="1954641" cy="13335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166679" y="3378200"/>
            <a:ext cx="1954641" cy="13335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0" y="4762500"/>
            <a:ext cx="4064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두께 ~6 px rebar GT의 분절 (상: 입력, 하: 복원)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exp5 시뮬레이션 · val rebar 사례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09 /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세장형 예외 유지 — rebar AP50 −40% 방지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예외 제거 시 전체 +0.35%p뿐이나 rebar 0.1055→0.0634 급락 · 소형·세장형은 base 모델도 대부분 미검출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 정책 3종 비교 — 현행(긴 변 72 px) 유지가 rebar·small pipe 보존에 최적 (좌측 그림)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두께 6 px 조건 추가도 rebar −23% — 두께 미달은 제거 대신 '작업 우선순위 최하위'로 처리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검출 실증 — 무필터 학습 모델도 trash 82%·rebar 77%·small pipe 72%를 background로 누락 (우측 그림)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라벨이 있어도 회수되지 않는 크기 구간과 생략 구간이 일치 — 전체 mask recall ≈0.49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2806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hart_ex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11" y="2921000"/>
            <a:ext cx="4435177" cy="241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84411" y="2921000"/>
            <a:ext cx="4435177" cy="2413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8000" y="5384800"/>
            <a:ext cx="558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세장형 예외 정책별 클래스 AP50 (cut 30 px 고정)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exp6_results.csv (공통 val)</a:t>
            </a:r>
          </a:p>
        </p:txBody>
      </p:sp>
      <p:pic>
        <p:nvPicPr>
          <p:cNvPr id="16" name="Picture 15" descr="chart_background_m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828" y="2921000"/>
            <a:ext cx="3376343" cy="2413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74828" y="2921000"/>
            <a:ext cx="3376343" cy="2413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0000" y="5384800"/>
            <a:ext cx="482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클래스별 미검출 비율 (base 모델 · 무필터 val)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exp2_base confusion matrix (정규화)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BS-302 시그니처_좌우조합 A(국영문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10 /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 비교 ① rebar — cut 상향 시 가는 선형부터 미검출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장면에 GT와 4개 학습 조건 예측을 동일 규격 렌더 · 검출 수 277→256→218→200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qual_zoom_rebar_295_13-2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20" y="1371600"/>
            <a:ext cx="9148158" cy="4064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21920" y="1371600"/>
            <a:ext cx="9148158" cy="4064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5486400"/>
            <a:ext cx="11176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rebar 밀집 영역 확대 (원본 1500×1000 px) · cutoff별 마스크 소실 양상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val 295_13-24-56 · 각 조건 best.pt 추론 (conf 0.25, imgsz 1280)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11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 비교 ② small pipe — 얽힌 다발 내부 미검출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GT는 가닥 단위 개별 라벨 · 예측은 가장자리·분리 개체 위주 — 검출 수 277→275→220→213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qual_zoom_smallpipe_429_11-06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20" y="1371600"/>
            <a:ext cx="9148158" cy="4064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21920" y="1371600"/>
            <a:ext cx="9148158" cy="4064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5486400"/>
            <a:ext cx="11176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small pipe 밀집 영역 확대 · cutoff별 검출 밀도 변화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val 429_11-06-37 · 각 조건 best.pt 추론 (conf 0.25, imgsz 1280)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12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학습 환경 고려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평가 축(자기/공통 val) · stride 4 해상도 · mask_ratio · 입력 크기·증강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결론·선택지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픽셀 크기별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학습 환경 고려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메일 회신·향후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13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학습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학습 환경 요인 4종 — 평가 축·해상도·loss·입력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라벨링 기준과 별개로 결과 해석을 좌우하는 학습 설정 — 실측값과 결론을 요인별 정리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평가 축이 결론을 뒤집음 — 자기 val(필터 적용)과 공통 val(무필터)은 부호가 반대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본 보고서 판정 축은 공통 val — '기준 적용 후에도 전체 장면 성능 유지'가 목적함수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mask 표현 해상도(stride 4)가 물리 한계 — 원본 30 px = proto 2.5 px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얇은 객체는 GT부터 분절 — 라벨 정책이 아니라 모델 구조에서 오는 제약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2806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8000" y="2933700"/>
          <a:ext cx="11176000" cy="168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5080000"/>
                <a:gridCol w="4318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요인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실측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결론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평가 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자기 val 0.744 vs 공통 val 0.430 (cut 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판정은 무필터 공통 val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mask 해상도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stride 4 proto 320 — 두께 6 px 미만 GT 52~74% 분절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형상 보존 하한 = cutoff 근거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mask_ratio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 = A100 80GB OOM · 2 = −1.2%p, rebar 개선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기본값 4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입력·증강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1280 기준 결론 · scale 0.5× 증강 시 실효 컷 2배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1600/1920은 exp3에서 검증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8000" y="48133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학습 환경 요인별 실측·결론 · 출처: exp2/exp5/exp7 원자료 (부록 [1]~[3])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14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메일 회신·향후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확인요청 3건(7/9) 답 · 7/24 회신 확정 결론 · 3·4순위 일정과 합의 요청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결론·선택지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픽셀 크기별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학습 환경 고려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메일 회신·향후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15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· 메일 회신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확인요청 3건(7/9) 답과 7/24 회신 확정 결론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itivai 심지훈 선임 확인요청 — 2건은 자료 확인으로, 1건(stride 4 학습 가능성)은 시뮬레이션+재학습으로 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716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7112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확인요청 (2026-07-09)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답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① '1878 픽셀 이미지'의 정체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이전 1024 실험 crop 이미지 평균 긴 변 — 현행 1280 기준 미사용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② '8 px 기준'이 bbox 변 길이인지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bbox 아닌 √(polygon 면적) 기준 — 요청 취지와 이미 일치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③ stride 4 feature map 학습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전수 시뮬 + 재학습 8회로 검증 — 30 px 이상 형상 보존 97%+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29337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확인요청별 답 · 출처: 메일회신3/회신초안(7/14·7/20) · 상세 근거는 §02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2004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8000" y="3314700"/>
            <a:ext cx="11176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회신 확정문 — '원본 30×30 px 미만 생략, 길이 72 px 이상 선형 유지, 두께 6 px 미만 작업 후순위'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성능 우선 시 24 px 옵션 병기(−0.15%p·공수 54.2%) — 본 보고서의 B 보수안과 동일 하한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기각·합의 사항 — 36 px 이상과 mask_ratio 변경은 기각 · Count/Area 분모 정의는 문서 합의 요청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 적용 시 '정답 개수'의 분모가 바뀌므로 검수 지표 정합을 위해 기준 확정과 함께 결정 필요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16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· 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향후 계획 — 3순위 7/31·8/4, 4순위 8/21·9/4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선택지 A/B 확정은 exp3 결과(7/31) 후 — 병행으로 seed 반복·지표 환산·문서 합의 진행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71600"/>
          <a:ext cx="11176000" cy="22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2159000"/>
                <a:gridCol w="7493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7/31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exp3 스크리닝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imgsz 960/1280/1600/1920 × point 단순화 — 선택지 A·B 분기점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8/4 (화)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exp3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성능·속도·VRAM 균형 2~3 조합 확정 학습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8/21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클래스×크기 구간 recall — 클래스별 최소 크기 지도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9/4 (금)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클래스별 차등 기준표 확정 — 최종 라벨링 기준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병행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확정성 보강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24/30 px seed 3회 반복 · PQ·Count 지표 환산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합의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문서 확정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Count 분모('30 px 이상') · 1순위 Point 가이드 수신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9243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3·4순위 일정과 병행 항목 · 출처: 전체계획_20260715 · 라벨링 기간(itivai) = 6/17~10월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2037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선택지 확정 시점 = exp3 스크리닝(7/31) 직후 — 라벨 착수가 선행되면 B(24 px)가 안전측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9/4 exp4 완료 시 크기(2순위)+해상도·Point(3순위)+클래스별(4순위) 통합 기준표 완성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17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APPENDIX ·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원자료 경로와 재집계 조건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본 보고서 수치의 1차 출처 — 모든 결과는 CSV·로그·가중치로 재현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40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[1] 재학습 원자료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exp2/exp6/exp7_results.csv · 학습 로그·best.pt 8종 (ver2_실험/cluster_results/) — YOLO26x-seg@1280, 100 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19685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20828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[2] stride 4 시뮬레이션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exp5_survival_summary.md · exp5_panels/ — GT 생성 경로(1/4 downsample) 전수 통과 측정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641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8000" y="27559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[3] 전수 재집계 (2026-07-23)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exp5_instances.csv.gz (N=501,377) — 개수·면적 점유율, 공수(세장형 예외 포함 일관 기준)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3314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8000" y="34290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[4] 검출 실증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exp2_base confusion matrix (무필터 val) · val 25장 예측 검증 (conf 스윕·면적 coverage)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39878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8000" y="41021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[5] 메일 근거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메일회신3/보고서_stride4(7/14)·회신초안_결과(7/20) · itivai 확인요청(7/9) · 요청서 수정본(5/28)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46609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8000" y="47752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[6] 코드 필터 구현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prepare_yolo_dataset.py — 크기·세장형 예외 필터 · 정책표와 kept 수 ±0.1% 교차검증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5334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8000" y="54483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[7] 차트·정성 그림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차트 6종 = exp2/5/6 CSV 재작성 · 정성 2장면 = val 295·429, best.pt 추론(conf 0.25, imgsz 1280)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18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
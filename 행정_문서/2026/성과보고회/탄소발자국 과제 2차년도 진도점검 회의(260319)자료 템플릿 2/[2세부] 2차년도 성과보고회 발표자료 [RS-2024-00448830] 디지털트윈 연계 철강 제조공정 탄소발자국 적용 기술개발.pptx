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7" r:id="rId5"/>
    <p:sldId id="347" r:id="rId6"/>
    <p:sldId id="361" r:id="rId7"/>
    <p:sldId id="358" r:id="rId8"/>
    <p:sldId id="359" r:id="rId9"/>
    <p:sldId id="360" r:id="rId10"/>
    <p:sldId id="362" r:id="rId11"/>
    <p:sldId id="304" r:id="rId12"/>
  </p:sldIdLst>
  <p:sldSz cx="12192000" cy="6858000"/>
  <p:notesSz cx="6858000" cy="9144000"/>
  <p:embeddedFontLst>
    <p:embeddedFont>
      <p:font typeface="KoPubWorld돋움체 Bold" panose="00000800000000000000" pitchFamily="2" charset="-127"/>
      <p:bold r:id="rId15"/>
    </p:embeddedFont>
    <p:embeddedFont>
      <p:font typeface="KoPubWorld돋움체 Medium" panose="00000600000000000000" pitchFamily="2" charset="-127"/>
      <p:regular r:id="rId16"/>
    </p:embeddedFont>
    <p:embeddedFont>
      <p:font typeface="KoPub돋움체 Bold" panose="00000800000000000000" pitchFamily="2" charset="-127"/>
      <p:bold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401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8F8F8"/>
    <a:srgbClr val="273F5B"/>
    <a:srgbClr val="660033"/>
    <a:srgbClr val="CC0066"/>
    <a:srgbClr val="007A7D"/>
    <a:srgbClr val="ED6D6D"/>
    <a:srgbClr val="BDD7EE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5262" autoAdjust="0"/>
  </p:normalViewPr>
  <p:slideViewPr>
    <p:cSldViewPr snapToGrid="0">
      <p:cViewPr varScale="1">
        <p:scale>
          <a:sx n="110" d="100"/>
          <a:sy n="110" d="100"/>
        </p:scale>
        <p:origin x="954" y="96"/>
      </p:cViewPr>
      <p:guideLst>
        <p:guide orient="horz" pos="686"/>
        <p:guide pos="7401"/>
        <p:guide pos="279"/>
        <p:guide orient="horz" pos="890"/>
        <p:guide orient="horz" pos="399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4B3C-21DC-4CAC-8F48-87DD41E84210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12559-7224-48D1-9719-661B63C3441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730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46478-F1A1-446C-B722-6B9D5B616404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BD1D9-5254-4CB8-9055-CFA157CB6E1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3410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525"/>
            <a:ext cx="12192000" cy="68675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-9526"/>
            <a:ext cx="12192000" cy="68675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918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4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-529" y="-6394"/>
            <a:ext cx="12193057" cy="68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828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357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510746" y="1136822"/>
            <a:ext cx="10964562" cy="504014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526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22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49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02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26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8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62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792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60561-B8D1-41E5-B6A5-37175655A60D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89FB-EC38-4E50-B47B-C4C06324D6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7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4A6F0B9-8547-9CAE-C1B0-B0E63CBB20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39" y="-1"/>
            <a:ext cx="6723079" cy="503936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51537" y="1158084"/>
            <a:ext cx="6446205" cy="2119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</a:t>
            </a: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연계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철강 </a:t>
            </a:r>
            <a:b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</a:br>
            <a:r>
              <a:rPr lang="ko-KR" altLang="en-US" sz="3600" b="1" kern="0">
                <a:solidFill>
                  <a:schemeClr val="bg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제조공정 </a:t>
            </a:r>
            <a:r>
              <a:rPr lang="ko-KR" altLang="en-US" sz="3600" b="1" kern="0" dirty="0">
                <a:solidFill>
                  <a:schemeClr val="bg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</a:t>
            </a:r>
            <a:r>
              <a:rPr lang="ko-KR" altLang="en-US" sz="3600" b="1" kern="0">
                <a:solidFill>
                  <a:schemeClr val="bg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적용 기술개발</a:t>
            </a:r>
            <a:endParaRPr lang="en-US" altLang="ko-KR" sz="3600" b="1" kern="0">
              <a:solidFill>
                <a:schemeClr val="bg1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성과보고회의</a:t>
            </a:r>
            <a:endParaRPr lang="en-US" altLang="ko-KR" sz="3600" b="1" kern="0" dirty="0">
              <a:solidFill>
                <a:schemeClr val="bg1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2C5B95F-6D79-113C-685E-C322CABC59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39" y="5253983"/>
            <a:ext cx="6201993" cy="4654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93BCE6-03A6-772D-9184-4EDE37C12835}"/>
              </a:ext>
            </a:extLst>
          </p:cNvPr>
          <p:cNvSpPr/>
          <p:nvPr/>
        </p:nvSpPr>
        <p:spPr>
          <a:xfrm>
            <a:off x="633631" y="1007718"/>
            <a:ext cx="6466947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677416" y="3910744"/>
            <a:ext cx="6451172" cy="6524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주관기관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동국제강</a:t>
            </a:r>
            <a:endParaRPr lang="en-US" altLang="ko-KR" sz="1400" spc="-5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공동연구개발기관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엠아이큐브솔루션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와이뎁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한국생산기술연구원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세아창원특수강</a:t>
            </a:r>
            <a:r>
              <a:rPr lang="en-US" altLang="ko-KR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브이엔티지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6345238"/>
            <a:ext cx="12192000" cy="512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37" name="그룹 36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39" name="그룹 38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33" name="직선 연결선 3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9B0F999-D0AA-B798-C4E1-32108C3791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39" y="6416307"/>
            <a:ext cx="1344460" cy="37033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AFD242-443B-1E03-34D7-A2B904DD5F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6621" y="6409324"/>
            <a:ext cx="1643263" cy="4486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B01930-6BF3-F33A-2C79-00372D0B18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7142" y="6447325"/>
            <a:ext cx="1232778" cy="4109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F4CEAB-8C81-9D15-4A73-E1FF0FF80E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4586" y="6416307"/>
            <a:ext cx="1229034" cy="4558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4F51E3-EF01-6535-6C1C-C3243792BE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9296" y="6477692"/>
            <a:ext cx="1252629" cy="3416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F8EB2F-B185-9C8E-2D78-F644E67A5A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8871" y="6477794"/>
            <a:ext cx="1991842" cy="2722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3726F2-4B8F-92C6-78BF-7F43C33774F6}"/>
              </a:ext>
            </a:extLst>
          </p:cNvPr>
          <p:cNvSpPr txBox="1"/>
          <p:nvPr/>
        </p:nvSpPr>
        <p:spPr>
          <a:xfrm>
            <a:off x="1611719" y="6487487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주관</a:t>
            </a:r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8B077D-CEF8-41DB-AE03-20B062D4389F}"/>
              </a:ext>
            </a:extLst>
          </p:cNvPr>
          <p:cNvSpPr txBox="1"/>
          <p:nvPr/>
        </p:nvSpPr>
        <p:spPr>
          <a:xfrm>
            <a:off x="9465218" y="6511963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수요</a:t>
            </a:r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EDB6F-0281-4E77-D5CF-BEA2739258B3}"/>
              </a:ext>
            </a:extLst>
          </p:cNvPr>
          <p:cNvSpPr txBox="1"/>
          <p:nvPr/>
        </p:nvSpPr>
        <p:spPr>
          <a:xfrm>
            <a:off x="1099054" y="3418536"/>
            <a:ext cx="5918118" cy="3562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2026.03.19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30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E664-E5DD-DD72-B581-71BC7609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9B22C2C5-34A5-86FA-4E42-2999F3C68D23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(2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최종 목표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4487E7-E849-DD65-275A-B5F208145C0D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최종 목표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93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AE23-B79E-C963-9D46-9C148D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AE392C75-AA46-CFDA-2033-3BBF3BBD85D6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연차별 연구개발 내용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725C1-9FDF-42B1-3EE8-69E9AF3A8427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연차별 연구개발 내용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64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599-296C-0A81-3362-F5E089AA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AECA3EAA-DD75-BBDF-32E8-026C26931528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2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결과</a:t>
            </a:r>
          </a:p>
        </p:txBody>
      </p:sp>
      <p:sp>
        <p:nvSpPr>
          <p:cNvPr id="2" name="사각형: 위쪽 모서리의 한쪽은 둥글고 다른 한쪽은 잘림 1">
            <a:extLst>
              <a:ext uri="{FF2B5EF4-FFF2-40B4-BE49-F238E27FC236}">
                <a16:creationId xmlns:a16="http://schemas.microsoft.com/office/drawing/2014/main" id="{A1A0881A-D298-B293-ECE3-E281994963A3}"/>
              </a:ext>
            </a:extLst>
          </p:cNvPr>
          <p:cNvSpPr/>
          <p:nvPr/>
        </p:nvSpPr>
        <p:spPr>
          <a:xfrm>
            <a:off x="5680265" y="1856640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정량 목표 </a:t>
            </a:r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및 달성 현황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9946D56-F800-A04D-569E-8311BFA64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33403"/>
              </p:ext>
            </p:extLst>
          </p:nvPr>
        </p:nvGraphicFramePr>
        <p:xfrm>
          <a:off x="5680265" y="2180489"/>
          <a:ext cx="6320146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93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585435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72401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40717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정량적 평가 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평가 방법 및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달성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4EA260-EEE0-510A-619D-A89E6F9BF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75583"/>
              </p:ext>
            </p:extLst>
          </p:nvPr>
        </p:nvGraphicFramePr>
        <p:xfrm>
          <a:off x="5680266" y="4552812"/>
          <a:ext cx="6320145" cy="1859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6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184449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1500698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527336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278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연구개발성과</a:t>
                      </a:r>
                      <a:r>
                        <a:rPr lang="en-US" altLang="ko-KR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지표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및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차년도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차년도 달성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9864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90594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076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94854"/>
                  </a:ext>
                </a:extLst>
              </a:tr>
            </a:tbl>
          </a:graphicData>
        </a:graphic>
      </p:graphicFrame>
      <p:sp>
        <p:nvSpPr>
          <p:cNvPr id="5" name="사각형: 위쪽 모서리의 한쪽은 둥글고 다른 한쪽은 잘림 4">
            <a:extLst>
              <a:ext uri="{FF2B5EF4-FFF2-40B4-BE49-F238E27FC236}">
                <a16:creationId xmlns:a16="http://schemas.microsoft.com/office/drawing/2014/main" id="{8150B19E-70BE-A012-ED95-D145EE45C635}"/>
              </a:ext>
            </a:extLst>
          </p:cNvPr>
          <p:cNvSpPr/>
          <p:nvPr/>
        </p:nvSpPr>
        <p:spPr>
          <a:xfrm>
            <a:off x="5680266" y="4228963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성과지표 달성 현황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사각형: 위쪽 모서리의 한쪽은 둥글고 다른 한쪽은 잘림 5">
            <a:extLst>
              <a:ext uri="{FF2B5EF4-FFF2-40B4-BE49-F238E27FC236}">
                <a16:creationId xmlns:a16="http://schemas.microsoft.com/office/drawing/2014/main" id="{1A600A7E-CC96-73AC-4332-95958BD41C7E}"/>
              </a:ext>
            </a:extLst>
          </p:cNvPr>
          <p:cNvSpPr/>
          <p:nvPr/>
        </p:nvSpPr>
        <p:spPr>
          <a:xfrm>
            <a:off x="313509" y="1668957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연구개발 최종 목표 및 달성 현황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C082980-5246-2253-D12A-AB41AD88EBA0}"/>
              </a:ext>
            </a:extLst>
          </p:cNvPr>
          <p:cNvGraphicFramePr>
            <a:graphicFrameLocks noGrp="1"/>
          </p:cNvGraphicFramePr>
          <p:nvPr/>
        </p:nvGraphicFramePr>
        <p:xfrm>
          <a:off x="313509" y="1992806"/>
          <a:ext cx="5103223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943347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58094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개발 항목 및 세부사항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달성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825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39148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234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78226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678771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6072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09724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07726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240218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03920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7768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6DC087BF-885C-9E51-AB9B-BC87B6DDA3CD}"/>
              </a:ext>
            </a:extLst>
          </p:cNvPr>
          <p:cNvGrpSpPr/>
          <p:nvPr/>
        </p:nvGrpSpPr>
        <p:grpSpPr>
          <a:xfrm>
            <a:off x="307077" y="1014829"/>
            <a:ext cx="11699762" cy="398045"/>
            <a:chOff x="445410" y="1014829"/>
            <a:chExt cx="11309892" cy="398045"/>
          </a:xfrm>
        </p:grpSpPr>
        <p:sp>
          <p:nvSpPr>
            <p:cNvPr id="11" name="모서리가 둥근 직사각형 71">
              <a:extLst>
                <a:ext uri="{FF2B5EF4-FFF2-40B4-BE49-F238E27FC236}">
                  <a16:creationId xmlns:a16="http://schemas.microsoft.com/office/drawing/2014/main" id="{544E5AA6-E49F-9F3C-C50E-A0534169D80C}"/>
                </a:ext>
              </a:extLst>
            </p:cNvPr>
            <p:cNvSpPr/>
            <p:nvPr/>
          </p:nvSpPr>
          <p:spPr>
            <a:xfrm>
              <a:off x="445415" y="1014829"/>
              <a:ext cx="11303673" cy="39804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(2</a:t>
              </a:r>
              <a:r>
                <a:rPr lang="ko-KR" altLang="en-US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차년도 최종 목표 작성</a:t>
              </a:r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)</a:t>
              </a:r>
              <a:endParaRPr lang="ko-KR" altLang="en-US" sz="15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2" name="양쪽 모서리가 둥근 사각형 72">
              <a:extLst>
                <a:ext uri="{FF2B5EF4-FFF2-40B4-BE49-F238E27FC236}">
                  <a16:creationId xmlns:a16="http://schemas.microsoft.com/office/drawing/2014/main" id="{ADE2D230-FAC8-3B73-5D94-F8F94016EEDD}"/>
                </a:ext>
              </a:extLst>
            </p:cNvPr>
            <p:cNvSpPr/>
            <p:nvPr/>
          </p:nvSpPr>
          <p:spPr>
            <a:xfrm rot="5400000">
              <a:off x="669633" y="858381"/>
              <a:ext cx="281753" cy="730200"/>
            </a:xfrm>
            <a:prstGeom prst="round2SameRect">
              <a:avLst>
                <a:gd name="adj1" fmla="val 25226"/>
                <a:gd name="adj2" fmla="val 0"/>
              </a:avLst>
            </a:prstGeom>
            <a:solidFill>
              <a:srgbClr val="2E86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72000" rIns="0" bIns="0" rtlCol="0" anchor="ctr"/>
            <a:lstStyle/>
            <a:p>
              <a:pPr algn="r"/>
              <a:r>
                <a:rPr lang="en-US" altLang="ko-KR" sz="140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2</a:t>
              </a:r>
              <a:r>
                <a:rPr lang="ko-KR" altLang="en-US" sz="140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차년도</a:t>
              </a:r>
              <a:endParaRPr lang="ko-KR" altLang="en-US" sz="1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7DB73E6-B9C2-2E7D-AC02-91072ED00AC2}"/>
                </a:ext>
              </a:extLst>
            </p:cNvPr>
            <p:cNvCxnSpPr/>
            <p:nvPr/>
          </p:nvCxnSpPr>
          <p:spPr>
            <a:xfrm>
              <a:off x="451628" y="1019810"/>
              <a:ext cx="11303674" cy="0"/>
            </a:xfrm>
            <a:prstGeom prst="line">
              <a:avLst/>
            </a:prstGeom>
            <a:ln w="12700">
              <a:solidFill>
                <a:srgbClr val="2E86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AD49C3D-C879-5F01-F082-089259A15779}"/>
              </a:ext>
            </a:extLst>
          </p:cNvPr>
          <p:cNvCxnSpPr>
            <a:cxnSpLocks/>
          </p:cNvCxnSpPr>
          <p:nvPr/>
        </p:nvCxnSpPr>
        <p:spPr>
          <a:xfrm>
            <a:off x="307077" y="1412875"/>
            <a:ext cx="11693334" cy="0"/>
          </a:xfrm>
          <a:prstGeom prst="line">
            <a:avLst/>
          </a:prstGeom>
          <a:ln w="12700">
            <a:solidFill>
              <a:srgbClr val="2E8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0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FAE8-8D7A-F074-2134-9682EE43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1CD5AD09-E3DB-FD0F-DE76-246BC887771B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2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F4319C-98CC-C3D9-2164-3746822C01A8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추진내용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09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D5E9-616E-19E5-67EF-12ED72C9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964614F3-87CC-1AF7-BAF6-5BB996B951AF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 계획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5537AB-79FF-51A7-8A12-FA1FBB13C93D}"/>
              </a:ext>
            </a:extLst>
          </p:cNvPr>
          <p:cNvGrpSpPr/>
          <p:nvPr/>
        </p:nvGrpSpPr>
        <p:grpSpPr>
          <a:xfrm>
            <a:off x="307077" y="1014829"/>
            <a:ext cx="11699762" cy="398045"/>
            <a:chOff x="445410" y="1014829"/>
            <a:chExt cx="11309892" cy="398045"/>
          </a:xfrm>
        </p:grpSpPr>
        <p:sp>
          <p:nvSpPr>
            <p:cNvPr id="4" name="모서리가 둥근 직사각형 71">
              <a:extLst>
                <a:ext uri="{FF2B5EF4-FFF2-40B4-BE49-F238E27FC236}">
                  <a16:creationId xmlns:a16="http://schemas.microsoft.com/office/drawing/2014/main" id="{2CD2AAE9-45BD-6D0A-7AF8-E978DEE0F63E}"/>
                </a:ext>
              </a:extLst>
            </p:cNvPr>
            <p:cNvSpPr/>
            <p:nvPr/>
          </p:nvSpPr>
          <p:spPr>
            <a:xfrm>
              <a:off x="445415" y="1014829"/>
              <a:ext cx="11303673" cy="39804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(3</a:t>
              </a:r>
              <a:r>
                <a:rPr lang="ko-KR" altLang="en-US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차년도 최종 목표 작성</a:t>
              </a:r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)</a:t>
              </a:r>
              <a:endParaRPr lang="ko-KR" altLang="en-US" sz="15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" name="양쪽 모서리가 둥근 사각형 72">
              <a:extLst>
                <a:ext uri="{FF2B5EF4-FFF2-40B4-BE49-F238E27FC236}">
                  <a16:creationId xmlns:a16="http://schemas.microsoft.com/office/drawing/2014/main" id="{1BB1268B-8AE5-4C09-B4BA-51FC257C06FB}"/>
                </a:ext>
              </a:extLst>
            </p:cNvPr>
            <p:cNvSpPr/>
            <p:nvPr/>
          </p:nvSpPr>
          <p:spPr>
            <a:xfrm rot="5400000">
              <a:off x="669633" y="858381"/>
              <a:ext cx="281753" cy="730200"/>
            </a:xfrm>
            <a:prstGeom prst="round2SameRect">
              <a:avLst>
                <a:gd name="adj1" fmla="val 25226"/>
                <a:gd name="adj2" fmla="val 0"/>
              </a:avLst>
            </a:prstGeom>
            <a:solidFill>
              <a:srgbClr val="2E86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72000" rIns="0" bIns="0" rtlCol="0" anchor="ctr"/>
            <a:lstStyle/>
            <a:p>
              <a:pPr algn="r"/>
              <a:r>
                <a:rPr lang="en-US" altLang="ko-KR" sz="140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차년도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2D5EA20-996E-CC66-1F02-16D87CD88C7F}"/>
                </a:ext>
              </a:extLst>
            </p:cNvPr>
            <p:cNvCxnSpPr/>
            <p:nvPr/>
          </p:nvCxnSpPr>
          <p:spPr>
            <a:xfrm>
              <a:off x="451628" y="1019810"/>
              <a:ext cx="11303674" cy="0"/>
            </a:xfrm>
            <a:prstGeom prst="line">
              <a:avLst/>
            </a:prstGeom>
            <a:ln w="12700">
              <a:solidFill>
                <a:srgbClr val="2E86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45A61F1-6DCF-D721-34BB-E088C2126E31}"/>
              </a:ext>
            </a:extLst>
          </p:cNvPr>
          <p:cNvCxnSpPr>
            <a:cxnSpLocks/>
          </p:cNvCxnSpPr>
          <p:nvPr/>
        </p:nvCxnSpPr>
        <p:spPr>
          <a:xfrm>
            <a:off x="307077" y="1412875"/>
            <a:ext cx="11693334" cy="0"/>
          </a:xfrm>
          <a:prstGeom prst="line">
            <a:avLst/>
          </a:prstGeom>
          <a:ln w="12700">
            <a:solidFill>
              <a:srgbClr val="2E8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위쪽 모서리의 한쪽은 둥글고 다른 한쪽은 잘림 1">
            <a:extLst>
              <a:ext uri="{FF2B5EF4-FFF2-40B4-BE49-F238E27FC236}">
                <a16:creationId xmlns:a16="http://schemas.microsoft.com/office/drawing/2014/main" id="{26A9E2AF-F7D9-2E17-F517-730979CDBF14}"/>
              </a:ext>
            </a:extLst>
          </p:cNvPr>
          <p:cNvSpPr/>
          <p:nvPr/>
        </p:nvSpPr>
        <p:spPr>
          <a:xfrm>
            <a:off x="5680265" y="1817433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정량 목표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6BFBE96-5D6A-4BDA-4C28-BB770EBA1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488150"/>
              </p:ext>
            </p:extLst>
          </p:nvPr>
        </p:nvGraphicFramePr>
        <p:xfrm>
          <a:off x="5680265" y="2141282"/>
          <a:ext cx="6320146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93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585435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72401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40717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정량적 평가 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평가 방법 및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F41836-47FA-1BCD-582A-FE93D1CFD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54587"/>
              </p:ext>
            </p:extLst>
          </p:nvPr>
        </p:nvGraphicFramePr>
        <p:xfrm>
          <a:off x="5680266" y="4513605"/>
          <a:ext cx="6320145" cy="1859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6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774083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278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연구개발성과</a:t>
                      </a:r>
                      <a:r>
                        <a:rPr lang="en-US" altLang="ko-KR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지표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및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목표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9864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90594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076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94854"/>
                  </a:ext>
                </a:extLst>
              </a:tr>
            </a:tbl>
          </a:graphicData>
        </a:graphic>
      </p:graphicFrame>
      <p:sp>
        <p:nvSpPr>
          <p:cNvPr id="16" name="사각형: 위쪽 모서리의 한쪽은 둥글고 다른 한쪽은 잘림 15">
            <a:extLst>
              <a:ext uri="{FF2B5EF4-FFF2-40B4-BE49-F238E27FC236}">
                <a16:creationId xmlns:a16="http://schemas.microsoft.com/office/drawing/2014/main" id="{8424F616-D5AF-75D2-8BF5-5AD50BBDBFAD}"/>
              </a:ext>
            </a:extLst>
          </p:cNvPr>
          <p:cNvSpPr/>
          <p:nvPr/>
        </p:nvSpPr>
        <p:spPr>
          <a:xfrm>
            <a:off x="5680266" y="4189756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성과지표 달성 목표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사각형: 위쪽 모서리의 한쪽은 둥글고 다른 한쪽은 잘림 16">
            <a:extLst>
              <a:ext uri="{FF2B5EF4-FFF2-40B4-BE49-F238E27FC236}">
                <a16:creationId xmlns:a16="http://schemas.microsoft.com/office/drawing/2014/main" id="{442B8C6E-35A1-BD63-7A65-43DD1AE95E9A}"/>
              </a:ext>
            </a:extLst>
          </p:cNvPr>
          <p:cNvSpPr/>
          <p:nvPr/>
        </p:nvSpPr>
        <p:spPr>
          <a:xfrm>
            <a:off x="313509" y="1629750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연구개발 목표 및 진행 현황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3B3B69A-B156-D435-1137-15412F913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25626"/>
              </p:ext>
            </p:extLst>
          </p:nvPr>
        </p:nvGraphicFramePr>
        <p:xfrm>
          <a:off x="313509" y="1953599"/>
          <a:ext cx="5103223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943347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58094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개발 항목 및 세부사항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825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39148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234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78226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678771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6072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09724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07726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240218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03920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7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5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0601-67A6-B8CC-F747-414F9BDE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B5E6072D-C434-273F-4734-9175A1D4E9E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디지털트윈 연계 철강 제조공정 탄소발자국 적용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사각형: 위쪽 모서리의 한쪽은 둥글고 다른 한쪽은 잘림 9">
            <a:extLst>
              <a:ext uri="{FF2B5EF4-FFF2-40B4-BE49-F238E27FC236}">
                <a16:creationId xmlns:a16="http://schemas.microsoft.com/office/drawing/2014/main" id="{B38311AF-CD77-50D3-78CA-9E241DAD5675}"/>
              </a:ext>
            </a:extLst>
          </p:cNvPr>
          <p:cNvSpPr/>
          <p:nvPr/>
        </p:nvSpPr>
        <p:spPr>
          <a:xfrm>
            <a:off x="313509" y="1155151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이슈사항 및 계획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D1A312-F01F-2060-5589-AD44CA592939}"/>
              </a:ext>
            </a:extLst>
          </p:cNvPr>
          <p:cNvSpPr/>
          <p:nvPr/>
        </p:nvSpPr>
        <p:spPr>
          <a:xfrm>
            <a:off x="313508" y="1478999"/>
            <a:ext cx="11564983" cy="5026303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C264EB-5245-80BC-54AE-D321CFDACFAF}"/>
              </a:ext>
            </a:extLst>
          </p:cNvPr>
          <p:cNvCxnSpPr>
            <a:stCxn id="11" idx="0"/>
            <a:endCxn id="11" idx="2"/>
          </p:cNvCxnSpPr>
          <p:nvPr/>
        </p:nvCxnSpPr>
        <p:spPr>
          <a:xfrm>
            <a:off x="6096000" y="1478999"/>
            <a:ext cx="0" cy="5026303"/>
          </a:xfrm>
          <a:prstGeom prst="line">
            <a:avLst/>
          </a:prstGeom>
          <a:ln>
            <a:solidFill>
              <a:srgbClr val="0E375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2403FA-B9D0-89D9-5DAE-60DACA9438EE}"/>
              </a:ext>
            </a:extLst>
          </p:cNvPr>
          <p:cNvSpPr txBox="1"/>
          <p:nvPr/>
        </p:nvSpPr>
        <p:spPr>
          <a:xfrm>
            <a:off x="513805" y="1633713"/>
            <a:ext cx="3396344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 작성</a:t>
            </a: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 작성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6B7E2-662D-CCA0-579E-EFEB6145A6D3}"/>
              </a:ext>
            </a:extLst>
          </p:cNvPr>
          <p:cNvSpPr txBox="1"/>
          <p:nvPr/>
        </p:nvSpPr>
        <p:spPr>
          <a:xfrm>
            <a:off x="6296297" y="1633712"/>
            <a:ext cx="3396344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해결방안 작성</a:t>
            </a: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해결방안 작성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790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0" name="타원 19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1" name="그룹 10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12" name="그룹 11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16" name="타원 15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13" name="직선 연결선 1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/>
          <p:cNvSpPr/>
          <p:nvPr/>
        </p:nvSpPr>
        <p:spPr>
          <a:xfrm>
            <a:off x="0" y="4705351"/>
            <a:ext cx="12192000" cy="215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917830" y="2119171"/>
            <a:ext cx="4730375" cy="2996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100" kern="0" dirty="0">
                <a:solidFill>
                  <a:schemeClr val="tx2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디지털트윈 연계 철강 제조공정 탄소발자국 적용 기술개발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2C165-6E60-6DBF-28B7-41FCC0621591}"/>
              </a:ext>
            </a:extLst>
          </p:cNvPr>
          <p:cNvSpPr txBox="1"/>
          <p:nvPr/>
        </p:nvSpPr>
        <p:spPr>
          <a:xfrm>
            <a:off x="863589" y="2495660"/>
            <a:ext cx="2630527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ko-KR" altLang="en-US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505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2AC459833A74945B5EFE8567900C65E" ma:contentTypeVersion="4" ma:contentTypeDescription="새 문서를 만듭니다." ma:contentTypeScope="" ma:versionID="ce02afafae21b1d0d731233b932c5c3f">
  <xsd:schema xmlns:xsd="http://www.w3.org/2001/XMLSchema" xmlns:xs="http://www.w3.org/2001/XMLSchema" xmlns:p="http://schemas.microsoft.com/office/2006/metadata/properties" xmlns:ns2="039b2f11-9960-4eed-939a-2bcc87bda58d" targetNamespace="http://schemas.microsoft.com/office/2006/metadata/properties" ma:root="true" ma:fieldsID="12139bfa12d76a92054789a432b57cf7" ns2:_="">
    <xsd:import namespace="039b2f11-9960-4eed-939a-2bcc87bda5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b2f11-9960-4eed-939a-2bcc87bda5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EB6DBF-D311-474F-9058-331052561C88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039b2f11-9960-4eed-939a-2bcc87bda58d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E44A06A-5468-4A75-BD62-2657E882D7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A2B0FD-9200-4953-81FF-164381D0A9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9b2f11-9960-4eed-939a-2bcc87bda5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12958</TotalTime>
  <Words>333</Words>
  <Application>Microsoft Office PowerPoint</Application>
  <PresentationFormat>와이드스크린</PresentationFormat>
  <Paragraphs>67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KoPubWorld돋움체 Bold</vt:lpstr>
      <vt:lpstr>KoPub돋움체 Bold</vt:lpstr>
      <vt:lpstr>KoPubWorld돋움체 Medium</vt:lpstr>
      <vt:lpstr>Wingdings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iscilab</dc:creator>
  <cp:lastModifiedBy>qlalf99 youjineoqkr</cp:lastModifiedBy>
  <cp:revision>360</cp:revision>
  <dcterms:created xsi:type="dcterms:W3CDTF">2024-04-08T08:23:55Z</dcterms:created>
  <dcterms:modified xsi:type="dcterms:W3CDTF">2026-03-13T04:54:05Z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0x01010012AC459833A74945B5EFE8567900C65E</vt:lpwstr>
  </property>
</Properties>
</file>
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347" r:id="rId3"/>
    <p:sldId id="361" r:id="rId4"/>
    <p:sldId id="358" r:id="rId5"/>
    <p:sldId id="359" r:id="rId6"/>
    <p:sldId id="360" r:id="rId7"/>
    <p:sldId id="362" r:id="rId8"/>
    <p:sldId id="263" r:id="rId9"/>
  </p:sldIdLst>
  <p:sldSz cx="12192000" cy="6858000"/>
  <p:notesSz cx="6858000" cy="9144000"/>
  <p:embeddedFontLst>
    <p:embeddedFont>
      <p:font typeface="KoPubWorld돋움체 Bold" panose="00000800000000000000" pitchFamily="2" charset="-127"/>
      <p:bold r:id="rId12"/>
    </p:embeddedFont>
    <p:embeddedFont>
      <p:font typeface="KoPubWorld돋움체 Medium" panose="00000600000000000000" pitchFamily="2" charset="-127"/>
      <p:regular r:id="rId13"/>
    </p:embeddedFont>
    <p:embeddedFont>
      <p:font typeface="KoPub돋움체 Bold" panose="00000800000000000000" pitchFamily="2" charset="-127"/>
      <p:regular r:id="rId14"/>
      <p:bold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7401" userDrawn="1">
          <p15:clr>
            <a:srgbClr val="A4A3A4"/>
          </p15:clr>
        </p15:guide>
        <p15:guide id="3" pos="279" userDrawn="1">
          <p15:clr>
            <a:srgbClr val="A4A3A4"/>
          </p15:clr>
        </p15:guide>
        <p15:guide id="4" orient="horz" pos="890" userDrawn="1">
          <p15:clr>
            <a:srgbClr val="A4A3A4"/>
          </p15:clr>
        </p15:guide>
        <p15:guide id="5" orient="horz" pos="39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004E9A"/>
    <a:srgbClr val="717B84"/>
    <a:srgbClr val="FF9933"/>
    <a:srgbClr val="015765"/>
    <a:srgbClr val="6890AD"/>
    <a:srgbClr val="D9D9D9"/>
    <a:srgbClr val="5EADB0"/>
    <a:srgbClr val="55AE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5925" autoAdjust="0"/>
  </p:normalViewPr>
  <p:slideViewPr>
    <p:cSldViewPr snapToGrid="0">
      <p:cViewPr varScale="1">
        <p:scale>
          <a:sx n="110" d="100"/>
          <a:sy n="110" d="100"/>
        </p:scale>
        <p:origin x="678" y="96"/>
      </p:cViewPr>
      <p:guideLst>
        <p:guide orient="horz" pos="686"/>
        <p:guide pos="7401"/>
        <p:guide pos="279"/>
        <p:guide orient="horz" pos="890"/>
        <p:guide orient="horz" pos="39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94B3C-21DC-4CAC-8F48-87DD41E8421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12559-7224-48D1-9719-661B63C344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730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C1FD7-4A44-41D8-9CE9-B0F5FEAAD3B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A9B3B1-39B2-4E29-97FE-3CBB38EF38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909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86" b="164"/>
          <a:stretch/>
        </p:blipFill>
        <p:spPr>
          <a:xfrm>
            <a:off x="0" y="-9525"/>
            <a:ext cx="12192000" cy="686752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0" y="-9526"/>
            <a:ext cx="12192000" cy="686752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188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94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grayscl/>
          </a:blip>
          <a:stretch>
            <a:fillRect/>
          </a:stretch>
        </p:blipFill>
        <p:spPr>
          <a:xfrm>
            <a:off x="-529" y="-6394"/>
            <a:ext cx="12193057" cy="687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8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381067" y="6473825"/>
            <a:ext cx="2743200" cy="365125"/>
          </a:xfrm>
        </p:spPr>
        <p:txBody>
          <a:bodyPr/>
          <a:lstStyle>
            <a:lvl1pPr algn="r"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fld id="{372089FB-EC38-4E50-B47B-C4C06324D64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-1"/>
            <a:ext cx="12192000" cy="885691"/>
            <a:chOff x="0" y="-1"/>
            <a:chExt cx="12192000" cy="885691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535" b="35355"/>
            <a:stretch/>
          </p:blipFill>
          <p:spPr>
            <a:xfrm>
              <a:off x="10100787" y="0"/>
              <a:ext cx="2091213" cy="885690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 rot="10800000">
              <a:off x="0" y="-1"/>
              <a:ext cx="10100787" cy="885689"/>
            </a:xfrm>
            <a:prstGeom prst="rect">
              <a:avLst/>
            </a:prstGeom>
            <a:solidFill>
              <a:srgbClr val="0A14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rot="10800000">
              <a:off x="10100787" y="0"/>
              <a:ext cx="2091213" cy="885689"/>
            </a:xfrm>
            <a:prstGeom prst="rect">
              <a:avLst/>
            </a:prstGeom>
            <a:gradFill>
              <a:gsLst>
                <a:gs pos="0">
                  <a:srgbClr val="0C294B">
                    <a:alpha val="10000"/>
                  </a:srgbClr>
                </a:gs>
                <a:gs pos="100000">
                  <a:srgbClr val="000000">
                    <a:alpha val="9000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357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510746" y="1136822"/>
            <a:ext cx="10964562" cy="5040141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26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222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989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02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260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88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624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92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742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tiff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4A6F0B9-8547-9CAE-C1B0-B0E63CBB20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747" r="39498" b="22220"/>
          <a:stretch/>
        </p:blipFill>
        <p:spPr>
          <a:xfrm>
            <a:off x="612813" y="-1"/>
            <a:ext cx="6644991" cy="5039361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702161" y="1117209"/>
            <a:ext cx="6152515" cy="21064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24000" indent="-1524000" fontAlgn="base">
              <a:lnSpc>
                <a:spcPct val="130000"/>
              </a:lnSpc>
              <a:tabLst>
                <a:tab pos="1433513" algn="l"/>
              </a:tabLst>
            </a:pPr>
            <a:r>
              <a:rPr lang="en-US" altLang="ko-KR" sz="3600" kern="0" dirty="0">
                <a:solidFill>
                  <a:schemeClr val="bg1"/>
                </a:solidFill>
                <a:effectLst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(3</a:t>
            </a:r>
            <a:r>
              <a:rPr lang="ko-KR" altLang="en-US" sz="3600" kern="0" dirty="0">
                <a:solidFill>
                  <a:schemeClr val="bg1"/>
                </a:solidFill>
                <a:effectLst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세부</a:t>
            </a:r>
            <a:r>
              <a:rPr lang="en-US" altLang="ko-KR" sz="3600" kern="0" dirty="0">
                <a:solidFill>
                  <a:schemeClr val="bg1"/>
                </a:solidFill>
                <a:effectLst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lang="ko-KR" altLang="en-US" sz="3600" kern="0" dirty="0">
                <a:solidFill>
                  <a:schemeClr val="bg1"/>
                </a:solidFill>
                <a:effectLst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탄소발자국 검인증 표준화 및 검수 기술개발</a:t>
            </a:r>
            <a:endParaRPr lang="en-US" altLang="ko-KR" sz="3600" kern="0" dirty="0">
              <a:solidFill>
                <a:schemeClr val="bg1"/>
              </a:solidFill>
              <a:effectLst/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1524000" indent="-1524000" algn="ctr" fontAlgn="base">
              <a:lnSpc>
                <a:spcPct val="130000"/>
              </a:lnSpc>
              <a:tabLst>
                <a:tab pos="1433513" algn="l"/>
              </a:tabLst>
            </a:pPr>
            <a:r>
              <a:rPr lang="en-US" altLang="ko-KR" sz="3600" kern="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r>
              <a:rPr lang="ko-KR" altLang="en-US" sz="3600" kern="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차년도 성과보고회의</a:t>
            </a:r>
            <a:endParaRPr lang="en-US" altLang="ko-KR" sz="3600" kern="0" dirty="0">
              <a:solidFill>
                <a:schemeClr val="bg1"/>
              </a:solidFill>
              <a:effectLst/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2C5B95F-6D79-113C-685E-C322CABC59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747" r="39498" b="22220"/>
          <a:stretch/>
        </p:blipFill>
        <p:spPr>
          <a:xfrm>
            <a:off x="515939" y="5253983"/>
            <a:ext cx="6201993" cy="465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C144D3-E834-D44D-7C1A-A43A35C1170C}"/>
              </a:ext>
            </a:extLst>
          </p:cNvPr>
          <p:cNvSpPr txBox="1"/>
          <p:nvPr/>
        </p:nvSpPr>
        <p:spPr>
          <a:xfrm>
            <a:off x="677416" y="4126399"/>
            <a:ext cx="5918118" cy="6524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주관기관 </a:t>
            </a:r>
            <a:r>
              <a:rPr lang="en-US" altLang="ko-KR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: </a:t>
            </a:r>
            <a:r>
              <a:rPr lang="ko-KR" altLang="en-US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㈜아이싸이랩</a:t>
            </a:r>
            <a:endParaRPr lang="en-US" altLang="ko-KR" sz="1400" spc="-50" dirty="0">
              <a:ln>
                <a:solidFill>
                  <a:srgbClr val="3C373D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공동연구개발기관 </a:t>
            </a:r>
            <a:r>
              <a:rPr lang="en-US" altLang="ko-KR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: </a:t>
            </a:r>
            <a:r>
              <a:rPr lang="ko-KR" altLang="en-US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㈜</a:t>
            </a:r>
            <a:r>
              <a:rPr lang="ko-KR" altLang="en-US" sz="1200" spc="-50" dirty="0" err="1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와이뎁</a:t>
            </a:r>
            <a:r>
              <a:rPr lang="en-US" altLang="ko-KR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㈜카본사우루스</a:t>
            </a:r>
            <a:r>
              <a:rPr lang="en-US" altLang="ko-KR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200" spc="-50" dirty="0" err="1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리얼라이저블</a:t>
            </a:r>
            <a:r>
              <a:rPr lang="ko-KR" altLang="en-US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㈜</a:t>
            </a:r>
            <a:r>
              <a:rPr lang="en-US" altLang="ko-KR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동아대학교 </a:t>
            </a:r>
            <a:r>
              <a:rPr lang="ko-KR" altLang="en-US" sz="1200" spc="-50" dirty="0" err="1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산학협력단</a:t>
            </a:r>
            <a:endParaRPr lang="en-US" altLang="ko-KR" sz="1200" dirty="0">
              <a:ln>
                <a:solidFill>
                  <a:srgbClr val="3C373D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0" y="6345238"/>
            <a:ext cx="12192000" cy="5127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그룹 39"/>
          <p:cNvGrpSpPr/>
          <p:nvPr/>
        </p:nvGrpSpPr>
        <p:grpSpPr>
          <a:xfrm>
            <a:off x="7735969" y="1309313"/>
            <a:ext cx="3068567" cy="3067712"/>
            <a:chOff x="7742377" y="1212890"/>
            <a:chExt cx="3068567" cy="3067712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35" name="그룹 34"/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6" name="타원 25"/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8" name="그림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37" name="그룹 36"/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27" name="타원 26"/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9" name="그림 28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39" name="그룹 38"/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21" name="타원 20"/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0" name="그림 29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33" name="직선 연결선 32"/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612813" y="6399237"/>
            <a:ext cx="10966375" cy="388252"/>
            <a:chOff x="515939" y="6442967"/>
            <a:chExt cx="9731199" cy="34452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C4A6F7D-F828-9528-CDAC-BBBD5BA80B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37028" b="31790"/>
            <a:stretch/>
          </p:blipFill>
          <p:spPr>
            <a:xfrm>
              <a:off x="515939" y="6468527"/>
              <a:ext cx="1017586" cy="317303"/>
            </a:xfrm>
            <a:prstGeom prst="rect">
              <a:avLst/>
            </a:prstGeom>
          </p:spPr>
        </p:pic>
        <p:pic>
          <p:nvPicPr>
            <p:cNvPr id="4" name="Picture 2" descr="카본사우루스 기업정보 - 넥스트유니콘">
              <a:extLst>
                <a:ext uri="{FF2B5EF4-FFF2-40B4-BE49-F238E27FC236}">
                  <a16:creationId xmlns:a16="http://schemas.microsoft.com/office/drawing/2014/main" id="{C9844267-6394-56F1-3AD9-C22FAF9947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77" t="29537" r="8233" b="34821"/>
            <a:stretch/>
          </p:blipFill>
          <p:spPr bwMode="auto">
            <a:xfrm>
              <a:off x="2323950" y="6442967"/>
              <a:ext cx="1327696" cy="3173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동아대학교 산학협력단">
              <a:extLst>
                <a:ext uri="{FF2B5EF4-FFF2-40B4-BE49-F238E27FC236}">
                  <a16:creationId xmlns:a16="http://schemas.microsoft.com/office/drawing/2014/main" id="{37F200AC-AC91-FF4D-5AB3-0F16FABFF5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2071" y="6468527"/>
              <a:ext cx="1970414" cy="3173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6" descr="Vol.72">
              <a:extLst>
                <a:ext uri="{FF2B5EF4-FFF2-40B4-BE49-F238E27FC236}">
                  <a16:creationId xmlns:a16="http://schemas.microsoft.com/office/drawing/2014/main" id="{CC8259DF-18B2-8802-FFEB-A8B96EEA4C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2910" y="6448294"/>
              <a:ext cx="1017586" cy="3391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0923" y="6501712"/>
              <a:ext cx="1236215" cy="199811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3BD4361-2E63-D97B-2558-840D42D987B0}"/>
              </a:ext>
            </a:extLst>
          </p:cNvPr>
          <p:cNvSpPr txBox="1"/>
          <p:nvPr/>
        </p:nvSpPr>
        <p:spPr>
          <a:xfrm>
            <a:off x="1099054" y="3418536"/>
            <a:ext cx="5918118" cy="3562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4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2026.03.19</a:t>
            </a:r>
            <a:endParaRPr lang="en-US" altLang="ko-KR" sz="1200" dirty="0">
              <a:ln>
                <a:solidFill>
                  <a:srgbClr val="3C373D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702714C-8E12-845A-CB38-F44F41A7E92B}"/>
              </a:ext>
            </a:extLst>
          </p:cNvPr>
          <p:cNvSpPr/>
          <p:nvPr/>
        </p:nvSpPr>
        <p:spPr>
          <a:xfrm>
            <a:off x="685384" y="1007718"/>
            <a:ext cx="6466947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299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5E664-E5DD-DD72-B581-71BC76096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9B22C2C5-34A5-86FA-4E42-2999F3C68D23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(3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탄소발자국 검인증 표준화 및 검수 기술개발</a:t>
            </a:r>
            <a:endParaRPr lang="en-US" altLang="ko-KR" sz="1400">
              <a:solidFill>
                <a:schemeClr val="bg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(</a:t>
            </a: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최종 목표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24487E7-E849-DD65-275A-B5F208145C0D}"/>
              </a:ext>
            </a:extLst>
          </p:cNvPr>
          <p:cNvSpPr/>
          <p:nvPr/>
        </p:nvSpPr>
        <p:spPr>
          <a:xfrm>
            <a:off x="4676503" y="2778034"/>
            <a:ext cx="2838994" cy="148916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자유 양식</a:t>
            </a:r>
            <a:endParaRPr lang="en-US" altLang="ko-KR" sz="280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endParaRPr lang="en-US" altLang="ko-KR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 최종 목표</a:t>
            </a:r>
            <a:r>
              <a:rPr lang="en-US" altLang="ko-KR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9938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DAE23-B79E-C963-9D46-9C148DDC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AE392C75-AA46-CFDA-2033-3BBF3BBD85D6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(3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탄소발자국 검인증 표준화 및 검수 기술개발</a:t>
            </a:r>
            <a:endParaRPr lang="en-US" altLang="ko-KR" sz="1400">
              <a:solidFill>
                <a:schemeClr val="bg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</a:t>
            </a:r>
            <a:r>
              <a:rPr lang="ko-KR" altLang="en-US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연차별 연구개발 내용</a:t>
            </a:r>
            <a:endParaRPr kumimoji="1" lang="ko-KR" altLang="en-US" sz="2000" b="0" i="0" u="none" strike="noStrike" kern="1200" cap="none" spc="-50" normalizeH="0" baseline="0" noProof="0">
              <a:ln>
                <a:solidFill>
                  <a:srgbClr val="0D3896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F725C1-9FDF-42B1-3EE8-69E9AF3A8427}"/>
              </a:ext>
            </a:extLst>
          </p:cNvPr>
          <p:cNvSpPr/>
          <p:nvPr/>
        </p:nvSpPr>
        <p:spPr>
          <a:xfrm>
            <a:off x="4676503" y="2778034"/>
            <a:ext cx="2838994" cy="148916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자유 양식</a:t>
            </a:r>
            <a:endParaRPr lang="en-US" altLang="ko-KR" sz="280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endParaRPr lang="en-US" altLang="ko-KR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연차별 연구개발 내용</a:t>
            </a:r>
            <a:r>
              <a:rPr lang="en-US" altLang="ko-KR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464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599-296C-0A81-3362-F5E089AA6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AECA3EAA-DD75-BBDF-32E8-026C26931528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(3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탄소발자국 검인증 표준화 및 검수 기술개발</a:t>
            </a:r>
            <a:endParaRPr lang="en-US" altLang="ko-KR" sz="1400">
              <a:solidFill>
                <a:schemeClr val="bg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2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추진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성과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결과</a:t>
            </a:r>
          </a:p>
        </p:txBody>
      </p:sp>
      <p:sp>
        <p:nvSpPr>
          <p:cNvPr id="2" name="사각형: 위쪽 모서리의 한쪽은 둥글고 다른 한쪽은 잘림 1">
            <a:extLst>
              <a:ext uri="{FF2B5EF4-FFF2-40B4-BE49-F238E27FC236}">
                <a16:creationId xmlns:a16="http://schemas.microsoft.com/office/drawing/2014/main" id="{A1A0881A-D298-B293-ECE3-E281994963A3}"/>
              </a:ext>
            </a:extLst>
          </p:cNvPr>
          <p:cNvSpPr/>
          <p:nvPr/>
        </p:nvSpPr>
        <p:spPr>
          <a:xfrm>
            <a:off x="5680265" y="1856640"/>
            <a:ext cx="3126377" cy="32384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A1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(2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</a:t>
            </a:r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정량 목표 </a:t>
            </a:r>
            <a:r>
              <a:rPr lang="ko-KR" altLang="en-US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및 달성 현황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9946D56-F800-A04D-569E-8311BFA64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11953"/>
              </p:ext>
            </p:extLst>
          </p:nvPr>
        </p:nvGraphicFramePr>
        <p:xfrm>
          <a:off x="5680265" y="2180489"/>
          <a:ext cx="6320146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593">
                  <a:extLst>
                    <a:ext uri="{9D8B030D-6E8A-4147-A177-3AD203B41FA5}">
                      <a16:colId xmlns:a16="http://schemas.microsoft.com/office/drawing/2014/main" val="3176978928"/>
                    </a:ext>
                  </a:extLst>
                </a:gridCol>
                <a:gridCol w="2585435">
                  <a:extLst>
                    <a:ext uri="{9D8B030D-6E8A-4147-A177-3AD203B41FA5}">
                      <a16:colId xmlns:a16="http://schemas.microsoft.com/office/drawing/2014/main" val="892133323"/>
                    </a:ext>
                  </a:extLst>
                </a:gridCol>
                <a:gridCol w="972401">
                  <a:extLst>
                    <a:ext uri="{9D8B030D-6E8A-4147-A177-3AD203B41FA5}">
                      <a16:colId xmlns:a16="http://schemas.microsoft.com/office/drawing/2014/main" val="4060711680"/>
                    </a:ext>
                  </a:extLst>
                </a:gridCol>
                <a:gridCol w="1140717">
                  <a:extLst>
                    <a:ext uri="{9D8B030D-6E8A-4147-A177-3AD203B41FA5}">
                      <a16:colId xmlns:a16="http://schemas.microsoft.com/office/drawing/2014/main" val="3611684256"/>
                    </a:ext>
                  </a:extLst>
                </a:gridCol>
              </a:tblGrid>
              <a:tr h="168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정량적 평가 항목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평가 방법 및 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수행 기관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달성 현황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014211"/>
                  </a:ext>
                </a:extLst>
              </a:tr>
              <a:tr h="2452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13997"/>
                  </a:ext>
                </a:extLst>
              </a:tr>
              <a:tr h="19129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8900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227182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3053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296589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F4EA260-EEE0-510A-619D-A89E6F9BF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584617"/>
              </p:ext>
            </p:extLst>
          </p:nvPr>
        </p:nvGraphicFramePr>
        <p:xfrm>
          <a:off x="5680266" y="4552812"/>
          <a:ext cx="6320145" cy="1859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662">
                  <a:extLst>
                    <a:ext uri="{9D8B030D-6E8A-4147-A177-3AD203B41FA5}">
                      <a16:colId xmlns:a16="http://schemas.microsoft.com/office/drawing/2014/main" val="3176978928"/>
                    </a:ext>
                  </a:extLst>
                </a:gridCol>
                <a:gridCol w="2184449">
                  <a:extLst>
                    <a:ext uri="{9D8B030D-6E8A-4147-A177-3AD203B41FA5}">
                      <a16:colId xmlns:a16="http://schemas.microsoft.com/office/drawing/2014/main" val="892133323"/>
                    </a:ext>
                  </a:extLst>
                </a:gridCol>
                <a:gridCol w="1500698">
                  <a:extLst>
                    <a:ext uri="{9D8B030D-6E8A-4147-A177-3AD203B41FA5}">
                      <a16:colId xmlns:a16="http://schemas.microsoft.com/office/drawing/2014/main" val="4060711680"/>
                    </a:ext>
                  </a:extLst>
                </a:gridCol>
                <a:gridCol w="1527336">
                  <a:extLst>
                    <a:ext uri="{9D8B030D-6E8A-4147-A177-3AD203B41FA5}">
                      <a16:colId xmlns:a16="http://schemas.microsoft.com/office/drawing/2014/main" val="3611684256"/>
                    </a:ext>
                  </a:extLst>
                </a:gridCol>
              </a:tblGrid>
              <a:tr h="278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수행 기관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연구개발성과</a:t>
                      </a:r>
                      <a:r>
                        <a:rPr lang="en-US" altLang="ko-KR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</a:t>
                      </a:r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지표 </a:t>
                      </a:r>
                      <a:r>
                        <a:rPr lang="ko-KR" altLang="en-US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및 목표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2</a:t>
                      </a:r>
                      <a:r>
                        <a:rPr lang="ko-KR" altLang="en-US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차년도 목표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2</a:t>
                      </a:r>
                      <a:r>
                        <a:rPr lang="ko-KR" altLang="en-US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차년도 달성 현황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014211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13997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89007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298647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890594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560761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494854"/>
                  </a:ext>
                </a:extLst>
              </a:tr>
            </a:tbl>
          </a:graphicData>
        </a:graphic>
      </p:graphicFrame>
      <p:sp>
        <p:nvSpPr>
          <p:cNvPr id="5" name="사각형: 위쪽 모서리의 한쪽은 둥글고 다른 한쪽은 잘림 4">
            <a:extLst>
              <a:ext uri="{FF2B5EF4-FFF2-40B4-BE49-F238E27FC236}">
                <a16:creationId xmlns:a16="http://schemas.microsoft.com/office/drawing/2014/main" id="{8150B19E-70BE-A012-ED95-D145EE45C635}"/>
              </a:ext>
            </a:extLst>
          </p:cNvPr>
          <p:cNvSpPr/>
          <p:nvPr/>
        </p:nvSpPr>
        <p:spPr>
          <a:xfrm>
            <a:off x="5680266" y="4228963"/>
            <a:ext cx="3126377" cy="32384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A1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3. (2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</a:t>
            </a:r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성과지표 달성 현황 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사각형: 위쪽 모서리의 한쪽은 둥글고 다른 한쪽은 잘림 5">
            <a:extLst>
              <a:ext uri="{FF2B5EF4-FFF2-40B4-BE49-F238E27FC236}">
                <a16:creationId xmlns:a16="http://schemas.microsoft.com/office/drawing/2014/main" id="{1A600A7E-CC96-73AC-4332-95958BD41C7E}"/>
              </a:ext>
            </a:extLst>
          </p:cNvPr>
          <p:cNvSpPr/>
          <p:nvPr/>
        </p:nvSpPr>
        <p:spPr>
          <a:xfrm>
            <a:off x="313509" y="1668957"/>
            <a:ext cx="5103223" cy="32384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A1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1. (2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</a:t>
            </a:r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연구개발 최종 목표 및 달성 현황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C082980-5246-2253-D12A-AB41AD88EBA0}"/>
              </a:ext>
            </a:extLst>
          </p:cNvPr>
          <p:cNvGraphicFramePr>
            <a:graphicFrameLocks noGrp="1"/>
          </p:cNvGraphicFramePr>
          <p:nvPr/>
        </p:nvGraphicFramePr>
        <p:xfrm>
          <a:off x="313509" y="1992806"/>
          <a:ext cx="5103223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782">
                  <a:extLst>
                    <a:ext uri="{9D8B030D-6E8A-4147-A177-3AD203B41FA5}">
                      <a16:colId xmlns:a16="http://schemas.microsoft.com/office/drawing/2014/main" val="3176978928"/>
                    </a:ext>
                  </a:extLst>
                </a:gridCol>
                <a:gridCol w="2943347">
                  <a:extLst>
                    <a:ext uri="{9D8B030D-6E8A-4147-A177-3AD203B41FA5}">
                      <a16:colId xmlns:a16="http://schemas.microsoft.com/office/drawing/2014/main" val="892133323"/>
                    </a:ext>
                  </a:extLst>
                </a:gridCol>
                <a:gridCol w="958094">
                  <a:extLst>
                    <a:ext uri="{9D8B030D-6E8A-4147-A177-3AD203B41FA5}">
                      <a16:colId xmlns:a16="http://schemas.microsoft.com/office/drawing/2014/main" val="4060711680"/>
                    </a:ext>
                  </a:extLst>
                </a:gridCol>
              </a:tblGrid>
              <a:tr h="168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연구개발 기관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개발 항목 및 세부사항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달성 현황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014211"/>
                  </a:ext>
                </a:extLst>
              </a:tr>
              <a:tr h="2452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13997"/>
                  </a:ext>
                </a:extLst>
              </a:tr>
              <a:tr h="19129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8900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227182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3053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296589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282579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39148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723479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782263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678771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76072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809724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107726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240218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103920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817768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6DC087BF-885C-9E51-AB9B-BC87B6DDA3CD}"/>
              </a:ext>
            </a:extLst>
          </p:cNvPr>
          <p:cNvGrpSpPr/>
          <p:nvPr/>
        </p:nvGrpSpPr>
        <p:grpSpPr>
          <a:xfrm>
            <a:off x="307077" y="1014829"/>
            <a:ext cx="11699762" cy="398045"/>
            <a:chOff x="445410" y="1014829"/>
            <a:chExt cx="11309892" cy="398045"/>
          </a:xfrm>
        </p:grpSpPr>
        <p:sp>
          <p:nvSpPr>
            <p:cNvPr id="11" name="모서리가 둥근 직사각형 71">
              <a:extLst>
                <a:ext uri="{FF2B5EF4-FFF2-40B4-BE49-F238E27FC236}">
                  <a16:creationId xmlns:a16="http://schemas.microsoft.com/office/drawing/2014/main" id="{544E5AA6-E49F-9F3C-C50E-A0534169D80C}"/>
                </a:ext>
              </a:extLst>
            </p:cNvPr>
            <p:cNvSpPr/>
            <p:nvPr/>
          </p:nvSpPr>
          <p:spPr>
            <a:xfrm>
              <a:off x="445415" y="1014829"/>
              <a:ext cx="11303673" cy="39804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/>
              <a:r>
                <a:rPr lang="en-US" altLang="ko-KR" sz="150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(2</a:t>
              </a:r>
              <a:r>
                <a:rPr lang="ko-KR" altLang="en-US" sz="150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차년도 최종 목표 작성</a:t>
              </a:r>
              <a:r>
                <a:rPr lang="en-US" altLang="ko-KR" sz="150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)</a:t>
              </a:r>
              <a:endParaRPr lang="ko-KR" altLang="en-US" sz="15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12" name="양쪽 모서리가 둥근 사각형 72">
              <a:extLst>
                <a:ext uri="{FF2B5EF4-FFF2-40B4-BE49-F238E27FC236}">
                  <a16:creationId xmlns:a16="http://schemas.microsoft.com/office/drawing/2014/main" id="{ADE2D230-FAC8-3B73-5D94-F8F94016EEDD}"/>
                </a:ext>
              </a:extLst>
            </p:cNvPr>
            <p:cNvSpPr/>
            <p:nvPr/>
          </p:nvSpPr>
          <p:spPr>
            <a:xfrm rot="5400000">
              <a:off x="669633" y="858381"/>
              <a:ext cx="281753" cy="730200"/>
            </a:xfrm>
            <a:prstGeom prst="round2SameRect">
              <a:avLst>
                <a:gd name="adj1" fmla="val 25226"/>
                <a:gd name="adj2" fmla="val 0"/>
              </a:avLst>
            </a:prstGeom>
            <a:solidFill>
              <a:srgbClr val="2E86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36000" tIns="72000" rIns="0" bIns="0" rtlCol="0" anchor="ctr"/>
            <a:lstStyle/>
            <a:p>
              <a:pPr algn="r"/>
              <a:r>
                <a:rPr lang="en-US" altLang="ko-KR" sz="1400"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2</a:t>
              </a:r>
              <a:r>
                <a:rPr lang="ko-KR" altLang="en-US" sz="1400"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차년도</a:t>
              </a:r>
              <a:endParaRPr lang="ko-KR" altLang="en-US" sz="14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7DB73E6-B9C2-2E7D-AC02-91072ED00AC2}"/>
                </a:ext>
              </a:extLst>
            </p:cNvPr>
            <p:cNvCxnSpPr/>
            <p:nvPr/>
          </p:nvCxnSpPr>
          <p:spPr>
            <a:xfrm>
              <a:off x="451628" y="1019810"/>
              <a:ext cx="11303674" cy="0"/>
            </a:xfrm>
            <a:prstGeom prst="line">
              <a:avLst/>
            </a:prstGeom>
            <a:ln w="12700">
              <a:solidFill>
                <a:srgbClr val="2E86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AD49C3D-C879-5F01-F082-089259A15779}"/>
              </a:ext>
            </a:extLst>
          </p:cNvPr>
          <p:cNvCxnSpPr>
            <a:cxnSpLocks/>
          </p:cNvCxnSpPr>
          <p:nvPr/>
        </p:nvCxnSpPr>
        <p:spPr>
          <a:xfrm>
            <a:off x="307077" y="1412875"/>
            <a:ext cx="11693334" cy="0"/>
          </a:xfrm>
          <a:prstGeom prst="line">
            <a:avLst/>
          </a:prstGeom>
          <a:ln w="12700">
            <a:solidFill>
              <a:srgbClr val="2E86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309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BFAE8-8D7A-F074-2134-9682EE43C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1CD5AD09-E3DB-FD0F-DE76-246BC887771B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(3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탄소발자국 검인증 표준화 및 검수 기술개발</a:t>
            </a:r>
            <a:endParaRPr lang="en-US" altLang="ko-KR" sz="1400">
              <a:solidFill>
                <a:schemeClr val="bg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2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주요 추진내용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F4319C-98CC-C3D9-2164-3746822C01A8}"/>
              </a:ext>
            </a:extLst>
          </p:cNvPr>
          <p:cNvSpPr/>
          <p:nvPr/>
        </p:nvSpPr>
        <p:spPr>
          <a:xfrm>
            <a:off x="4676503" y="2778034"/>
            <a:ext cx="2838994" cy="148916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자유 양식</a:t>
            </a:r>
            <a:endParaRPr lang="en-US" altLang="ko-KR" sz="280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endParaRPr lang="en-US" altLang="ko-KR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</a:t>
            </a:r>
            <a:r>
              <a:rPr lang="ko-KR" altLang="en-US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주요 추진내용</a:t>
            </a:r>
            <a:r>
              <a:rPr lang="en-US" altLang="ko-KR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1098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6D5E9-616E-19E5-67EF-12ED72C9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964614F3-87CC-1AF7-BAF6-5BB996B951AF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(3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탄소발자국 검인증 표준화 및 검수 기술개발</a:t>
            </a:r>
            <a:endParaRPr lang="en-US" altLang="ko-KR" sz="1400">
              <a:solidFill>
                <a:schemeClr val="bg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추진 계획</a:t>
            </a:r>
            <a:endParaRPr kumimoji="1" lang="ko-KR" altLang="en-US" sz="2000" b="0" i="0" u="none" strike="noStrike" kern="1200" cap="none" spc="-50" normalizeH="0" baseline="0" noProof="0">
              <a:ln>
                <a:solidFill>
                  <a:srgbClr val="0D3896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25537AB-79FF-51A7-8A12-FA1FBB13C93D}"/>
              </a:ext>
            </a:extLst>
          </p:cNvPr>
          <p:cNvGrpSpPr/>
          <p:nvPr/>
        </p:nvGrpSpPr>
        <p:grpSpPr>
          <a:xfrm>
            <a:off x="307077" y="1014829"/>
            <a:ext cx="11699762" cy="398045"/>
            <a:chOff x="445410" y="1014829"/>
            <a:chExt cx="11309892" cy="398045"/>
          </a:xfrm>
        </p:grpSpPr>
        <p:sp>
          <p:nvSpPr>
            <p:cNvPr id="4" name="모서리가 둥근 직사각형 71">
              <a:extLst>
                <a:ext uri="{FF2B5EF4-FFF2-40B4-BE49-F238E27FC236}">
                  <a16:creationId xmlns:a16="http://schemas.microsoft.com/office/drawing/2014/main" id="{2CD2AAE9-45BD-6D0A-7AF8-E978DEE0F63E}"/>
                </a:ext>
              </a:extLst>
            </p:cNvPr>
            <p:cNvSpPr/>
            <p:nvPr/>
          </p:nvSpPr>
          <p:spPr>
            <a:xfrm>
              <a:off x="445415" y="1014829"/>
              <a:ext cx="11303673" cy="39804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/>
              <a:r>
                <a:rPr lang="en-US" altLang="ko-KR" sz="150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(3</a:t>
              </a:r>
              <a:r>
                <a:rPr lang="ko-KR" altLang="en-US" sz="150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차년도 최종 목표 작성</a:t>
              </a:r>
              <a:r>
                <a:rPr lang="en-US" altLang="ko-KR" sz="150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)</a:t>
              </a:r>
              <a:endParaRPr lang="ko-KR" altLang="en-US" sz="15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5" name="양쪽 모서리가 둥근 사각형 72">
              <a:extLst>
                <a:ext uri="{FF2B5EF4-FFF2-40B4-BE49-F238E27FC236}">
                  <a16:creationId xmlns:a16="http://schemas.microsoft.com/office/drawing/2014/main" id="{1BB1268B-8AE5-4C09-B4BA-51FC257C06FB}"/>
                </a:ext>
              </a:extLst>
            </p:cNvPr>
            <p:cNvSpPr/>
            <p:nvPr/>
          </p:nvSpPr>
          <p:spPr>
            <a:xfrm rot="5400000">
              <a:off x="669633" y="858381"/>
              <a:ext cx="281753" cy="730200"/>
            </a:xfrm>
            <a:prstGeom prst="round2SameRect">
              <a:avLst>
                <a:gd name="adj1" fmla="val 25226"/>
                <a:gd name="adj2" fmla="val 0"/>
              </a:avLst>
            </a:prstGeom>
            <a:solidFill>
              <a:srgbClr val="2E86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36000" tIns="72000" rIns="0" bIns="0" rtlCol="0" anchor="ctr"/>
            <a:lstStyle/>
            <a:p>
              <a:pPr algn="r"/>
              <a:r>
                <a:rPr lang="en-US" altLang="ko-KR" sz="1400" dirty="0"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3</a:t>
              </a:r>
              <a:r>
                <a:rPr lang="ko-KR" altLang="en-US" sz="1400" dirty="0"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차년도</a:t>
              </a: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C2D5EA20-996E-CC66-1F02-16D87CD88C7F}"/>
                </a:ext>
              </a:extLst>
            </p:cNvPr>
            <p:cNvCxnSpPr/>
            <p:nvPr/>
          </p:nvCxnSpPr>
          <p:spPr>
            <a:xfrm>
              <a:off x="451628" y="1019810"/>
              <a:ext cx="11303674" cy="0"/>
            </a:xfrm>
            <a:prstGeom prst="line">
              <a:avLst/>
            </a:prstGeom>
            <a:ln w="12700">
              <a:solidFill>
                <a:srgbClr val="2E86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45A61F1-6DCF-D721-34BB-E088C2126E31}"/>
              </a:ext>
            </a:extLst>
          </p:cNvPr>
          <p:cNvCxnSpPr>
            <a:cxnSpLocks/>
          </p:cNvCxnSpPr>
          <p:nvPr/>
        </p:nvCxnSpPr>
        <p:spPr>
          <a:xfrm>
            <a:off x="307077" y="1412875"/>
            <a:ext cx="11693334" cy="0"/>
          </a:xfrm>
          <a:prstGeom prst="line">
            <a:avLst/>
          </a:prstGeom>
          <a:ln w="12700">
            <a:solidFill>
              <a:srgbClr val="2E86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위쪽 모서리의 한쪽은 둥글고 다른 한쪽은 잘림 1">
            <a:extLst>
              <a:ext uri="{FF2B5EF4-FFF2-40B4-BE49-F238E27FC236}">
                <a16:creationId xmlns:a16="http://schemas.microsoft.com/office/drawing/2014/main" id="{03367C59-9445-DA32-558E-047E9C4047E7}"/>
              </a:ext>
            </a:extLst>
          </p:cNvPr>
          <p:cNvSpPr/>
          <p:nvPr/>
        </p:nvSpPr>
        <p:spPr>
          <a:xfrm>
            <a:off x="5680265" y="1817433"/>
            <a:ext cx="3126377" cy="32384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A1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(3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</a:t>
            </a:r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정량 목표 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B154FCD-1FFE-91D0-3805-E8C1A58AE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488150"/>
              </p:ext>
            </p:extLst>
          </p:nvPr>
        </p:nvGraphicFramePr>
        <p:xfrm>
          <a:off x="5680265" y="2141282"/>
          <a:ext cx="6320146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593">
                  <a:extLst>
                    <a:ext uri="{9D8B030D-6E8A-4147-A177-3AD203B41FA5}">
                      <a16:colId xmlns:a16="http://schemas.microsoft.com/office/drawing/2014/main" val="3176978928"/>
                    </a:ext>
                  </a:extLst>
                </a:gridCol>
                <a:gridCol w="2585435">
                  <a:extLst>
                    <a:ext uri="{9D8B030D-6E8A-4147-A177-3AD203B41FA5}">
                      <a16:colId xmlns:a16="http://schemas.microsoft.com/office/drawing/2014/main" val="892133323"/>
                    </a:ext>
                  </a:extLst>
                </a:gridCol>
                <a:gridCol w="972401">
                  <a:extLst>
                    <a:ext uri="{9D8B030D-6E8A-4147-A177-3AD203B41FA5}">
                      <a16:colId xmlns:a16="http://schemas.microsoft.com/office/drawing/2014/main" val="4060711680"/>
                    </a:ext>
                  </a:extLst>
                </a:gridCol>
                <a:gridCol w="1140717">
                  <a:extLst>
                    <a:ext uri="{9D8B030D-6E8A-4147-A177-3AD203B41FA5}">
                      <a16:colId xmlns:a16="http://schemas.microsoft.com/office/drawing/2014/main" val="3611684256"/>
                    </a:ext>
                  </a:extLst>
                </a:gridCol>
              </a:tblGrid>
              <a:tr h="168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정량적 평가 항목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평가 방법 및 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수행 기관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진행 현황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014211"/>
                  </a:ext>
                </a:extLst>
              </a:tr>
              <a:tr h="2452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13997"/>
                  </a:ext>
                </a:extLst>
              </a:tr>
              <a:tr h="19129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8900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227182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3053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296589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F9D3649-E242-9335-9734-6752439DF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254587"/>
              </p:ext>
            </p:extLst>
          </p:nvPr>
        </p:nvGraphicFramePr>
        <p:xfrm>
          <a:off x="5680266" y="4513605"/>
          <a:ext cx="6320145" cy="1859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662">
                  <a:extLst>
                    <a:ext uri="{9D8B030D-6E8A-4147-A177-3AD203B41FA5}">
                      <a16:colId xmlns:a16="http://schemas.microsoft.com/office/drawing/2014/main" val="3176978928"/>
                    </a:ext>
                  </a:extLst>
                </a:gridCol>
                <a:gridCol w="2774083">
                  <a:extLst>
                    <a:ext uri="{9D8B030D-6E8A-4147-A177-3AD203B41FA5}">
                      <a16:colId xmlns:a16="http://schemas.microsoft.com/office/drawing/2014/main" val="892133323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4060711680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3611684256"/>
                    </a:ext>
                  </a:extLst>
                </a:gridCol>
              </a:tblGrid>
              <a:tr h="278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수행 기관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연구개발성과</a:t>
                      </a:r>
                      <a:r>
                        <a:rPr lang="en-US" altLang="ko-KR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</a:t>
                      </a:r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지표 </a:t>
                      </a:r>
                      <a:r>
                        <a:rPr lang="ko-KR" altLang="en-US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및 목표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목표</a:t>
                      </a:r>
                      <a:endParaRPr lang="ko-KR" altLang="en-US" sz="120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진행 </a:t>
                      </a:r>
                      <a:r>
                        <a:rPr lang="ko-KR" altLang="en-US" sz="120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현황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014211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13997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89007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298647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890594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560761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494854"/>
                  </a:ext>
                </a:extLst>
              </a:tr>
            </a:tbl>
          </a:graphicData>
        </a:graphic>
      </p:graphicFrame>
      <p:sp>
        <p:nvSpPr>
          <p:cNvPr id="16" name="사각형: 위쪽 모서리의 한쪽은 둥글고 다른 한쪽은 잘림 15">
            <a:extLst>
              <a:ext uri="{FF2B5EF4-FFF2-40B4-BE49-F238E27FC236}">
                <a16:creationId xmlns:a16="http://schemas.microsoft.com/office/drawing/2014/main" id="{9783C8AA-B2D2-3912-EF6F-E0087A4934FC}"/>
              </a:ext>
            </a:extLst>
          </p:cNvPr>
          <p:cNvSpPr/>
          <p:nvPr/>
        </p:nvSpPr>
        <p:spPr>
          <a:xfrm>
            <a:off x="5680266" y="4189756"/>
            <a:ext cx="3126377" cy="32384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A1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3. (3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</a:t>
            </a:r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성과지표 달성 목표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사각형: 위쪽 모서리의 한쪽은 둥글고 다른 한쪽은 잘림 16">
            <a:extLst>
              <a:ext uri="{FF2B5EF4-FFF2-40B4-BE49-F238E27FC236}">
                <a16:creationId xmlns:a16="http://schemas.microsoft.com/office/drawing/2014/main" id="{24D8F3D9-EA90-EF8E-16E4-904F04AE5B8D}"/>
              </a:ext>
            </a:extLst>
          </p:cNvPr>
          <p:cNvSpPr/>
          <p:nvPr/>
        </p:nvSpPr>
        <p:spPr>
          <a:xfrm>
            <a:off x="313509" y="1629750"/>
            <a:ext cx="5103223" cy="32384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A1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1. (3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</a:t>
            </a:r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연구개발 목표 및 진행 현황 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E9C742F-EC5F-D0BB-206D-240527C55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925626"/>
              </p:ext>
            </p:extLst>
          </p:nvPr>
        </p:nvGraphicFramePr>
        <p:xfrm>
          <a:off x="313509" y="1953599"/>
          <a:ext cx="5103223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782">
                  <a:extLst>
                    <a:ext uri="{9D8B030D-6E8A-4147-A177-3AD203B41FA5}">
                      <a16:colId xmlns:a16="http://schemas.microsoft.com/office/drawing/2014/main" val="3176978928"/>
                    </a:ext>
                  </a:extLst>
                </a:gridCol>
                <a:gridCol w="2943347">
                  <a:extLst>
                    <a:ext uri="{9D8B030D-6E8A-4147-A177-3AD203B41FA5}">
                      <a16:colId xmlns:a16="http://schemas.microsoft.com/office/drawing/2014/main" val="892133323"/>
                    </a:ext>
                  </a:extLst>
                </a:gridCol>
                <a:gridCol w="958094">
                  <a:extLst>
                    <a:ext uri="{9D8B030D-6E8A-4147-A177-3AD203B41FA5}">
                      <a16:colId xmlns:a16="http://schemas.microsoft.com/office/drawing/2014/main" val="4060711680"/>
                    </a:ext>
                  </a:extLst>
                </a:gridCol>
              </a:tblGrid>
              <a:tr h="168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연구개발 기관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개발 항목 및 세부사항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진행 현황</a:t>
                      </a:r>
                      <a:endParaRPr lang="ko-KR" altLang="en-US" sz="12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014211"/>
                  </a:ext>
                </a:extLst>
              </a:tr>
              <a:tr h="2452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13997"/>
                  </a:ext>
                </a:extLst>
              </a:tr>
              <a:tr h="19129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8900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227182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3053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296589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282579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39148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723479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782263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678771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760727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809724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107726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240218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103920"/>
                  </a:ext>
                </a:extLst>
              </a:tr>
              <a:tr h="18949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b="0" dirty="0"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817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655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80601-67A6-B8CC-F747-414F9BDE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B5E6072D-C434-273F-4734-9175A1D4E9E2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(3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탄소발자국 검인증 표준화 및 검수 기술개발</a:t>
            </a:r>
            <a:endParaRPr lang="en-US" altLang="ko-KR" sz="1400">
              <a:solidFill>
                <a:schemeClr val="bg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이슈사항</a:t>
            </a:r>
            <a:endParaRPr kumimoji="1" lang="ko-KR" altLang="en-US" sz="2000" b="0" i="0" u="none" strike="noStrike" kern="1200" cap="none" spc="-50" normalizeH="0" baseline="0" noProof="0">
              <a:ln>
                <a:solidFill>
                  <a:srgbClr val="0D3896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사각형: 위쪽 모서리의 한쪽은 둥글고 다른 한쪽은 잘림 9">
            <a:extLst>
              <a:ext uri="{FF2B5EF4-FFF2-40B4-BE49-F238E27FC236}">
                <a16:creationId xmlns:a16="http://schemas.microsoft.com/office/drawing/2014/main" id="{B38311AF-CD77-50D3-78CA-9E241DAD5675}"/>
              </a:ext>
            </a:extLst>
          </p:cNvPr>
          <p:cNvSpPr/>
          <p:nvPr/>
        </p:nvSpPr>
        <p:spPr>
          <a:xfrm>
            <a:off x="313509" y="1155151"/>
            <a:ext cx="5103223" cy="32384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A1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(3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r>
              <a:rPr lang="ko-KR" altLang="en-US" sz="1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이슈사항 및 계획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D1A312-F01F-2060-5589-AD44CA592939}"/>
              </a:ext>
            </a:extLst>
          </p:cNvPr>
          <p:cNvSpPr/>
          <p:nvPr/>
        </p:nvSpPr>
        <p:spPr>
          <a:xfrm>
            <a:off x="313508" y="1478999"/>
            <a:ext cx="11564983" cy="5026303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FC264EB-5245-80BC-54AE-D321CFDACFAF}"/>
              </a:ext>
            </a:extLst>
          </p:cNvPr>
          <p:cNvCxnSpPr>
            <a:stCxn id="11" idx="0"/>
            <a:endCxn id="11" idx="2"/>
          </p:cNvCxnSpPr>
          <p:nvPr/>
        </p:nvCxnSpPr>
        <p:spPr>
          <a:xfrm>
            <a:off x="6096000" y="1478999"/>
            <a:ext cx="0" cy="5026303"/>
          </a:xfrm>
          <a:prstGeom prst="line">
            <a:avLst/>
          </a:prstGeom>
          <a:ln>
            <a:solidFill>
              <a:srgbClr val="0E375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02403FA-B9D0-89D9-5DAE-60DACA9438EE}"/>
              </a:ext>
            </a:extLst>
          </p:cNvPr>
          <p:cNvSpPr txBox="1"/>
          <p:nvPr/>
        </p:nvSpPr>
        <p:spPr>
          <a:xfrm>
            <a:off x="513805" y="1633713"/>
            <a:ext cx="3396344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8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8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이슈사항 작성</a:t>
            </a:r>
            <a:r>
              <a:rPr lang="en-US" altLang="ko-KR" sz="18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이슈사항 작성</a:t>
            </a:r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D6B7E2-662D-CCA0-579E-EFEB6145A6D3}"/>
              </a:ext>
            </a:extLst>
          </p:cNvPr>
          <p:cNvSpPr txBox="1"/>
          <p:nvPr/>
        </p:nvSpPr>
        <p:spPr>
          <a:xfrm>
            <a:off x="6296297" y="1633712"/>
            <a:ext cx="3396344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 sz="18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8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해결방안 작성</a:t>
            </a:r>
            <a:r>
              <a:rPr lang="en-US" altLang="ko-KR" sz="18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해결방안 작성</a:t>
            </a:r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7907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7735969" y="1309313"/>
            <a:ext cx="3068567" cy="3067712"/>
            <a:chOff x="7742377" y="1212890"/>
            <a:chExt cx="3068567" cy="3067712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10" name="그룹 9"/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0" name="타원 19"/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1" name="그림 2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11" name="그룹 10"/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18" name="타원 17"/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9" name="그림 18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12" name="그룹 11"/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16" name="타원 15"/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7" name="그림 1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13" name="직선 연결선 12"/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직사각형 21"/>
          <p:cNvSpPr/>
          <p:nvPr/>
        </p:nvSpPr>
        <p:spPr>
          <a:xfrm>
            <a:off x="0" y="4705351"/>
            <a:ext cx="12192000" cy="2152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88C95F-2ADB-48A1-AB95-F14694C8A0DE}"/>
              </a:ext>
            </a:extLst>
          </p:cNvPr>
          <p:cNvSpPr txBox="1"/>
          <p:nvPr/>
        </p:nvSpPr>
        <p:spPr>
          <a:xfrm>
            <a:off x="863589" y="2495660"/>
            <a:ext cx="2630527" cy="67710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defTabSz="829544" latinLnBrk="0">
              <a:defRPr/>
            </a:pPr>
            <a:r>
              <a:rPr lang="ko-KR" altLang="en-US" sz="44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감사합니다</a:t>
            </a:r>
            <a:r>
              <a:rPr lang="en-US" altLang="ko-KR" sz="44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917830" y="2119171"/>
            <a:ext cx="4730375" cy="29969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100" kern="0" dirty="0">
                <a:solidFill>
                  <a:schemeClr val="tx2">
                    <a:lumMod val="20000"/>
                    <a:lumOff val="8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탄소발자국 검인증 표준화 및 검수 기술개발</a:t>
            </a:r>
          </a:p>
        </p:txBody>
      </p:sp>
    </p:spTree>
    <p:extLst>
      <p:ext uri="{BB962C8B-B14F-4D97-AF65-F5344CB8AC3E}">
        <p14:creationId xmlns:p14="http://schemas.microsoft.com/office/powerpoint/2010/main" val="1399785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20742</TotalTime>
  <Words>321</Words>
  <Application>Microsoft Office PowerPoint</Application>
  <PresentationFormat>와이드스크린</PresentationFormat>
  <Paragraphs>65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KoPubWorld돋움체 Bold</vt:lpstr>
      <vt:lpstr>KoPub돋움체 Bold</vt:lpstr>
      <vt:lpstr>KoPubWorld돋움체 Medium</vt:lpstr>
      <vt:lpstr>Wingdings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iscilab</dc:creator>
  <cp:lastModifiedBy>qlalf99 youjineoqkr</cp:lastModifiedBy>
  <cp:revision>446</cp:revision>
  <dcterms:created xsi:type="dcterms:W3CDTF">2024-04-08T08:23:55Z</dcterms:created>
  <dcterms:modified xsi:type="dcterms:W3CDTF">2026-03-13T04:55:00Z</dcterms:modified>
</cp:coreProperties>
</file>
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76" r:id="rId2"/>
    <p:sldId id="386" r:id="rId3"/>
    <p:sldId id="336" r:id="rId4"/>
    <p:sldId id="385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2" autoAdjust="0"/>
    <p:restoredTop sz="90659" autoAdjust="0"/>
  </p:normalViewPr>
  <p:slideViewPr>
    <p:cSldViewPr snapToGrid="0">
      <p:cViewPr varScale="1">
        <p:scale>
          <a:sx n="142" d="100"/>
          <a:sy n="142" d="100"/>
        </p:scale>
        <p:origin x="147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yolo_results_&#45936;&#51060;&#53552;%202096&#44060;%20&#54617;&#4984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2026.02.08%20&#52384;&#49828;&#53356;&#47017;%20&#48516;&#47448;%20&#44208;&#44284;\3.%20&#45936;&#51060;&#53552;%202096&#44060;%20&#54617;&#49845;,%20&#51204;&#52376;&#47532;&#1261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rde\Desktop\&#52384;&#49828;&#53356;&#47017;%20&#51064;&#49688;&#51064;&#44228;\2026.02.08%20&#52384;&#49828;&#53356;&#47017;%20&#48516;&#47448;%20&#44208;&#44284;\7.%20&#45936;&#51060;&#53552;%202096&#44060;,%20cropped2,%20&#53364;&#47000;&#49828;%20&#47588;&#54609;,%20&#51089;&#51008;%20&#44061;&#52404;%20&#51228;&#4414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433045405679134"/>
          <c:y val="7.0420263292139754E-2"/>
          <c:w val="0.74240410278547908"/>
          <c:h val="0.392389909507179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'YOLO Results'!$E$1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'YOLO Results'!$C$3:$C$20</c:f>
              <c:strCache>
                <c:ptCount val="18"/>
                <c:pt idx="0">
                  <c:v>1.Laser cutting (thick plate)</c:v>
                </c:pt>
                <c:pt idx="1">
                  <c:v>10.Shredded general ferrous scrap</c:v>
                </c:pt>
                <c:pt idx="2">
                  <c:v>11.Shredder</c:v>
                </c:pt>
                <c:pt idx="3">
                  <c:v>12.Worksite oxidized scrap</c:v>
                </c:pt>
                <c:pt idx="4">
                  <c:v>13.Sealed drum</c:v>
                </c:pt>
                <c:pt idx="5">
                  <c:v>14.Scrap automotive parts</c:v>
                </c:pt>
                <c:pt idx="6">
                  <c:v>15.Gangform</c:v>
                </c:pt>
                <c:pt idx="7">
                  <c:v>16.Chair</c:v>
                </c:pt>
                <c:pt idx="8">
                  <c:v>18.Cut H-beam scrap</c:v>
                </c:pt>
                <c:pt idx="9">
                  <c:v>19.Forklift truck</c:v>
                </c:pt>
                <c:pt idx="10">
                  <c:v>2.Pipe_1</c:v>
                </c:pt>
                <c:pt idx="11">
                  <c:v>20.Galvanized steel pipe</c:v>
                </c:pt>
                <c:pt idx="12">
                  <c:v>21.h-beam, i-beam, and bar- shaped steel</c:v>
                </c:pt>
                <c:pt idx="13">
                  <c:v>22.Spring</c:v>
                </c:pt>
                <c:pt idx="14">
                  <c:v>23.Mixed heavy iron scrap</c:v>
                </c:pt>
                <c:pt idx="15">
                  <c:v>24.Grating manhole cover</c:v>
                </c:pt>
                <c:pt idx="16">
                  <c:v>25.Rebar coil scrap</c:v>
                </c:pt>
                <c:pt idx="17">
                  <c:v>26.Scaffolding pipe</c:v>
                </c:pt>
              </c:strCache>
            </c:strRef>
          </c:cat>
          <c:val>
            <c:numRef>
              <c:f>'YOLO Results'!$E$3:$E$20</c:f>
              <c:numCache>
                <c:formatCode>General</c:formatCode>
                <c:ptCount val="18"/>
                <c:pt idx="0">
                  <c:v>11</c:v>
                </c:pt>
                <c:pt idx="1">
                  <c:v>10</c:v>
                </c:pt>
                <c:pt idx="2">
                  <c:v>7</c:v>
                </c:pt>
                <c:pt idx="3">
                  <c:v>359</c:v>
                </c:pt>
                <c:pt idx="4">
                  <c:v>43</c:v>
                </c:pt>
                <c:pt idx="5">
                  <c:v>48</c:v>
                </c:pt>
                <c:pt idx="6">
                  <c:v>3</c:v>
                </c:pt>
                <c:pt idx="7">
                  <c:v>12</c:v>
                </c:pt>
                <c:pt idx="8">
                  <c:v>164</c:v>
                </c:pt>
                <c:pt idx="9">
                  <c:v>267</c:v>
                </c:pt>
                <c:pt idx="10">
                  <c:v>28</c:v>
                </c:pt>
                <c:pt idx="11">
                  <c:v>4</c:v>
                </c:pt>
                <c:pt idx="12">
                  <c:v>64</c:v>
                </c:pt>
                <c:pt idx="13">
                  <c:v>185</c:v>
                </c:pt>
                <c:pt idx="14">
                  <c:v>88</c:v>
                </c:pt>
                <c:pt idx="15">
                  <c:v>1626</c:v>
                </c:pt>
                <c:pt idx="16">
                  <c:v>20091</c:v>
                </c:pt>
                <c:pt idx="17">
                  <c:v>695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5-754B-BCD6-02B41B066B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0698704"/>
        <c:axId val="290699120"/>
      </c:barChart>
      <c:catAx>
        <c:axId val="290698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0699120"/>
        <c:crosses val="autoZero"/>
        <c:auto val="1"/>
        <c:lblAlgn val="ctr"/>
        <c:lblOffset val="100"/>
        <c:noMultiLvlLbl val="0"/>
      </c:catAx>
      <c:valAx>
        <c:axId val="29069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0698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YOLO_eval!$C$1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YOLO_eval!$A$3:$A$21</c:f>
              <c:strCache>
                <c:ptCount val="19"/>
                <c:pt idx="0">
                  <c:v>mixed steel</c:v>
                </c:pt>
                <c:pt idx="1">
                  <c:v>machine</c:v>
                </c:pt>
                <c:pt idx="2">
                  <c:v>drum</c:v>
                </c:pt>
                <c:pt idx="3">
                  <c:v>panel</c:v>
                </c:pt>
                <c:pt idx="4">
                  <c:v>trash</c:v>
                </c:pt>
                <c:pt idx="5">
                  <c:v>beam</c:v>
                </c:pt>
                <c:pt idx="6">
                  <c:v>pipe</c:v>
                </c:pt>
                <c:pt idx="7">
                  <c:v>heavy iron</c:v>
                </c:pt>
                <c:pt idx="8">
                  <c:v>mesh</c:v>
                </c:pt>
                <c:pt idx="9">
                  <c:v>structure steel</c:v>
                </c:pt>
                <c:pt idx="10">
                  <c:v>rebar</c:v>
                </c:pt>
                <c:pt idx="11">
                  <c:v>small pipe</c:v>
                </c:pt>
                <c:pt idx="12">
                  <c:v>vehicle</c:v>
                </c:pt>
                <c:pt idx="13">
                  <c:v>square pipe</c:v>
                </c:pt>
                <c:pt idx="14">
                  <c:v>Guillotine</c:v>
                </c:pt>
                <c:pt idx="15">
                  <c:v>LPG GAS cylinder</c:v>
                </c:pt>
                <c:pt idx="16">
                  <c:v>handler</c:v>
                </c:pt>
                <c:pt idx="17">
                  <c:v>plastic</c:v>
                </c:pt>
                <c:pt idx="18">
                  <c:v>Fan</c:v>
                </c:pt>
              </c:strCache>
            </c:strRef>
          </c:cat>
          <c:val>
            <c:numRef>
              <c:f>YOLO_eval!$C$3:$C$21</c:f>
              <c:numCache>
                <c:formatCode>General</c:formatCode>
                <c:ptCount val="19"/>
                <c:pt idx="0">
                  <c:v>1044</c:v>
                </c:pt>
                <c:pt idx="1">
                  <c:v>365</c:v>
                </c:pt>
                <c:pt idx="2">
                  <c:v>297</c:v>
                </c:pt>
                <c:pt idx="3">
                  <c:v>12767</c:v>
                </c:pt>
                <c:pt idx="4">
                  <c:v>843</c:v>
                </c:pt>
                <c:pt idx="5">
                  <c:v>564</c:v>
                </c:pt>
                <c:pt idx="6">
                  <c:v>412</c:v>
                </c:pt>
                <c:pt idx="7">
                  <c:v>25851</c:v>
                </c:pt>
                <c:pt idx="8">
                  <c:v>20091</c:v>
                </c:pt>
                <c:pt idx="9">
                  <c:v>4070</c:v>
                </c:pt>
                <c:pt idx="10">
                  <c:v>4145</c:v>
                </c:pt>
                <c:pt idx="11">
                  <c:v>9231</c:v>
                </c:pt>
                <c:pt idx="12">
                  <c:v>575</c:v>
                </c:pt>
                <c:pt idx="13">
                  <c:v>335</c:v>
                </c:pt>
                <c:pt idx="14">
                  <c:v>870</c:v>
                </c:pt>
                <c:pt idx="15">
                  <c:v>328</c:v>
                </c:pt>
                <c:pt idx="16">
                  <c:v>12</c:v>
                </c:pt>
                <c:pt idx="17">
                  <c:v>2160</c:v>
                </c:pt>
                <c:pt idx="18">
                  <c:v>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C-3245-9D56-9F7D99815A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1768000"/>
        <c:axId val="371761760"/>
      </c:barChart>
      <c:catAx>
        <c:axId val="37176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1761760"/>
        <c:crosses val="autoZero"/>
        <c:auto val="1"/>
        <c:lblAlgn val="ctr"/>
        <c:lblOffset val="100"/>
        <c:noMultiLvlLbl val="0"/>
      </c:catAx>
      <c:valAx>
        <c:axId val="37176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71768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Sheet1!$D$28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Sheet1!$E$27:$G$27</c:f>
              <c:strCache>
                <c:ptCount val="3"/>
                <c:pt idx="0">
                  <c:v>기존 데이터</c:v>
                </c:pt>
                <c:pt idx="1">
                  <c:v>클래스 매핑</c:v>
                </c:pt>
                <c:pt idx="2">
                  <c:v>12px미만 제거</c:v>
                </c:pt>
              </c:strCache>
            </c:strRef>
          </c:cat>
          <c:val>
            <c:numRef>
              <c:f>Sheet1!$E$28:$G$28</c:f>
              <c:numCache>
                <c:formatCode>General</c:formatCode>
                <c:ptCount val="3"/>
                <c:pt idx="0">
                  <c:v>1.2699999999999999E-2</c:v>
                </c:pt>
                <c:pt idx="1">
                  <c:v>7.3400000000000007E-2</c:v>
                </c:pt>
                <c:pt idx="2">
                  <c:v>0.64100000000000001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F8-4EED-8CBD-A4C9FC2AB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39855231"/>
        <c:axId val="1331080351"/>
      </c:barChart>
      <c:catAx>
        <c:axId val="1339855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31080351"/>
        <c:crosses val="autoZero"/>
        <c:auto val="1"/>
        <c:lblAlgn val="ctr"/>
        <c:lblOffset val="100"/>
        <c:noMultiLvlLbl val="0"/>
      </c:catAx>
      <c:valAx>
        <c:axId val="1331080351"/>
        <c:scaling>
          <c:orientation val="minMax"/>
          <c:max val="0.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39855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F355C-3026-4A17-91C5-A44E22FD5C9C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843AA-A71C-47E8-BC92-32961B07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66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43AA-A71C-47E8-BC92-32961B070E7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565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43AA-A71C-47E8-BC92-32961B070E7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8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9ECDB-3388-4E7C-A40D-FDBF373BC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97FE3C-FD9C-4536-ADC8-4D0A64360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89974-31C7-4FA2-8AB9-DA26EF91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D3F50A-D6BA-4563-A06D-2E4CDC9A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8D4B7F-8310-4865-B309-E802E451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49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63693-A8D5-4998-9A38-6AE4E43E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9FD118-0ACC-4D67-B53A-77AAFFA9D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3430A-8899-49F6-90BB-E491A0B2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0E6254-7DBB-4C5A-BE2C-4115C378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3D73AB-08C1-4A17-904F-5B4E80B9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1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4BF4D-9055-4635-B692-C74D9BD44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E0F8F6-D8F4-4285-8BD3-A4E5E3FB0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8556F-57F9-44EB-AC89-94C54CC78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92498F-3D0B-4BA8-824E-C7EE5BFB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616E87-C985-45D6-82BB-ED3BFC5B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50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CCD42-6908-4519-B4E1-6D1219429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6F53C7-46C2-452C-B195-E35BA7247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47A228-393C-4A6E-B3E4-CF3C9F72A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D09E9E-8D0B-47EF-8EAF-ED616D74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ECC067-FABD-4A17-B3EF-A82C51C4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BA7B06-493A-416F-8F11-37CA1239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519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32C53-FFBD-4150-A611-C041D4F9C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E19CFF-8D43-4E3C-9B83-1162A5B21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C915EE-E49F-4A14-8947-0E8142298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D85343-E8CD-433D-8841-BCA75F242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CED0CC-0F4D-4301-9F33-F36B860E7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7071A7-1B8F-4E37-8B5E-5AEBB191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8DADAD1-6CF1-4A73-9074-14E5F703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81D79A9-F4D2-48A1-8CB5-C9F6DB49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74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3ED84-1749-4DC0-B138-0AC39ED7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4270BC-C70D-4320-A1E8-B5AA2751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7F0712-4FC1-40A4-BEF4-A8421BAAD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413749-1807-4E1C-91A6-9D5FC673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75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790C91-3693-4C56-97CD-1FE6DDE0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41EE2A-188A-45CD-A56D-6C08A1EA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EABFA6-2ADC-48AD-B7E6-5717CC100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27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AB6CB-C1A9-45A2-B86E-C7E05284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40E922-FCB5-4619-B092-62954BE91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0D1796-4B13-4324-B7B8-DBD328696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C64B37-DE15-42C3-AD7A-617A4DF5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664F5D-BB87-4FA8-A9B3-EC75A472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ADCF49-C85C-420D-87C1-3F35CF5D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11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3654D-4C2C-410E-88E6-5ED4A01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5AB38C-FAC5-4DDE-9724-FE6FBE6DF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948B3B-C5CB-43AD-B617-ACF73F60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B6A4E0-A6D1-46B6-967A-82990ED0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31330D-4D7D-415A-BC05-718AB6110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E28E46-845F-45C4-8568-A1E12B93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5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316B3-0364-4FB8-A7BA-DDE6D13F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204C54-51E3-4737-B999-0C88E4750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CF9C29-E353-410A-A73C-D2CDDAA4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0ACA41-C270-49F8-9D41-F0B8A9F92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F641C2-07AE-45BF-B49A-4E8FC629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82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BFE1AA-13AC-4F2F-B677-39A05D67A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D34E71-4DF0-4C0F-AB88-C7269D8D1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D2765-7C10-49FE-9CCF-9FE232BF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D6B98F-CB4C-48BF-9213-53AA15D9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80C918-6158-4EEE-81EB-BDD8C95E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587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78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-1"/>
            <a:ext cx="12192000" cy="885691"/>
            <a:chOff x="0" y="-1"/>
            <a:chExt cx="12192000" cy="88569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535" b="35355"/>
            <a:stretch/>
          </p:blipFill>
          <p:spPr>
            <a:xfrm>
              <a:off x="10100787" y="0"/>
              <a:ext cx="2091213" cy="885690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 rot="10800000">
              <a:off x="0" y="-1"/>
              <a:ext cx="10100787" cy="885689"/>
            </a:xfrm>
            <a:prstGeom prst="rect">
              <a:avLst/>
            </a:prstGeom>
            <a:solidFill>
              <a:srgbClr val="0A1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10800000">
              <a:off x="10100787" y="0"/>
              <a:ext cx="2091213" cy="885689"/>
            </a:xfrm>
            <a:prstGeom prst="rect">
              <a:avLst/>
            </a:prstGeom>
            <a:gradFill>
              <a:gsLst>
                <a:gs pos="0">
                  <a:srgbClr val="0C294B">
                    <a:alpha val="10000"/>
                  </a:srgbClr>
                </a:gs>
                <a:gs pos="100000">
                  <a:srgbClr val="000000">
                    <a:alpha val="9000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F4305A7-2134-4CA6-8CE5-8C13C255E8C7}"/>
              </a:ext>
            </a:extLst>
          </p:cNvPr>
          <p:cNvSpPr txBox="1">
            <a:spLocks/>
          </p:cNvSpPr>
          <p:nvPr userDrawn="1"/>
        </p:nvSpPr>
        <p:spPr>
          <a:xfrm>
            <a:off x="9386978" y="-9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69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5AE7A5-4188-438E-983A-6889EF67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644372-42E7-4A7C-8A09-16C02BEC5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7501BD-49EC-4FC4-9A7A-C2ED72B54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5B0C9-3FD6-4F0C-8209-3F931E213168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C9F757-F4C7-4FCA-99EA-5CB027D8F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55EE17-C0C0-4375-BFF4-3005ED5B1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EBDFE-251A-4FF9-A3B4-AE1DE7E3AA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1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13" Type="http://schemas.openxmlformats.org/officeDocument/2006/relationships/image" Target="../media/image6.pn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12" Type="http://schemas.openxmlformats.org/officeDocument/2006/relationships/image" Target="../media/image5.svg"/><Relationship Id="rId1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11" Type="http://schemas.openxmlformats.org/officeDocument/2006/relationships/image" Target="../media/image4.png"/><Relationship Id="rId5" Type="http://schemas.openxmlformats.org/officeDocument/2006/relationships/image" Target="../media/image12.jpg"/><Relationship Id="rId15" Type="http://schemas.openxmlformats.org/officeDocument/2006/relationships/image" Target="../media/image8.png"/><Relationship Id="rId10" Type="http://schemas.openxmlformats.org/officeDocument/2006/relationships/chart" Target="../charts/chart2.xml"/><Relationship Id="rId4" Type="http://schemas.openxmlformats.org/officeDocument/2006/relationships/image" Target="../media/image11.jpg"/><Relationship Id="rId9" Type="http://schemas.openxmlformats.org/officeDocument/2006/relationships/chart" Target="../charts/chart1.xml"/><Relationship Id="rId1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5.sv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DF99-2420-A988-7F98-34FF9CB9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6065DC8-64D8-FAEA-EA76-A9A050BFDF51}"/>
              </a:ext>
            </a:extLst>
          </p:cNvPr>
          <p:cNvSpPr/>
          <p:nvPr/>
        </p:nvSpPr>
        <p:spPr>
          <a:xfrm>
            <a:off x="0" y="2621934"/>
            <a:ext cx="12192000" cy="1733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158F83-D496-D37F-AC96-08E4ABB6015F}"/>
              </a:ext>
            </a:extLst>
          </p:cNvPr>
          <p:cNvSpPr/>
          <p:nvPr/>
        </p:nvSpPr>
        <p:spPr>
          <a:xfrm>
            <a:off x="382422" y="3126902"/>
            <a:ext cx="4245714" cy="723275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</a:t>
            </a:r>
            <a:r>
              <a:rPr lang="ko-KR" altLang="en-US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</a:p>
        </p:txBody>
      </p:sp>
      <p:pic>
        <p:nvPicPr>
          <p:cNvPr id="4" name="Picture 2" descr="혼합형 로고">
            <a:extLst>
              <a:ext uri="{FF2B5EF4-FFF2-40B4-BE49-F238E27FC236}">
                <a16:creationId xmlns:a16="http://schemas.microsoft.com/office/drawing/2014/main" id="{E25BF2E1-0116-9692-CBA5-B838E9EAC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93" y="2960816"/>
            <a:ext cx="5539095" cy="86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523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8D99-A460-A3F9-B1C4-BCF1A2FC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3E2934C8-CBB2-C300-F8C7-7420729DE73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(1/3)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24CE41-1A0F-D4EB-9708-C1A559E04F39}"/>
              </a:ext>
            </a:extLst>
          </p:cNvPr>
          <p:cNvSpPr txBox="1"/>
          <p:nvPr/>
        </p:nvSpPr>
        <p:spPr>
          <a:xfrm>
            <a:off x="1013643" y="1054767"/>
            <a:ext cx="5211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재료연구원 </a:t>
            </a:r>
            <a:r>
              <a:rPr lang="ko-KR" altLang="en-US" sz="2000" spc="-60" dirty="0" err="1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철스크랩</a:t>
            </a:r>
            <a:r>
              <a:rPr lang="ko-KR" altLang="en-US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 관련 모델 개발 현황 요약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6B008D6-2ED8-9D54-F79D-2BED63EE8D42}"/>
              </a:ext>
            </a:extLst>
          </p:cNvPr>
          <p:cNvGrpSpPr/>
          <p:nvPr/>
        </p:nvGrpSpPr>
        <p:grpSpPr>
          <a:xfrm>
            <a:off x="781695" y="1674247"/>
            <a:ext cx="150368" cy="155776"/>
            <a:chOff x="4657725" y="3038478"/>
            <a:chExt cx="661990" cy="685797"/>
          </a:xfrm>
        </p:grpSpPr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FD49ED83-9030-DC1A-6AB1-E9BBA3149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D8562EC4-1503-52BB-754A-4EE7DD88D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pic>
        <p:nvPicPr>
          <p:cNvPr id="32" name="그래픽 31">
            <a:extLst>
              <a:ext uri="{FF2B5EF4-FFF2-40B4-BE49-F238E27FC236}">
                <a16:creationId xmlns:a16="http://schemas.microsoft.com/office/drawing/2014/main" id="{CB8A04A1-CD9C-622C-80E4-C33802B053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273" y="1069813"/>
            <a:ext cx="328370" cy="372153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6F722543-C8C8-D60F-2009-723DC98CA1AE}"/>
              </a:ext>
            </a:extLst>
          </p:cNvPr>
          <p:cNvSpPr/>
          <p:nvPr/>
        </p:nvSpPr>
        <p:spPr>
          <a:xfrm>
            <a:off x="845406" y="1483940"/>
            <a:ext cx="11082619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5410" fontAlgn="base">
              <a:lnSpc>
                <a:spcPct val="150000"/>
              </a:lnSpc>
            </a:pP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수령 후 순차적 학습 진행 및 모델 개선 방향 설정</a:t>
            </a:r>
            <a:endParaRPr lang="en-US" altLang="ko-KR" kern="0" spc="-60" dirty="0"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05410" fontAlgn="base">
              <a:lnSpc>
                <a:spcPct val="150000"/>
              </a:lnSpc>
            </a:pP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모델 성능 향상 및 추가 모델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kern="0" spc="-6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녹슨정도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이물질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개발 목표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9EE7DF2-1F91-9604-E396-95799DA592EE}"/>
              </a:ext>
            </a:extLst>
          </p:cNvPr>
          <p:cNvGrpSpPr/>
          <p:nvPr/>
        </p:nvGrpSpPr>
        <p:grpSpPr>
          <a:xfrm>
            <a:off x="770222" y="2096909"/>
            <a:ext cx="150368" cy="155776"/>
            <a:chOff x="4657725" y="3038478"/>
            <a:chExt cx="661990" cy="685797"/>
          </a:xfrm>
        </p:grpSpPr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8D1E9375-113A-3BB4-1632-A70D76BE4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36" name="그래픽 35">
              <a:extLst>
                <a:ext uri="{FF2B5EF4-FFF2-40B4-BE49-F238E27FC236}">
                  <a16:creationId xmlns:a16="http://schemas.microsoft.com/office/drawing/2014/main" id="{02FAB3E8-E8A9-6135-4FFE-BB406936D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996167-0C1C-BF3D-939F-65EB726DBAB9}"/>
              </a:ext>
            </a:extLst>
          </p:cNvPr>
          <p:cNvGrpSpPr/>
          <p:nvPr/>
        </p:nvGrpSpPr>
        <p:grpSpPr>
          <a:xfrm>
            <a:off x="995774" y="1924124"/>
            <a:ext cx="10259700" cy="4535505"/>
            <a:chOff x="1150605" y="1371781"/>
            <a:chExt cx="10847870" cy="4795517"/>
          </a:xfrm>
        </p:grpSpPr>
        <p:sp>
          <p:nvSpPr>
            <p:cNvPr id="2" name="모서리가 둥근 직사각형 1">
              <a:extLst>
                <a:ext uri="{FF2B5EF4-FFF2-40B4-BE49-F238E27FC236}">
                  <a16:creationId xmlns:a16="http://schemas.microsoft.com/office/drawing/2014/main" id="{F3071E87-D76F-4AD3-DA6F-165338CF8152}"/>
                </a:ext>
              </a:extLst>
            </p:cNvPr>
            <p:cNvSpPr/>
            <p:nvPr/>
          </p:nvSpPr>
          <p:spPr>
            <a:xfrm>
              <a:off x="1150605" y="3185410"/>
              <a:ext cx="2340000" cy="72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초기 테스트 데이터 기반 </a:t>
              </a:r>
              <a:endParaRPr kumimoji="1" lang="en-US" altLang="ko-KR" sz="1200" b="1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객체 탐지 및 분류</a:t>
              </a:r>
              <a:br>
                <a:rPr kumimoji="1" lang="en-US" altLang="ko-KR" sz="1200" b="1" dirty="0">
                  <a:solidFill>
                    <a:schemeClr val="tx1"/>
                  </a:solidFill>
                </a:rPr>
              </a:br>
              <a:r>
                <a:rPr kumimoji="1" lang="en-US" altLang="ko-KR" sz="1200" b="1" dirty="0">
                  <a:solidFill>
                    <a:schemeClr val="tx1"/>
                  </a:solidFill>
                </a:rPr>
                <a:t>(15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장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,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 객체 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1000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개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)</a:t>
              </a:r>
              <a:endParaRPr kumimoji="1"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72F9ADAA-A175-95BF-0800-0F95D12BF5CE}"/>
                </a:ext>
              </a:extLst>
            </p:cNvPr>
            <p:cNvSpPr/>
            <p:nvPr/>
          </p:nvSpPr>
          <p:spPr>
            <a:xfrm>
              <a:off x="3921514" y="3185409"/>
              <a:ext cx="2340000" cy="72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라벨 데이터 수령 및 학습</a:t>
              </a:r>
              <a:br>
                <a:rPr kumimoji="1" lang="en-US" altLang="ko-KR" sz="1200" b="1" dirty="0">
                  <a:solidFill>
                    <a:schemeClr val="tx1"/>
                  </a:solidFill>
                </a:rPr>
              </a:br>
              <a:r>
                <a:rPr kumimoji="1" lang="en-US" altLang="ko-KR" sz="1200" b="1" dirty="0">
                  <a:solidFill>
                    <a:schemeClr val="tx1"/>
                  </a:solidFill>
                </a:rPr>
                <a:t>(2096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장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,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 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89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클래스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,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 </a:t>
              </a:r>
              <a:br>
                <a:rPr kumimoji="1" lang="en-US" altLang="ko-KR" sz="1200" b="1" dirty="0">
                  <a:solidFill>
                    <a:schemeClr val="tx1"/>
                  </a:solidFill>
                </a:rPr>
              </a:br>
              <a:r>
                <a:rPr kumimoji="1" lang="en-US" altLang="ko-KR" sz="1200" b="1" dirty="0">
                  <a:solidFill>
                    <a:schemeClr val="tx1"/>
                  </a:solidFill>
                </a:rPr>
                <a:t>40</a:t>
              </a:r>
              <a:r>
                <a:rPr kumimoji="1" lang="ko-KR" altLang="en-US" sz="1200" b="1" dirty="0" err="1">
                  <a:solidFill>
                    <a:schemeClr val="tx1"/>
                  </a:solidFill>
                </a:rPr>
                <a:t>만객체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)</a:t>
              </a:r>
              <a:endParaRPr kumimoji="1"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55474B28-8C75-4287-E34C-21162AFC7768}"/>
                </a:ext>
              </a:extLst>
            </p:cNvPr>
            <p:cNvSpPr/>
            <p:nvPr/>
          </p:nvSpPr>
          <p:spPr>
            <a:xfrm>
              <a:off x="6806725" y="2090900"/>
              <a:ext cx="2340000" cy="72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데이터 그대로 학습</a:t>
              </a:r>
            </a:p>
          </p:txBody>
        </p:sp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C69293C7-A2A4-1104-305E-C52693650490}"/>
                </a:ext>
              </a:extLst>
            </p:cNvPr>
            <p:cNvSpPr/>
            <p:nvPr/>
          </p:nvSpPr>
          <p:spPr>
            <a:xfrm>
              <a:off x="6806725" y="3185409"/>
              <a:ext cx="2340000" cy="72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클래스 </a:t>
              </a:r>
              <a:r>
                <a:rPr kumimoji="1" lang="ko-KR" altLang="en-US" sz="1200" b="1">
                  <a:solidFill>
                    <a:schemeClr val="tx1"/>
                  </a:solidFill>
                </a:rPr>
                <a:t>축소 </a:t>
              </a:r>
              <a:br>
                <a:rPr kumimoji="1" lang="en-US" altLang="ko-KR" sz="1200" b="1" dirty="0">
                  <a:solidFill>
                    <a:schemeClr val="tx1"/>
                  </a:solidFill>
                </a:rPr>
              </a:br>
              <a:r>
                <a:rPr kumimoji="1" lang="en-US" altLang="ko-KR" sz="1200" b="1" dirty="0">
                  <a:solidFill>
                    <a:schemeClr val="tx1"/>
                  </a:solidFill>
                </a:rPr>
                <a:t>(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비슷한 </a:t>
              </a:r>
              <a:r>
                <a:rPr kumimoji="1" lang="ko-KR" altLang="en-US" sz="1200" b="1">
                  <a:solidFill>
                    <a:schemeClr val="tx1"/>
                  </a:solidFill>
                </a:rPr>
                <a:t>형상 맵핑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)</a:t>
              </a:r>
              <a:endParaRPr kumimoji="1"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00AB1FA4-D76E-2EC3-696F-B81B435D8E99}"/>
                </a:ext>
              </a:extLst>
            </p:cNvPr>
            <p:cNvSpPr/>
            <p:nvPr/>
          </p:nvSpPr>
          <p:spPr>
            <a:xfrm>
              <a:off x="6806725" y="4279918"/>
              <a:ext cx="2340000" cy="720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작은 객체 제거</a:t>
              </a:r>
            </a:p>
          </p:txBody>
        </p:sp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F9E991D2-C814-B64A-D1C0-B72012E3714C}"/>
                </a:ext>
              </a:extLst>
            </p:cNvPr>
            <p:cNvSpPr/>
            <p:nvPr/>
          </p:nvSpPr>
          <p:spPr>
            <a:xfrm>
              <a:off x="3921514" y="5447297"/>
              <a:ext cx="234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녹슨 정도 </a:t>
              </a:r>
              <a:r>
                <a:rPr kumimoji="1" lang="ko-KR" altLang="en-US" sz="1200" b="1">
                  <a:solidFill>
                    <a:schemeClr val="tx1"/>
                  </a:solidFill>
                </a:rPr>
                <a:t>정량화 </a:t>
              </a:r>
              <a:br>
                <a:rPr kumimoji="1" lang="en-US" altLang="ko-KR" sz="1200" b="1" dirty="0">
                  <a:solidFill>
                    <a:schemeClr val="tx1"/>
                  </a:solidFill>
                </a:rPr>
              </a:br>
              <a:r>
                <a:rPr kumimoji="1" lang="ko-KR" altLang="en-US" sz="1200" b="1" dirty="0">
                  <a:solidFill>
                    <a:schemeClr val="tx1"/>
                  </a:solidFill>
                </a:rPr>
                <a:t>평가 모델 개발</a:t>
              </a:r>
            </a:p>
          </p:txBody>
        </p:sp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8058C2D3-02F6-375C-FCB7-573AB5480E1A}"/>
                </a:ext>
              </a:extLst>
            </p:cNvPr>
            <p:cNvSpPr/>
            <p:nvPr/>
          </p:nvSpPr>
          <p:spPr>
            <a:xfrm>
              <a:off x="6806725" y="5447298"/>
              <a:ext cx="234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이물질 탐지 모델 개발</a:t>
              </a:r>
            </a:p>
          </p:txBody>
        </p:sp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52F105EE-B190-39FA-25F6-4776BC88205F}"/>
                </a:ext>
              </a:extLst>
            </p:cNvPr>
            <p:cNvSpPr/>
            <p:nvPr/>
          </p:nvSpPr>
          <p:spPr>
            <a:xfrm>
              <a:off x="9588025" y="4279917"/>
              <a:ext cx="2210275" cy="72000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데이터 </a:t>
              </a:r>
              <a:r>
                <a:rPr kumimoji="1" lang="ko-KR" altLang="en-US" sz="1200" b="1" dirty="0" err="1">
                  <a:solidFill>
                    <a:schemeClr val="tx1"/>
                  </a:solidFill>
                </a:rPr>
                <a:t>크롭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, 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모델 고도화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,</a:t>
              </a:r>
            </a:p>
            <a:p>
              <a:pPr algn="ctr"/>
              <a:r>
                <a:rPr kumimoji="1" lang="ko-KR" altLang="en-US" sz="1200" b="1" dirty="0">
                  <a:solidFill>
                    <a:schemeClr val="tx1"/>
                  </a:solidFill>
                </a:rPr>
                <a:t>라벨 수정</a:t>
              </a:r>
              <a:r>
                <a:rPr kumimoji="1" lang="en-US" altLang="ko-KR" sz="1200" b="1" dirty="0">
                  <a:solidFill>
                    <a:schemeClr val="tx1"/>
                  </a:solidFill>
                </a:rPr>
                <a:t>,</a:t>
              </a:r>
              <a:r>
                <a:rPr kumimoji="1" lang="ko-KR" altLang="en-US" sz="1200" b="1" dirty="0">
                  <a:solidFill>
                    <a:schemeClr val="tx1"/>
                  </a:solidFill>
                </a:rPr>
                <a:t> 추가데이터</a:t>
              </a:r>
            </a:p>
          </p:txBody>
        </p:sp>
        <p:cxnSp>
          <p:nvCxnSpPr>
            <p:cNvPr id="38" name="꺾인 연결선[E] 37">
              <a:extLst>
                <a:ext uri="{FF2B5EF4-FFF2-40B4-BE49-F238E27FC236}">
                  <a16:creationId xmlns:a16="http://schemas.microsoft.com/office/drawing/2014/main" id="{1A12627F-A5EB-955F-02FA-679CCB940872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 flipV="1">
              <a:off x="6261514" y="2450900"/>
              <a:ext cx="545211" cy="1094509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[E] 40">
              <a:extLst>
                <a:ext uri="{FF2B5EF4-FFF2-40B4-BE49-F238E27FC236}">
                  <a16:creationId xmlns:a16="http://schemas.microsoft.com/office/drawing/2014/main" id="{3979CC5D-6CAF-AA9D-4DA8-8AFA085D34AE}"/>
                </a:ext>
              </a:extLst>
            </p:cNvPr>
            <p:cNvCxnSpPr>
              <a:cxnSpLocks/>
              <a:stCxn id="9" idx="3"/>
              <a:endCxn id="12" idx="1"/>
            </p:cNvCxnSpPr>
            <p:nvPr/>
          </p:nvCxnSpPr>
          <p:spPr>
            <a:xfrm>
              <a:off x="6261514" y="3545409"/>
              <a:ext cx="545211" cy="1094509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1821DF3E-3D1F-CDA2-12CF-619BBB9EFF6F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6261514" y="5807297"/>
              <a:ext cx="545211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6C665D37-3020-3212-E0AB-50BC36BD0653}"/>
                </a:ext>
              </a:extLst>
            </p:cNvPr>
            <p:cNvCxnSpPr>
              <a:cxnSpLocks/>
              <a:stCxn id="12" idx="3"/>
              <a:endCxn id="15" idx="1"/>
            </p:cNvCxnSpPr>
            <p:nvPr/>
          </p:nvCxnSpPr>
          <p:spPr>
            <a:xfrm flipV="1">
              <a:off x="9146725" y="4639917"/>
              <a:ext cx="441300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42C00A17-2D7B-9B92-8CFD-722118210C09}"/>
                </a:ext>
              </a:extLst>
            </p:cNvPr>
            <p:cNvCxnSpPr>
              <a:cxnSpLocks/>
              <a:stCxn id="9" idx="2"/>
              <a:endCxn id="13" idx="0"/>
            </p:cNvCxnSpPr>
            <p:nvPr/>
          </p:nvCxnSpPr>
          <p:spPr>
            <a:xfrm>
              <a:off x="5091514" y="3905409"/>
              <a:ext cx="0" cy="15418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DB088CAD-DC42-64E6-A674-8E6142E7A3E6}"/>
                </a:ext>
              </a:extLst>
            </p:cNvPr>
            <p:cNvCxnSpPr>
              <a:cxnSpLocks/>
              <a:stCxn id="2" idx="3"/>
              <a:endCxn id="9" idx="1"/>
            </p:cNvCxnSpPr>
            <p:nvPr/>
          </p:nvCxnSpPr>
          <p:spPr>
            <a:xfrm flipV="1">
              <a:off x="3490605" y="3545409"/>
              <a:ext cx="430909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모서리가 둥근 직사각형 61">
              <a:extLst>
                <a:ext uri="{FF2B5EF4-FFF2-40B4-BE49-F238E27FC236}">
                  <a16:creationId xmlns:a16="http://schemas.microsoft.com/office/drawing/2014/main" id="{820E3BE7-CB4F-B72E-CB8B-0E840D6055FB}"/>
                </a:ext>
              </a:extLst>
            </p:cNvPr>
            <p:cNvSpPr/>
            <p:nvPr/>
          </p:nvSpPr>
          <p:spPr>
            <a:xfrm>
              <a:off x="9588025" y="1395196"/>
              <a:ext cx="1059325" cy="32105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모서리가 둥근 직사각형 62">
              <a:extLst>
                <a:ext uri="{FF2B5EF4-FFF2-40B4-BE49-F238E27FC236}">
                  <a16:creationId xmlns:a16="http://schemas.microsoft.com/office/drawing/2014/main" id="{D38612C9-F6D4-ED51-A982-E3480FD4172E}"/>
                </a:ext>
              </a:extLst>
            </p:cNvPr>
            <p:cNvSpPr/>
            <p:nvPr/>
          </p:nvSpPr>
          <p:spPr>
            <a:xfrm>
              <a:off x="9588025" y="1830023"/>
              <a:ext cx="1059325" cy="321057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모서리가 둥근 직사각형 63">
              <a:extLst>
                <a:ext uri="{FF2B5EF4-FFF2-40B4-BE49-F238E27FC236}">
                  <a16:creationId xmlns:a16="http://schemas.microsoft.com/office/drawing/2014/main" id="{B73AACAB-CF83-41EA-2976-7273730C4F34}"/>
                </a:ext>
              </a:extLst>
            </p:cNvPr>
            <p:cNvSpPr/>
            <p:nvPr/>
          </p:nvSpPr>
          <p:spPr>
            <a:xfrm>
              <a:off x="9588025" y="2286591"/>
              <a:ext cx="1059325" cy="32105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6C86D7-6EDE-1560-0BE6-69A4D0AF46D5}"/>
                </a:ext>
              </a:extLst>
            </p:cNvPr>
            <p:cNvSpPr txBox="1"/>
            <p:nvPr/>
          </p:nvSpPr>
          <p:spPr>
            <a:xfrm flipH="1">
              <a:off x="10694713" y="1371781"/>
              <a:ext cx="1303762" cy="325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:</a:t>
              </a:r>
              <a:r>
                <a:rPr kumimoji="1" lang="ko-KR" altLang="en-US" sz="1400" dirty="0"/>
                <a:t> 진행 완료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C4DEADE-A625-58EA-F1F8-55A2213B4687}"/>
                </a:ext>
              </a:extLst>
            </p:cNvPr>
            <p:cNvSpPr txBox="1"/>
            <p:nvPr/>
          </p:nvSpPr>
          <p:spPr>
            <a:xfrm flipH="1">
              <a:off x="10694713" y="1799079"/>
              <a:ext cx="1303762" cy="325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:</a:t>
              </a:r>
              <a:r>
                <a:rPr kumimoji="1" lang="ko-KR" altLang="en-US" sz="1400" dirty="0"/>
                <a:t> 진행 중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B81B041-CB7B-592E-CB6D-75F1110151CA}"/>
                </a:ext>
              </a:extLst>
            </p:cNvPr>
            <p:cNvSpPr txBox="1"/>
            <p:nvPr/>
          </p:nvSpPr>
          <p:spPr>
            <a:xfrm flipH="1">
              <a:off x="10694713" y="2286591"/>
              <a:ext cx="1303762" cy="325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1400" dirty="0"/>
                <a:t>:</a:t>
              </a:r>
              <a:r>
                <a:rPr kumimoji="1" lang="ko-KR" altLang="en-US" sz="1400" dirty="0"/>
                <a:t> 진행 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26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8D99-A460-A3F9-B1C4-BCF1A2FC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413D936-2804-4495-BE2A-418791A009F8}"/>
              </a:ext>
            </a:extLst>
          </p:cNvPr>
          <p:cNvGrpSpPr/>
          <p:nvPr/>
        </p:nvGrpSpPr>
        <p:grpSpPr>
          <a:xfrm>
            <a:off x="8184063" y="1620945"/>
            <a:ext cx="3854915" cy="5097096"/>
            <a:chOff x="8184063" y="1620945"/>
            <a:chExt cx="3854915" cy="5097096"/>
          </a:xfrm>
        </p:grpSpPr>
        <p:sp>
          <p:nvSpPr>
            <p:cNvPr id="34" name="사각형: 둥근 위쪽 모서리 17">
              <a:extLst>
                <a:ext uri="{FF2B5EF4-FFF2-40B4-BE49-F238E27FC236}">
                  <a16:creationId xmlns:a16="http://schemas.microsoft.com/office/drawing/2014/main" id="{58F0E354-FDAF-49A4-98B8-CC2744E4FBEB}"/>
                </a:ext>
              </a:extLst>
            </p:cNvPr>
            <p:cNvSpPr/>
            <p:nvPr/>
          </p:nvSpPr>
          <p:spPr>
            <a:xfrm>
              <a:off x="8184063" y="1620945"/>
              <a:ext cx="3854915" cy="5097096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5" name="사각형: 둥근 모서리 18">
              <a:extLst>
                <a:ext uri="{FF2B5EF4-FFF2-40B4-BE49-F238E27FC236}">
                  <a16:creationId xmlns:a16="http://schemas.microsoft.com/office/drawing/2014/main" id="{3B538112-B257-45CF-A1F9-54FA66573CD6}"/>
                </a:ext>
              </a:extLst>
            </p:cNvPr>
            <p:cNvSpPr/>
            <p:nvPr/>
          </p:nvSpPr>
          <p:spPr>
            <a:xfrm>
              <a:off x="8247957" y="1685626"/>
              <a:ext cx="3727125" cy="4963092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D9434C8-C110-43E1-A4DF-9B0DCD356215}"/>
              </a:ext>
            </a:extLst>
          </p:cNvPr>
          <p:cNvGrpSpPr/>
          <p:nvPr/>
        </p:nvGrpSpPr>
        <p:grpSpPr>
          <a:xfrm>
            <a:off x="685273" y="2575189"/>
            <a:ext cx="7278818" cy="4163640"/>
            <a:chOff x="685273" y="2454088"/>
            <a:chExt cx="7278818" cy="4284741"/>
          </a:xfrm>
        </p:grpSpPr>
        <p:sp>
          <p:nvSpPr>
            <p:cNvPr id="30" name="사각형: 둥근 위쪽 모서리 17">
              <a:extLst>
                <a:ext uri="{FF2B5EF4-FFF2-40B4-BE49-F238E27FC236}">
                  <a16:creationId xmlns:a16="http://schemas.microsoft.com/office/drawing/2014/main" id="{CB81551E-5FB8-4DE9-AFE8-3FE94604BAF4}"/>
                </a:ext>
              </a:extLst>
            </p:cNvPr>
            <p:cNvSpPr/>
            <p:nvPr/>
          </p:nvSpPr>
          <p:spPr>
            <a:xfrm>
              <a:off x="685273" y="2454088"/>
              <a:ext cx="7278818" cy="4284741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1" name="사각형: 둥근 모서리 18">
              <a:extLst>
                <a:ext uri="{FF2B5EF4-FFF2-40B4-BE49-F238E27FC236}">
                  <a16:creationId xmlns:a16="http://schemas.microsoft.com/office/drawing/2014/main" id="{1357D213-325D-4D54-A85C-09486C788584}"/>
                </a:ext>
              </a:extLst>
            </p:cNvPr>
            <p:cNvSpPr/>
            <p:nvPr/>
          </p:nvSpPr>
          <p:spPr>
            <a:xfrm>
              <a:off x="805918" y="2555045"/>
              <a:ext cx="7037527" cy="4094708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3E2934C8-CBB2-C300-F8C7-7420729DE73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/3)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E949DE3-6F78-3318-8FC5-298D213A4423}"/>
              </a:ext>
            </a:extLst>
          </p:cNvPr>
          <p:cNvGrpSpPr/>
          <p:nvPr/>
        </p:nvGrpSpPr>
        <p:grpSpPr>
          <a:xfrm>
            <a:off x="1294852" y="2758479"/>
            <a:ext cx="6132640" cy="3760152"/>
            <a:chOff x="1871948" y="1039335"/>
            <a:chExt cx="8232715" cy="5429641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16F7DF6C-8F08-4A0D-9D8E-0D61090D7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1948" y="1583623"/>
              <a:ext cx="2666584" cy="2763198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60D6B213-798F-4BA2-9FA0-6EF238E6F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0456" y="4442003"/>
              <a:ext cx="2658076" cy="2020507"/>
            </a:xfrm>
            <a:prstGeom prst="rect">
              <a:avLst/>
            </a:prstGeom>
          </p:spPr>
        </p:pic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7F6868E8-7387-4B2F-B6CF-EA3A79E17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8533" y="4442003"/>
              <a:ext cx="2666582" cy="2026973"/>
            </a:xfrm>
            <a:prstGeom prst="rect">
              <a:avLst/>
            </a:pr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3C54BDD1-CB7A-4CFA-9950-616361B45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8532" y="1583623"/>
              <a:ext cx="2666582" cy="2763198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26D051C-0832-4BF6-9747-A51F76DD5A6E}"/>
                </a:ext>
              </a:extLst>
            </p:cNvPr>
            <p:cNvSpPr txBox="1"/>
            <p:nvPr/>
          </p:nvSpPr>
          <p:spPr>
            <a:xfrm>
              <a:off x="2898674" y="1042152"/>
              <a:ext cx="663881" cy="417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GT</a:t>
              </a:r>
              <a:endParaRPr lang="ko-KR" altLang="en-US" sz="16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C3E6195-21A2-4918-9312-7712BC3314B9}"/>
                </a:ext>
              </a:extLst>
            </p:cNvPr>
            <p:cNvSpPr txBox="1"/>
            <p:nvPr/>
          </p:nvSpPr>
          <p:spPr>
            <a:xfrm>
              <a:off x="5056923" y="1039335"/>
              <a:ext cx="1764791" cy="488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클래스 매핑</a:t>
              </a: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E55C650-A524-26EE-C1F9-9AB482E8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9258" y="1583623"/>
              <a:ext cx="2666582" cy="2763196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00D0152-3D6C-319C-0B0D-AA84A86B9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859" y="4435536"/>
              <a:ext cx="2666583" cy="202697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A8B9AB5-3D5B-CF81-4A6E-CF5CB5E847E4}"/>
                </a:ext>
              </a:extLst>
            </p:cNvPr>
            <p:cNvSpPr txBox="1"/>
            <p:nvPr/>
          </p:nvSpPr>
          <p:spPr>
            <a:xfrm>
              <a:off x="7341637" y="1039335"/>
              <a:ext cx="2763026" cy="488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/>
                <a:t>작은 객체 제거</a:t>
              </a:r>
              <a:r>
                <a:rPr lang="en-US" altLang="ko-KR" sz="1600" dirty="0"/>
                <a:t>(12px)</a:t>
              </a:r>
              <a:r>
                <a:rPr lang="ko-KR" altLang="en-US" sz="1600" dirty="0"/>
                <a:t> </a:t>
              </a:r>
              <a:endParaRPr lang="en-US" altLang="ko-KR" sz="1600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6B200B9-C7E3-458D-AEC7-0A42EE6F6294}"/>
              </a:ext>
            </a:extLst>
          </p:cNvPr>
          <p:cNvGrpSpPr/>
          <p:nvPr/>
        </p:nvGrpSpPr>
        <p:grpSpPr>
          <a:xfrm>
            <a:off x="8459910" y="1650170"/>
            <a:ext cx="3370311" cy="3079444"/>
            <a:chOff x="8407387" y="1091104"/>
            <a:chExt cx="3363933" cy="3459531"/>
          </a:xfrm>
        </p:grpSpPr>
        <p:graphicFrame>
          <p:nvGraphicFramePr>
            <p:cNvPr id="25" name="차트 24">
              <a:extLst>
                <a:ext uri="{FF2B5EF4-FFF2-40B4-BE49-F238E27FC236}">
                  <a16:creationId xmlns:a16="http://schemas.microsoft.com/office/drawing/2014/main" id="{29B377A2-6F25-0F3A-94BB-2C8AF3B5FB6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97296481"/>
                </p:ext>
              </p:extLst>
            </p:nvPr>
          </p:nvGraphicFramePr>
          <p:xfrm>
            <a:off x="8407387" y="1457074"/>
            <a:ext cx="3363932" cy="140411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798E25-F1E9-FF7C-1BBE-6D3241A480BE}"/>
                </a:ext>
              </a:extLst>
            </p:cNvPr>
            <p:cNvSpPr txBox="1"/>
            <p:nvPr/>
          </p:nvSpPr>
          <p:spPr>
            <a:xfrm>
              <a:off x="9230947" y="1091104"/>
              <a:ext cx="1730841" cy="431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ts val="300"/>
                </a:spcBef>
                <a:buClr>
                  <a:schemeClr val="tx2">
                    <a:lumMod val="40000"/>
                    <a:lumOff val="60000"/>
                  </a:schemeClr>
                </a:buClr>
                <a:buSzPct val="70000"/>
              </a:pPr>
              <a:r>
                <a:rPr lang="ko-KR" altLang="en-US" sz="140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클래스 매핑 전 </a:t>
              </a:r>
              <a:r>
                <a:rPr lang="en-US" altLang="ko-KR" sz="140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(89</a:t>
              </a:r>
              <a:r>
                <a:rPr lang="ko-KR" altLang="en-US" sz="140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개</a:t>
              </a:r>
              <a:r>
                <a:rPr lang="en-US" altLang="ko-KR" sz="140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)</a:t>
              </a:r>
            </a:p>
          </p:txBody>
        </p:sp>
        <p:graphicFrame>
          <p:nvGraphicFramePr>
            <p:cNvPr id="27" name="차트 26">
              <a:extLst>
                <a:ext uri="{FF2B5EF4-FFF2-40B4-BE49-F238E27FC236}">
                  <a16:creationId xmlns:a16="http://schemas.microsoft.com/office/drawing/2014/main" id="{694A55B1-5BB3-65B8-F2A7-EC3C3666A35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3249895"/>
                </p:ext>
              </p:extLst>
            </p:nvPr>
          </p:nvGraphicFramePr>
          <p:xfrm>
            <a:off x="8407388" y="3146525"/>
            <a:ext cx="3363932" cy="140411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588227-CDAC-1BDB-634A-A8FD6BA9BF6C}"/>
                </a:ext>
              </a:extLst>
            </p:cNvPr>
            <p:cNvSpPr txBox="1"/>
            <p:nvPr/>
          </p:nvSpPr>
          <p:spPr>
            <a:xfrm>
              <a:off x="9260779" y="2762187"/>
              <a:ext cx="1730841" cy="431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Bef>
                  <a:spcPts val="300"/>
                </a:spcBef>
                <a:buClr>
                  <a:schemeClr val="tx2">
                    <a:lumMod val="40000"/>
                    <a:lumOff val="60000"/>
                  </a:schemeClr>
                </a:buClr>
                <a:buSzPct val="70000"/>
              </a:pPr>
              <a:r>
                <a:rPr lang="ko-KR" altLang="en-US" sz="140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클래스 매핑 후 </a:t>
              </a:r>
              <a:r>
                <a:rPr lang="en-US" altLang="ko-KR" sz="140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(19</a:t>
              </a:r>
              <a:r>
                <a:rPr lang="ko-KR" altLang="en-US" sz="140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개</a:t>
              </a:r>
              <a:r>
                <a:rPr lang="en-US" altLang="ko-KR" sz="1400" dirty="0">
                  <a:latin typeface="KoPub돋움체 Light" panose="02020603020101020101" pitchFamily="18" charset="-127"/>
                  <a:ea typeface="KoPub돋움체 Light" panose="02020603020101020101" pitchFamily="18" charset="-127"/>
                </a:rPr>
                <a:t>)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7DDA13F3-DBA1-457E-B9A0-C3A67881DD66}"/>
              </a:ext>
            </a:extLst>
          </p:cNvPr>
          <p:cNvSpPr txBox="1"/>
          <p:nvPr/>
        </p:nvSpPr>
        <p:spPr>
          <a:xfrm>
            <a:off x="1013643" y="1054767"/>
            <a:ext cx="7194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재료연구원 </a:t>
            </a:r>
            <a:r>
              <a:rPr lang="ko-KR" altLang="en-US" sz="2000" spc="-60" dirty="0" err="1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철스크랩</a:t>
            </a:r>
            <a:r>
              <a:rPr lang="ko-KR" altLang="en-US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 관련 모델 개발 결과 요약 </a:t>
            </a:r>
            <a:r>
              <a:rPr lang="en-US" altLang="ko-KR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(</a:t>
            </a:r>
            <a:r>
              <a:rPr lang="ko-KR" altLang="en-US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추가데이터 수령</a:t>
            </a:r>
            <a:r>
              <a:rPr lang="en-US" altLang="ko-KR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)</a:t>
            </a:r>
            <a:endParaRPr lang="ko-KR" altLang="en-US" sz="2000" spc="-60" dirty="0">
              <a:solidFill>
                <a:schemeClr val="accent6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B961C18-27C8-B87B-21BE-D1685E607C13}"/>
              </a:ext>
            </a:extLst>
          </p:cNvPr>
          <p:cNvGrpSpPr/>
          <p:nvPr/>
        </p:nvGrpSpPr>
        <p:grpSpPr>
          <a:xfrm>
            <a:off x="781695" y="1636147"/>
            <a:ext cx="150368" cy="155776"/>
            <a:chOff x="4657725" y="3038478"/>
            <a:chExt cx="661990" cy="685797"/>
          </a:xfrm>
        </p:grpSpPr>
        <p:pic>
          <p:nvPicPr>
            <p:cNvPr id="43" name="그래픽 42">
              <a:extLst>
                <a:ext uri="{FF2B5EF4-FFF2-40B4-BE49-F238E27FC236}">
                  <a16:creationId xmlns:a16="http://schemas.microsoft.com/office/drawing/2014/main" id="{0A8828B7-78AD-8A56-FE82-5F27EE4C4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44" name="그래픽 43">
              <a:extLst>
                <a:ext uri="{FF2B5EF4-FFF2-40B4-BE49-F238E27FC236}">
                  <a16:creationId xmlns:a16="http://schemas.microsoft.com/office/drawing/2014/main" id="{4544840A-C631-2C47-ED9B-D7932981A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pic>
        <p:nvPicPr>
          <p:cNvPr id="45" name="그래픽 44">
            <a:extLst>
              <a:ext uri="{FF2B5EF4-FFF2-40B4-BE49-F238E27FC236}">
                <a16:creationId xmlns:a16="http://schemas.microsoft.com/office/drawing/2014/main" id="{58F00B75-1AA9-B5F2-0B85-51F8CFF0D52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5273" y="1069813"/>
            <a:ext cx="328370" cy="372153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B50E79D5-0885-8B98-ABC8-CC1CD4C1F6B0}"/>
              </a:ext>
            </a:extLst>
          </p:cNvPr>
          <p:cNvSpPr/>
          <p:nvPr/>
        </p:nvSpPr>
        <p:spPr>
          <a:xfrm>
            <a:off x="845406" y="1445840"/>
            <a:ext cx="7387367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5410" fontAlgn="base">
              <a:lnSpc>
                <a:spcPct val="150000"/>
              </a:lnSpc>
            </a:pP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작은 객체 및 클래스 매핑을 진행하여 학습결과 비교</a:t>
            </a:r>
            <a:endParaRPr lang="en-US" altLang="ko-KR" kern="0" spc="-60" dirty="0"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05410" fontAlgn="base">
              <a:lnSpc>
                <a:spcPct val="150000"/>
              </a:lnSpc>
            </a:pP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Trial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기준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5.8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배 향상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Trial 3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기준 추가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8.7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배 향상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차년도 목표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0.8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1DC39F8-79EE-8FDE-5A46-C8BB03821DF4}"/>
              </a:ext>
            </a:extLst>
          </p:cNvPr>
          <p:cNvGrpSpPr/>
          <p:nvPr/>
        </p:nvGrpSpPr>
        <p:grpSpPr>
          <a:xfrm>
            <a:off x="781695" y="2029847"/>
            <a:ext cx="150368" cy="155776"/>
            <a:chOff x="4657725" y="3038478"/>
            <a:chExt cx="661990" cy="685797"/>
          </a:xfrm>
        </p:grpSpPr>
        <p:pic>
          <p:nvPicPr>
            <p:cNvPr id="51" name="그래픽 50">
              <a:extLst>
                <a:ext uri="{FF2B5EF4-FFF2-40B4-BE49-F238E27FC236}">
                  <a16:creationId xmlns:a16="http://schemas.microsoft.com/office/drawing/2014/main" id="{C8078CF5-3DA4-5DF6-5A3F-650B21DD7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52" name="그래픽 51">
              <a:extLst>
                <a:ext uri="{FF2B5EF4-FFF2-40B4-BE49-F238E27FC236}">
                  <a16:creationId xmlns:a16="http://schemas.microsoft.com/office/drawing/2014/main" id="{6AE5D374-EC63-8FA1-D671-2064F516B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graphicFrame>
        <p:nvGraphicFramePr>
          <p:cNvPr id="32" name="차트 31">
            <a:extLst>
              <a:ext uri="{FF2B5EF4-FFF2-40B4-BE49-F238E27FC236}">
                <a16:creationId xmlns:a16="http://schemas.microsoft.com/office/drawing/2014/main" id="{25692299-AB8F-42DD-BAB8-16E7B0860E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0757328"/>
              </p:ext>
            </p:extLst>
          </p:nvPr>
        </p:nvGraphicFramePr>
        <p:xfrm>
          <a:off x="8447173" y="4580027"/>
          <a:ext cx="3509962" cy="207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</p:spTree>
    <p:extLst>
      <p:ext uri="{BB962C8B-B14F-4D97-AF65-F5344CB8AC3E}">
        <p14:creationId xmlns:p14="http://schemas.microsoft.com/office/powerpoint/2010/main" val="181133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8D99-A460-A3F9-B1C4-BCF1A2FC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3E2934C8-CBB2-C300-F8C7-7420729DE73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(3/3)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D342D4-355D-EDCD-E377-56CAF42FD31E}"/>
              </a:ext>
            </a:extLst>
          </p:cNvPr>
          <p:cNvSpPr txBox="1"/>
          <p:nvPr/>
        </p:nvSpPr>
        <p:spPr>
          <a:xfrm>
            <a:off x="1013643" y="1054767"/>
            <a:ext cx="4836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재료연구원 </a:t>
            </a:r>
            <a:r>
              <a:rPr lang="en-US" altLang="ko-KR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3</a:t>
            </a:r>
            <a:r>
              <a:rPr lang="ko-KR" altLang="en-US" sz="2000" spc="-60" dirty="0">
                <a:solidFill>
                  <a:schemeClr val="accent6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차년도 추가 연구 계획 및 이슈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52134F0-8FCE-D647-1085-AD242E4F4C84}"/>
              </a:ext>
            </a:extLst>
          </p:cNvPr>
          <p:cNvGrpSpPr/>
          <p:nvPr/>
        </p:nvGrpSpPr>
        <p:grpSpPr>
          <a:xfrm>
            <a:off x="781695" y="1674247"/>
            <a:ext cx="150368" cy="155776"/>
            <a:chOff x="4657725" y="3038478"/>
            <a:chExt cx="661990" cy="685797"/>
          </a:xfrm>
        </p:grpSpPr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69F3424C-7E63-8D5B-F677-34D261BB3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4368100A-BBD3-2614-1C96-04E2F12FB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pic>
        <p:nvPicPr>
          <p:cNvPr id="26" name="그래픽 25">
            <a:extLst>
              <a:ext uri="{FF2B5EF4-FFF2-40B4-BE49-F238E27FC236}">
                <a16:creationId xmlns:a16="http://schemas.microsoft.com/office/drawing/2014/main" id="{2EBD4255-2E7C-3F41-F8DA-A364E6AF99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273" y="1069813"/>
            <a:ext cx="328370" cy="372153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42C39AFF-4083-29DF-A310-2095B500CF08}"/>
              </a:ext>
            </a:extLst>
          </p:cNvPr>
          <p:cNvGrpSpPr/>
          <p:nvPr/>
        </p:nvGrpSpPr>
        <p:grpSpPr>
          <a:xfrm>
            <a:off x="770222" y="2096909"/>
            <a:ext cx="150368" cy="155776"/>
            <a:chOff x="4657725" y="3038478"/>
            <a:chExt cx="661990" cy="685797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D050A991-1DAF-EF57-3EAC-7F493A315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BE400246-BB9E-124F-1AF3-6DE66DBA6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BDAF04F-D653-2DA9-3D65-25C3A3859A7E}"/>
              </a:ext>
            </a:extLst>
          </p:cNvPr>
          <p:cNvGrpSpPr/>
          <p:nvPr/>
        </p:nvGrpSpPr>
        <p:grpSpPr>
          <a:xfrm>
            <a:off x="7181569" y="3071945"/>
            <a:ext cx="4022020" cy="3534969"/>
            <a:chOff x="6096000" y="1113525"/>
            <a:chExt cx="5409977" cy="5194943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A2AC75B2-C7B7-4610-801A-141B2CAB967F}"/>
                </a:ext>
              </a:extLst>
            </p:cNvPr>
            <p:cNvGrpSpPr/>
            <p:nvPr/>
          </p:nvGrpSpPr>
          <p:grpSpPr>
            <a:xfrm>
              <a:off x="6096000" y="1113525"/>
              <a:ext cx="5409977" cy="5194943"/>
              <a:chOff x="5709195" y="2975469"/>
              <a:chExt cx="7290600" cy="3071998"/>
            </a:xfrm>
          </p:grpSpPr>
          <p:sp>
            <p:nvSpPr>
              <p:cNvPr id="16" name="사각형: 둥근 위쪽 모서리 15">
                <a:extLst>
                  <a:ext uri="{FF2B5EF4-FFF2-40B4-BE49-F238E27FC236}">
                    <a16:creationId xmlns:a16="http://schemas.microsoft.com/office/drawing/2014/main" id="{71F06B7A-3F8B-49CD-89A8-FE7E5295C78B}"/>
                  </a:ext>
                </a:extLst>
              </p:cNvPr>
              <p:cNvSpPr/>
              <p:nvPr/>
            </p:nvSpPr>
            <p:spPr>
              <a:xfrm>
                <a:off x="5709195" y="2975469"/>
                <a:ext cx="7290600" cy="3071998"/>
              </a:xfrm>
              <a:prstGeom prst="round2SameRect">
                <a:avLst>
                  <a:gd name="adj1" fmla="val 3427"/>
                  <a:gd name="adj2" fmla="val 229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 w="19050" cap="flat" cmpd="sng" algn="ctr">
                <a:gradFill>
                  <a:gsLst>
                    <a:gs pos="50000">
                      <a:srgbClr val="FFFFFF">
                        <a:alpha val="0"/>
                      </a:srgbClr>
                    </a:gs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38100" algn="ctr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/>
                <a:endParaRPr lang="ko-KR" altLang="en-US" sz="1600" kern="0" spc="-6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49ACA366-9E06-47B8-9A1D-2B70C8DE3259}"/>
                  </a:ext>
                </a:extLst>
              </p:cNvPr>
              <p:cNvSpPr/>
              <p:nvPr/>
            </p:nvSpPr>
            <p:spPr>
              <a:xfrm>
                <a:off x="5830037" y="3068803"/>
                <a:ext cx="7048918" cy="2929830"/>
              </a:xfrm>
              <a:prstGeom prst="roundRect">
                <a:avLst>
                  <a:gd name="adj" fmla="val 501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" dist="127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0" cap="none" spc="-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endParaRPr>
              </a:p>
            </p:txBody>
          </p:sp>
        </p:grp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4C8FD07-A208-4D6D-A18A-C2F9D5A0D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6931" r="10440"/>
            <a:stretch/>
          </p:blipFill>
          <p:spPr>
            <a:xfrm>
              <a:off x="6663959" y="1533641"/>
              <a:ext cx="2150295" cy="171280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93FEECD-968E-4F28-8725-C1B52B6EF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63959" y="3246447"/>
              <a:ext cx="2150295" cy="158295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99F9C87-FA5C-4D83-A710-D099A2AB6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814254" y="3246447"/>
              <a:ext cx="2150295" cy="158295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D6CCF65-BFFE-4BD2-A035-0B7FE8A5E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14254" y="1533640"/>
              <a:ext cx="2150295" cy="171280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4A49E82-3847-486D-A140-16E94C13A4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t="1333"/>
            <a:stretch/>
          </p:blipFill>
          <p:spPr>
            <a:xfrm>
              <a:off x="6663959" y="4794105"/>
              <a:ext cx="2150295" cy="1374777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C5B6C0D-64B6-484E-B0DC-8C886A622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814253" y="4794104"/>
              <a:ext cx="2150295" cy="1374777"/>
            </a:xfrm>
            <a:prstGeom prst="rect">
              <a:avLst/>
            </a:prstGeom>
          </p:spPr>
        </p:pic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7FEE29E-1445-4A47-8A2F-9E7F056EEDB5}"/>
                </a:ext>
              </a:extLst>
            </p:cNvPr>
            <p:cNvSpPr/>
            <p:nvPr/>
          </p:nvSpPr>
          <p:spPr>
            <a:xfrm>
              <a:off x="6259112" y="1533640"/>
              <a:ext cx="334978" cy="349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B43D77F-28A2-4F6E-8A00-6A17AC30D48F}"/>
                </a:ext>
              </a:extLst>
            </p:cNvPr>
            <p:cNvSpPr/>
            <p:nvPr/>
          </p:nvSpPr>
          <p:spPr>
            <a:xfrm>
              <a:off x="11022939" y="1533640"/>
              <a:ext cx="334978" cy="349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C1327A3-D340-4198-977E-B3A2601276F5}"/>
                </a:ext>
              </a:extLst>
            </p:cNvPr>
            <p:cNvSpPr/>
            <p:nvPr/>
          </p:nvSpPr>
          <p:spPr>
            <a:xfrm>
              <a:off x="6262683" y="3267534"/>
              <a:ext cx="334978" cy="349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8C5BB0F-4E2D-4DC1-A76C-BEFC04D20942}"/>
                </a:ext>
              </a:extLst>
            </p:cNvPr>
            <p:cNvSpPr/>
            <p:nvPr/>
          </p:nvSpPr>
          <p:spPr>
            <a:xfrm>
              <a:off x="6267698" y="4794104"/>
              <a:ext cx="334978" cy="349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4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7228975-AC4A-2198-A835-B4BF9AF90FB2}"/>
              </a:ext>
            </a:extLst>
          </p:cNvPr>
          <p:cNvGrpSpPr/>
          <p:nvPr/>
        </p:nvGrpSpPr>
        <p:grpSpPr>
          <a:xfrm>
            <a:off x="932063" y="3073001"/>
            <a:ext cx="5945631" cy="3533913"/>
            <a:chOff x="5709195" y="2975470"/>
            <a:chExt cx="7290600" cy="3048117"/>
          </a:xfrm>
        </p:grpSpPr>
        <p:sp>
          <p:nvSpPr>
            <p:cNvPr id="37" name="사각형: 둥근 위쪽 모서리 17">
              <a:extLst>
                <a:ext uri="{FF2B5EF4-FFF2-40B4-BE49-F238E27FC236}">
                  <a16:creationId xmlns:a16="http://schemas.microsoft.com/office/drawing/2014/main" id="{1FE94771-2DD2-3E0A-4094-8A931E274F8A}"/>
                </a:ext>
              </a:extLst>
            </p:cNvPr>
            <p:cNvSpPr/>
            <p:nvPr/>
          </p:nvSpPr>
          <p:spPr>
            <a:xfrm>
              <a:off x="5709195" y="2975470"/>
              <a:ext cx="7290600" cy="3048117"/>
            </a:xfrm>
            <a:prstGeom prst="round2SameRect">
              <a:avLst>
                <a:gd name="adj1" fmla="val 3427"/>
                <a:gd name="adj2" fmla="val 229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gradFill>
                <a:gsLst>
                  <a:gs pos="50000">
                    <a:srgbClr val="FFFFFF">
                      <a:alpha val="0"/>
                    </a:srgbClr>
                  </a:gs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endParaRPr lang="ko-KR" altLang="en-US" sz="1600" kern="0" spc="-6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8" name="사각형: 둥근 모서리 18">
              <a:extLst>
                <a:ext uri="{FF2B5EF4-FFF2-40B4-BE49-F238E27FC236}">
                  <a16:creationId xmlns:a16="http://schemas.microsoft.com/office/drawing/2014/main" id="{069E9000-3B70-1CDD-A77D-2CBC477D65E8}"/>
                </a:ext>
              </a:extLst>
            </p:cNvPr>
            <p:cNvSpPr/>
            <p:nvPr/>
          </p:nvSpPr>
          <p:spPr>
            <a:xfrm>
              <a:off x="5830035" y="3068803"/>
              <a:ext cx="7048918" cy="2906314"/>
            </a:xfrm>
            <a:prstGeom prst="roundRect">
              <a:avLst>
                <a:gd name="adj" fmla="val 5019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" dist="127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45" name="사각형: 둥근 모서리 20">
            <a:extLst>
              <a:ext uri="{FF2B5EF4-FFF2-40B4-BE49-F238E27FC236}">
                <a16:creationId xmlns:a16="http://schemas.microsoft.com/office/drawing/2014/main" id="{08776169-487D-92D8-E172-FBD4251B5112}"/>
              </a:ext>
            </a:extLst>
          </p:cNvPr>
          <p:cNvSpPr/>
          <p:nvPr/>
        </p:nvSpPr>
        <p:spPr>
          <a:xfrm>
            <a:off x="2909369" y="2942143"/>
            <a:ext cx="1828591" cy="31957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25400"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부식 인식 </a:t>
            </a:r>
            <a:r>
              <a:rPr lang="en-US" altLang="ko-KR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head </a:t>
            </a:r>
            <a:r>
              <a:rPr lang="ko-KR" altLang="en-US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추가</a:t>
            </a:r>
          </a:p>
        </p:txBody>
      </p:sp>
      <p:sp>
        <p:nvSpPr>
          <p:cNvPr id="47" name="사각형: 둥근 모서리 20">
            <a:extLst>
              <a:ext uri="{FF2B5EF4-FFF2-40B4-BE49-F238E27FC236}">
                <a16:creationId xmlns:a16="http://schemas.microsoft.com/office/drawing/2014/main" id="{09457F98-701E-8216-C31A-E749AFC8836A}"/>
              </a:ext>
            </a:extLst>
          </p:cNvPr>
          <p:cNvSpPr/>
          <p:nvPr/>
        </p:nvSpPr>
        <p:spPr>
          <a:xfrm>
            <a:off x="8325663" y="2942144"/>
            <a:ext cx="1733831" cy="31957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>
            <a:outerShdw blurRad="25400"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400" kern="0" spc="-6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데이터 라벨 이슈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A32B059-9AD8-E046-0082-0C77D8BB9B9D}"/>
              </a:ext>
            </a:extLst>
          </p:cNvPr>
          <p:cNvSpPr/>
          <p:nvPr/>
        </p:nvSpPr>
        <p:spPr>
          <a:xfrm>
            <a:off x="845406" y="1483940"/>
            <a:ext cx="11082619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5410" fontAlgn="base">
              <a:lnSpc>
                <a:spcPct val="150000"/>
              </a:lnSpc>
            </a:pP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Mask2Former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적용 및 모델 고도화로 목표 성능 달성</a:t>
            </a:r>
            <a:endParaRPr lang="en-US" altLang="ko-KR" kern="0" spc="-60" dirty="0">
              <a:solidFill>
                <a:schemeClr val="tx1">
                  <a:lumMod val="65000"/>
                  <a:lumOff val="3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05410" fontAlgn="base">
              <a:lnSpc>
                <a:spcPct val="150000"/>
              </a:lnSpc>
            </a:pP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녹 인식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모델 개발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추가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head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도입 등 고려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  <a:p>
            <a:pPr marL="105410" fontAlgn="base">
              <a:lnSpc>
                <a:spcPct val="150000"/>
              </a:lnSpc>
            </a:pP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라벨 이슈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라벨 겹침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작은 객체 다수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객체 개별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-chunk 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처리 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kern="0" spc="-6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라벨링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오류</a:t>
            </a:r>
            <a:r>
              <a:rPr lang="en-US" altLang="ko-KR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r>
              <a:rPr lang="ko-KR" altLang="en-US" kern="0" spc="-6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점검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F24326E-4900-2363-6BF2-2603B24DC701}"/>
              </a:ext>
            </a:extLst>
          </p:cNvPr>
          <p:cNvGrpSpPr/>
          <p:nvPr/>
        </p:nvGrpSpPr>
        <p:grpSpPr>
          <a:xfrm>
            <a:off x="768373" y="2487470"/>
            <a:ext cx="150368" cy="155776"/>
            <a:chOff x="4657725" y="3038478"/>
            <a:chExt cx="661990" cy="685797"/>
          </a:xfrm>
        </p:grpSpPr>
        <p:pic>
          <p:nvPicPr>
            <p:cNvPr id="51" name="그래픽 50">
              <a:extLst>
                <a:ext uri="{FF2B5EF4-FFF2-40B4-BE49-F238E27FC236}">
                  <a16:creationId xmlns:a16="http://schemas.microsoft.com/office/drawing/2014/main" id="{FE677D70-E19F-68EB-22D9-DA068FDAF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7725" y="3133725"/>
              <a:ext cx="590550" cy="590550"/>
            </a:xfrm>
            <a:prstGeom prst="rect">
              <a:avLst/>
            </a:prstGeom>
          </p:spPr>
        </p:pic>
        <p:pic>
          <p:nvPicPr>
            <p:cNvPr id="52" name="그래픽 51">
              <a:extLst>
                <a:ext uri="{FF2B5EF4-FFF2-40B4-BE49-F238E27FC236}">
                  <a16:creationId xmlns:a16="http://schemas.microsoft.com/office/drawing/2014/main" id="{FC1A83F6-4EBE-1026-D96F-F5C6EA825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5840" y="3038478"/>
              <a:ext cx="523875" cy="514350"/>
            </a:xfrm>
            <a:prstGeom prst="rect">
              <a:avLst/>
            </a:prstGeom>
          </p:spPr>
        </p:pic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9F17BEB7-B0B6-4D23-B7C1-7B11EAFD4B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207" y="3288610"/>
            <a:ext cx="4846913" cy="32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5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2108</TotalTime>
  <Words>275</Words>
  <Application>Microsoft Office PowerPoint</Application>
  <PresentationFormat>와이드스크린</PresentationFormat>
  <Paragraphs>44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KoPubWorld돋움체 Bold</vt:lpstr>
      <vt:lpstr>KoPub돋움체 Light</vt:lpstr>
      <vt:lpstr>나눔고딕 ExtraBold</vt:lpstr>
      <vt:lpstr>나눔스퀘어 네오 Bold</vt:lpstr>
      <vt:lpstr>나눔스퀘어 네오 ExtraBold</vt:lpstr>
      <vt:lpstr>나눔스퀘어 네오 Heavy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준희</dc:creator>
  <cp:lastModifiedBy>준희</cp:lastModifiedBy>
  <cp:revision>49</cp:revision>
  <dcterms:created xsi:type="dcterms:W3CDTF">2026-04-16T06:45:39Z</dcterms:created>
  <dcterms:modified xsi:type="dcterms:W3CDTF">2026-04-20T02:13:12Z</dcterms:modified>
</cp:coreProperties>
</file>
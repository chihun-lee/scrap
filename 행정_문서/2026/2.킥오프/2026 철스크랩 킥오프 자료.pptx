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76" r:id="rId2"/>
    <p:sldId id="386" r:id="rId3"/>
    <p:sldId id="336" r:id="rId4"/>
    <p:sldId id="387" r:id="rId5"/>
    <p:sldId id="38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93" autoAdjust="0"/>
    <p:restoredTop sz="90659" autoAdjust="0"/>
  </p:normalViewPr>
  <p:slideViewPr>
    <p:cSldViewPr snapToGrid="0">
      <p:cViewPr>
        <p:scale>
          <a:sx n="85" d="100"/>
          <a:sy n="85" d="100"/>
        </p:scale>
        <p:origin x="254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3.%20&#45936;&#51060;&#53552;%202096&#44060;%20&#54617;&#49845;,%20&#51204;&#52376;&#47532;&#1261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3.%20&#45936;&#51060;&#53552;%202096&#44060;%20&#54617;&#49845;,%20&#51204;&#52376;&#47532;&#1261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433045405679134"/>
          <c:y val="7.0420263292139754E-2"/>
          <c:w val="0.74240410278547908"/>
          <c:h val="0.392389909507179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'YOLO Results'!$E$1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'YOLO Results'!$C$3:$C$20</c:f>
              <c:strCache>
                <c:ptCount val="18"/>
                <c:pt idx="0">
                  <c:v>1.Laser cutting (thick plate)</c:v>
                </c:pt>
                <c:pt idx="1">
                  <c:v>10.Shredded general ferrous scrap</c:v>
                </c:pt>
                <c:pt idx="2">
                  <c:v>11.Shredder</c:v>
                </c:pt>
                <c:pt idx="3">
                  <c:v>12.Worksite oxidized scrap</c:v>
                </c:pt>
                <c:pt idx="4">
                  <c:v>13.Sealed drum</c:v>
                </c:pt>
                <c:pt idx="5">
                  <c:v>14.Scrap automotive parts</c:v>
                </c:pt>
                <c:pt idx="6">
                  <c:v>15.Gangform</c:v>
                </c:pt>
                <c:pt idx="7">
                  <c:v>16.Chair</c:v>
                </c:pt>
                <c:pt idx="8">
                  <c:v>18.Cut H-beam scrap</c:v>
                </c:pt>
                <c:pt idx="9">
                  <c:v>19.Forklift truck</c:v>
                </c:pt>
                <c:pt idx="10">
                  <c:v>2.Pipe_1</c:v>
                </c:pt>
                <c:pt idx="11">
                  <c:v>20.Galvanized steel pipe</c:v>
                </c:pt>
                <c:pt idx="12">
                  <c:v>21.h-beam, i-beam, and bar- shaped steel</c:v>
                </c:pt>
                <c:pt idx="13">
                  <c:v>22.Spring</c:v>
                </c:pt>
                <c:pt idx="14">
                  <c:v>23.Mixed heavy iron scrap</c:v>
                </c:pt>
                <c:pt idx="15">
                  <c:v>24.Grating manhole cover</c:v>
                </c:pt>
                <c:pt idx="16">
                  <c:v>25.Rebar coil scrap</c:v>
                </c:pt>
                <c:pt idx="17">
                  <c:v>26.Scaffolding pipe</c:v>
                </c:pt>
              </c:strCache>
            </c:strRef>
          </c:cat>
          <c:val>
            <c:numRef>
              <c:f>'YOLO Results'!$E$3:$E$20</c:f>
              <c:numCache>
                <c:formatCode>General</c:formatCode>
                <c:ptCount val="18"/>
                <c:pt idx="0">
                  <c:v>11</c:v>
                </c:pt>
                <c:pt idx="1">
                  <c:v>10</c:v>
                </c:pt>
                <c:pt idx="2">
                  <c:v>7</c:v>
                </c:pt>
                <c:pt idx="3">
                  <c:v>359</c:v>
                </c:pt>
                <c:pt idx="4">
                  <c:v>43</c:v>
                </c:pt>
                <c:pt idx="5">
                  <c:v>48</c:v>
                </c:pt>
                <c:pt idx="6">
                  <c:v>3</c:v>
                </c:pt>
                <c:pt idx="7">
                  <c:v>12</c:v>
                </c:pt>
                <c:pt idx="8">
                  <c:v>164</c:v>
                </c:pt>
                <c:pt idx="9">
                  <c:v>267</c:v>
                </c:pt>
                <c:pt idx="10">
                  <c:v>28</c:v>
                </c:pt>
                <c:pt idx="11">
                  <c:v>4</c:v>
                </c:pt>
                <c:pt idx="12">
                  <c:v>64</c:v>
                </c:pt>
                <c:pt idx="13">
                  <c:v>185</c:v>
                </c:pt>
                <c:pt idx="14">
                  <c:v>88</c:v>
                </c:pt>
                <c:pt idx="15">
                  <c:v>1626</c:v>
                </c:pt>
                <c:pt idx="16">
                  <c:v>20091</c:v>
                </c:pt>
                <c:pt idx="17">
                  <c:v>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5-754B-BCD6-02B41B066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0698704"/>
        <c:axId val="290699120"/>
      </c:barChart>
      <c:catAx>
        <c:axId val="29069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9120"/>
        <c:crosses val="autoZero"/>
        <c:auto val="1"/>
        <c:lblAlgn val="ctr"/>
        <c:lblOffset val="100"/>
        <c:noMultiLvlLbl val="0"/>
      </c:catAx>
      <c:valAx>
        <c:axId val="29069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YOLO_eval!$C$1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YOLO_eval!$A$3:$A$21</c:f>
              <c:strCache>
                <c:ptCount val="19"/>
                <c:pt idx="0">
                  <c:v>mixed steel</c:v>
                </c:pt>
                <c:pt idx="1">
                  <c:v>machine</c:v>
                </c:pt>
                <c:pt idx="2">
                  <c:v>drum</c:v>
                </c:pt>
                <c:pt idx="3">
                  <c:v>panel</c:v>
                </c:pt>
                <c:pt idx="4">
                  <c:v>trash</c:v>
                </c:pt>
                <c:pt idx="5">
                  <c:v>beam</c:v>
                </c:pt>
                <c:pt idx="6">
                  <c:v>pipe</c:v>
                </c:pt>
                <c:pt idx="7">
                  <c:v>heavy iron</c:v>
                </c:pt>
                <c:pt idx="8">
                  <c:v>mesh</c:v>
                </c:pt>
                <c:pt idx="9">
                  <c:v>structure steel</c:v>
                </c:pt>
                <c:pt idx="10">
                  <c:v>rebar</c:v>
                </c:pt>
                <c:pt idx="11">
                  <c:v>small pipe</c:v>
                </c:pt>
                <c:pt idx="12">
                  <c:v>vehicle</c:v>
                </c:pt>
                <c:pt idx="13">
                  <c:v>square pipe</c:v>
                </c:pt>
                <c:pt idx="14">
                  <c:v>Guillotine</c:v>
                </c:pt>
                <c:pt idx="15">
                  <c:v>LPG GAS cylinder</c:v>
                </c:pt>
                <c:pt idx="16">
                  <c:v>handler</c:v>
                </c:pt>
                <c:pt idx="17">
                  <c:v>plastic</c:v>
                </c:pt>
                <c:pt idx="18">
                  <c:v>Fan</c:v>
                </c:pt>
              </c:strCache>
            </c:strRef>
          </c:cat>
          <c:val>
            <c:numRef>
              <c:f>YOLO_eval!$C$3:$C$21</c:f>
              <c:numCache>
                <c:formatCode>General</c:formatCode>
                <c:ptCount val="19"/>
                <c:pt idx="0">
                  <c:v>1044</c:v>
                </c:pt>
                <c:pt idx="1">
                  <c:v>365</c:v>
                </c:pt>
                <c:pt idx="2">
                  <c:v>297</c:v>
                </c:pt>
                <c:pt idx="3">
                  <c:v>12767</c:v>
                </c:pt>
                <c:pt idx="4">
                  <c:v>843</c:v>
                </c:pt>
                <c:pt idx="5">
                  <c:v>564</c:v>
                </c:pt>
                <c:pt idx="6">
                  <c:v>412</c:v>
                </c:pt>
                <c:pt idx="7">
                  <c:v>25851</c:v>
                </c:pt>
                <c:pt idx="8">
                  <c:v>20091</c:v>
                </c:pt>
                <c:pt idx="9">
                  <c:v>4070</c:v>
                </c:pt>
                <c:pt idx="10">
                  <c:v>4145</c:v>
                </c:pt>
                <c:pt idx="11">
                  <c:v>9231</c:v>
                </c:pt>
                <c:pt idx="12">
                  <c:v>575</c:v>
                </c:pt>
                <c:pt idx="13">
                  <c:v>335</c:v>
                </c:pt>
                <c:pt idx="14">
                  <c:v>870</c:v>
                </c:pt>
                <c:pt idx="15">
                  <c:v>328</c:v>
                </c:pt>
                <c:pt idx="16">
                  <c:v>12</c:v>
                </c:pt>
                <c:pt idx="17">
                  <c:v>2160</c:v>
                </c:pt>
                <c:pt idx="18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C-3245-9D56-9F7D99815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1768000"/>
        <c:axId val="371761760"/>
      </c:barChart>
      <c:catAx>
        <c:axId val="37176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1760"/>
        <c:crosses val="autoZero"/>
        <c:auto val="1"/>
        <c:lblAlgn val="ctr"/>
        <c:lblOffset val="100"/>
        <c:noMultiLvlLbl val="0"/>
      </c:catAx>
      <c:valAx>
        <c:axId val="37176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8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Sheet1!$A$3:$A$21</c:f>
              <c:strCache>
                <c:ptCount val="19"/>
                <c:pt idx="0">
                  <c:v>mixed steel</c:v>
                </c:pt>
                <c:pt idx="1">
                  <c:v>machine</c:v>
                </c:pt>
                <c:pt idx="2">
                  <c:v>drum</c:v>
                </c:pt>
                <c:pt idx="3">
                  <c:v>panel</c:v>
                </c:pt>
                <c:pt idx="4">
                  <c:v>trash</c:v>
                </c:pt>
                <c:pt idx="5">
                  <c:v>beam</c:v>
                </c:pt>
                <c:pt idx="6">
                  <c:v>pipe</c:v>
                </c:pt>
                <c:pt idx="7">
                  <c:v>heavy iron</c:v>
                </c:pt>
                <c:pt idx="8">
                  <c:v>mesh</c:v>
                </c:pt>
                <c:pt idx="9">
                  <c:v>structure steel</c:v>
                </c:pt>
                <c:pt idx="10">
                  <c:v>rebar</c:v>
                </c:pt>
                <c:pt idx="11">
                  <c:v>small pipe</c:v>
                </c:pt>
                <c:pt idx="12">
                  <c:v>vehicle</c:v>
                </c:pt>
                <c:pt idx="13">
                  <c:v>square pipe</c:v>
                </c:pt>
                <c:pt idx="14">
                  <c:v>Guillotine</c:v>
                </c:pt>
                <c:pt idx="15">
                  <c:v>LPG GAS cylinder</c:v>
                </c:pt>
                <c:pt idx="16">
                  <c:v>handler</c:v>
                </c:pt>
                <c:pt idx="17">
                  <c:v>plastic</c:v>
                </c:pt>
                <c:pt idx="18">
                  <c:v>Fan</c:v>
                </c:pt>
              </c:strCache>
            </c:strRef>
          </c:cat>
          <c:val>
            <c:numRef>
              <c:f>Sheet1!$C$3:$C$21</c:f>
              <c:numCache>
                <c:formatCode>General</c:formatCode>
                <c:ptCount val="19"/>
                <c:pt idx="0">
                  <c:v>112</c:v>
                </c:pt>
                <c:pt idx="1">
                  <c:v>316</c:v>
                </c:pt>
                <c:pt idx="2">
                  <c:v>522</c:v>
                </c:pt>
                <c:pt idx="3">
                  <c:v>332</c:v>
                </c:pt>
                <c:pt idx="4">
                  <c:v>280</c:v>
                </c:pt>
                <c:pt idx="5">
                  <c:v>325</c:v>
                </c:pt>
                <c:pt idx="6">
                  <c:v>230</c:v>
                </c:pt>
                <c:pt idx="7">
                  <c:v>188</c:v>
                </c:pt>
                <c:pt idx="8">
                  <c:v>338</c:v>
                </c:pt>
                <c:pt idx="9">
                  <c:v>518</c:v>
                </c:pt>
                <c:pt idx="10">
                  <c:v>7990</c:v>
                </c:pt>
                <c:pt idx="11">
                  <c:v>230</c:v>
                </c:pt>
                <c:pt idx="12">
                  <c:v>5</c:v>
                </c:pt>
                <c:pt idx="13">
                  <c:v>1933</c:v>
                </c:pt>
                <c:pt idx="14">
                  <c:v>2949</c:v>
                </c:pt>
                <c:pt idx="15">
                  <c:v>1309</c:v>
                </c:pt>
                <c:pt idx="16">
                  <c:v>8244</c:v>
                </c:pt>
                <c:pt idx="17">
                  <c:v>123</c:v>
                </c:pt>
                <c:pt idx="18">
                  <c:v>1709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D9-6E42-B85C-22340B97E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99536"/>
        <c:axId val="162302032"/>
      </c:barChart>
      <c:catAx>
        <c:axId val="16229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302032"/>
        <c:crosses val="autoZero"/>
        <c:auto val="1"/>
        <c:lblAlgn val="ctr"/>
        <c:lblOffset val="100"/>
        <c:noMultiLvlLbl val="0"/>
      </c:catAx>
      <c:valAx>
        <c:axId val="16230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29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 3 12px</a:t>
            </a:r>
            <a:r>
              <a:rPr lang="ko-KR" altLang="en-US" dirty="0"/>
              <a:t>미만 객체 제거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Sheet1!$D$1:$K$1</c:f>
              <c:strCache>
                <c:ptCount val="8"/>
                <c:pt idx="0">
                  <c:v>Box(P)</c:v>
                </c:pt>
                <c:pt idx="1">
                  <c:v>R</c:v>
                </c:pt>
                <c:pt idx="2">
                  <c:v>mAP50</c:v>
                </c:pt>
                <c:pt idx="3">
                  <c:v>mAP50-95</c:v>
                </c:pt>
                <c:pt idx="4">
                  <c:v>Mask(P)</c:v>
                </c:pt>
                <c:pt idx="5">
                  <c:v>R</c:v>
                </c:pt>
                <c:pt idx="6">
                  <c:v>mAP50</c:v>
                </c:pt>
                <c:pt idx="7">
                  <c:v>mAP50-95</c:v>
                </c:pt>
              </c:strCache>
            </c:strRef>
          </c:cat>
          <c:val>
            <c:numRef>
              <c:f>Sheet1!$D$2:$K$2</c:f>
              <c:numCache>
                <c:formatCode>General</c:formatCode>
                <c:ptCount val="8"/>
                <c:pt idx="0">
                  <c:v>0.77800000000000002</c:v>
                </c:pt>
                <c:pt idx="1">
                  <c:v>0.55500000000000005</c:v>
                </c:pt>
                <c:pt idx="2">
                  <c:v>0.64100000000000001</c:v>
                </c:pt>
                <c:pt idx="3">
                  <c:v>0.442</c:v>
                </c:pt>
                <c:pt idx="4">
                  <c:v>0.748</c:v>
                </c:pt>
                <c:pt idx="5">
                  <c:v>0.44900000000000001</c:v>
                </c:pt>
                <c:pt idx="6">
                  <c:v>0.502</c:v>
                </c:pt>
                <c:pt idx="7">
                  <c:v>0.26200000000000001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47-4807-AEC7-D3CCD5FDA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902352"/>
        <c:axId val="164888624"/>
      </c:barChart>
      <c:catAx>
        <c:axId val="16490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888624"/>
        <c:crosses val="autoZero"/>
        <c:auto val="1"/>
        <c:lblAlgn val="ctr"/>
        <c:lblOffset val="100"/>
        <c:noMultiLvlLbl val="0"/>
      </c:catAx>
      <c:valAx>
        <c:axId val="16488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902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</a:t>
            </a:r>
            <a:r>
              <a:rPr lang="en-US" altLang="ko-KR" baseline="0" dirty="0"/>
              <a:t> 1 </a:t>
            </a:r>
            <a:r>
              <a:rPr lang="ko-KR" altLang="en-US" baseline="0" dirty="0"/>
              <a:t>데이터 </a:t>
            </a:r>
            <a:r>
              <a:rPr lang="ko-KR" altLang="en-US" baseline="0" dirty="0" err="1"/>
              <a:t>전처리</a:t>
            </a:r>
            <a:r>
              <a:rPr lang="en-US" altLang="ko-KR" baseline="0" dirty="0"/>
              <a:t>X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'YOLO Results'!$C$2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'YOLO Results'!$F$1:$M$1</c:f>
              <c:strCache>
                <c:ptCount val="8"/>
                <c:pt idx="0">
                  <c:v>Box_P</c:v>
                </c:pt>
                <c:pt idx="1">
                  <c:v>Box_R</c:v>
                </c:pt>
                <c:pt idx="2">
                  <c:v>mAP50</c:v>
                </c:pt>
                <c:pt idx="3">
                  <c:v>mAP50-95</c:v>
                </c:pt>
                <c:pt idx="4">
                  <c:v>Mask_P</c:v>
                </c:pt>
                <c:pt idx="5">
                  <c:v>Mask_R</c:v>
                </c:pt>
                <c:pt idx="6">
                  <c:v>Mask_mAP50</c:v>
                </c:pt>
                <c:pt idx="7">
                  <c:v>Mask_mAP50-95</c:v>
                </c:pt>
              </c:strCache>
            </c:strRef>
          </c:cat>
          <c:val>
            <c:numRef>
              <c:f>'YOLO Results'!$F$2:$M$2</c:f>
              <c:numCache>
                <c:formatCode>General</c:formatCode>
                <c:ptCount val="8"/>
                <c:pt idx="0">
                  <c:v>1.9300000000000001E-2</c:v>
                </c:pt>
                <c:pt idx="1">
                  <c:v>1.0800000000000001E-2</c:v>
                </c:pt>
                <c:pt idx="2">
                  <c:v>1.2699999999999999E-2</c:v>
                </c:pt>
                <c:pt idx="3">
                  <c:v>7.2199999999999999E-3</c:v>
                </c:pt>
                <c:pt idx="4">
                  <c:v>2.0299999999999999E-2</c:v>
                </c:pt>
                <c:pt idx="5">
                  <c:v>1.12E-2</c:v>
                </c:pt>
                <c:pt idx="6">
                  <c:v>1.35E-2</c:v>
                </c:pt>
                <c:pt idx="7">
                  <c:v>1.01E-2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4-0449-B12D-70EBD745A5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940256"/>
        <c:axId val="292938176"/>
      </c:barChart>
      <c:catAx>
        <c:axId val="29294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2938176"/>
        <c:crosses val="autoZero"/>
        <c:auto val="1"/>
        <c:lblAlgn val="ctr"/>
        <c:lblOffset val="100"/>
        <c:noMultiLvlLbl val="0"/>
      </c:catAx>
      <c:valAx>
        <c:axId val="29293817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2940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Trial 2 </a:t>
            </a:r>
            <a:r>
              <a:rPr lang="ko-KR" altLang="en-US" dirty="0"/>
              <a:t>클래스 </a:t>
            </a:r>
            <a:r>
              <a:rPr lang="ko-KR" altLang="en-US" dirty="0" err="1"/>
              <a:t>매핑처리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YOLO_eval!$A$2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YOLO_eval!$D$1:$K$1</c:f>
              <c:strCache>
                <c:ptCount val="8"/>
                <c:pt idx="0">
                  <c:v>Box_P</c:v>
                </c:pt>
                <c:pt idx="1">
                  <c:v>Box_R</c:v>
                </c:pt>
                <c:pt idx="2">
                  <c:v>mAP50</c:v>
                </c:pt>
                <c:pt idx="3">
                  <c:v>mAP50-95</c:v>
                </c:pt>
                <c:pt idx="4">
                  <c:v>Mask_P</c:v>
                </c:pt>
                <c:pt idx="5">
                  <c:v>Mask_R</c:v>
                </c:pt>
                <c:pt idx="6">
                  <c:v>Mask_mAP50</c:v>
                </c:pt>
                <c:pt idx="7">
                  <c:v>Mask_mAP50-95</c:v>
                </c:pt>
              </c:strCache>
            </c:strRef>
          </c:cat>
          <c:val>
            <c:numRef>
              <c:f>YOLO_eval!$D$2:$K$2</c:f>
              <c:numCache>
                <c:formatCode>General</c:formatCode>
                <c:ptCount val="8"/>
                <c:pt idx="0">
                  <c:v>0.1</c:v>
                </c:pt>
                <c:pt idx="1">
                  <c:v>6.2199999999999998E-2</c:v>
                </c:pt>
                <c:pt idx="2">
                  <c:v>7.3400000000000007E-2</c:v>
                </c:pt>
                <c:pt idx="3">
                  <c:v>4.6199999999999998E-2</c:v>
                </c:pt>
                <c:pt idx="4">
                  <c:v>8.6999999999999994E-2</c:v>
                </c:pt>
                <c:pt idx="5">
                  <c:v>4.3700000000000003E-2</c:v>
                </c:pt>
                <c:pt idx="6">
                  <c:v>5.6500000000000002E-2</c:v>
                </c:pt>
                <c:pt idx="7">
                  <c:v>2.5899999999999999E-2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0-BE45-A18A-40CECADAB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4171424"/>
        <c:axId val="334172256"/>
      </c:barChart>
      <c:catAx>
        <c:axId val="33417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34172256"/>
        <c:crosses val="autoZero"/>
        <c:auto val="1"/>
        <c:lblAlgn val="ctr"/>
        <c:lblOffset val="100"/>
        <c:noMultiLvlLbl val="0"/>
      </c:catAx>
      <c:valAx>
        <c:axId val="33417225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3417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'YOLO Results'!$E$1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'YOLO Results'!$C$3:$C$20</c:f>
              <c:strCache>
                <c:ptCount val="18"/>
                <c:pt idx="0">
                  <c:v>1.Laser cutting (thick plate)</c:v>
                </c:pt>
                <c:pt idx="1">
                  <c:v>10.Shredded general ferrous scrap</c:v>
                </c:pt>
                <c:pt idx="2">
                  <c:v>11.Shredder</c:v>
                </c:pt>
                <c:pt idx="3">
                  <c:v>12.Worksite oxidized scrap</c:v>
                </c:pt>
                <c:pt idx="4">
                  <c:v>13.Sealed drum</c:v>
                </c:pt>
                <c:pt idx="5">
                  <c:v>14.Scrap automotive parts</c:v>
                </c:pt>
                <c:pt idx="6">
                  <c:v>15.Gangform</c:v>
                </c:pt>
                <c:pt idx="7">
                  <c:v>16.Chair</c:v>
                </c:pt>
                <c:pt idx="8">
                  <c:v>18.Cut H-beam scrap</c:v>
                </c:pt>
                <c:pt idx="9">
                  <c:v>19.Forklift truck</c:v>
                </c:pt>
                <c:pt idx="10">
                  <c:v>2.Pipe_1</c:v>
                </c:pt>
                <c:pt idx="11">
                  <c:v>20.Galvanized steel pipe</c:v>
                </c:pt>
                <c:pt idx="12">
                  <c:v>21.h-beam, i-beam, and bar- shaped steel</c:v>
                </c:pt>
                <c:pt idx="13">
                  <c:v>22.Spring</c:v>
                </c:pt>
                <c:pt idx="14">
                  <c:v>23.Mixed heavy iron scrap</c:v>
                </c:pt>
                <c:pt idx="15">
                  <c:v>24.Grating manhole cover</c:v>
                </c:pt>
                <c:pt idx="16">
                  <c:v>25.Rebar coil scrap</c:v>
                </c:pt>
                <c:pt idx="17">
                  <c:v>26.Scaffolding pipe</c:v>
                </c:pt>
              </c:strCache>
            </c:strRef>
          </c:cat>
          <c:val>
            <c:numRef>
              <c:f>'YOLO Results'!$E$3:$E$20</c:f>
              <c:numCache>
                <c:formatCode>General</c:formatCode>
                <c:ptCount val="18"/>
                <c:pt idx="0">
                  <c:v>11</c:v>
                </c:pt>
                <c:pt idx="1">
                  <c:v>10</c:v>
                </c:pt>
                <c:pt idx="2">
                  <c:v>7</c:v>
                </c:pt>
                <c:pt idx="3">
                  <c:v>359</c:v>
                </c:pt>
                <c:pt idx="4">
                  <c:v>43</c:v>
                </c:pt>
                <c:pt idx="5">
                  <c:v>48</c:v>
                </c:pt>
                <c:pt idx="6">
                  <c:v>3</c:v>
                </c:pt>
                <c:pt idx="7">
                  <c:v>12</c:v>
                </c:pt>
                <c:pt idx="8">
                  <c:v>164</c:v>
                </c:pt>
                <c:pt idx="9">
                  <c:v>267</c:v>
                </c:pt>
                <c:pt idx="10">
                  <c:v>28</c:v>
                </c:pt>
                <c:pt idx="11">
                  <c:v>4</c:v>
                </c:pt>
                <c:pt idx="12">
                  <c:v>64</c:v>
                </c:pt>
                <c:pt idx="13">
                  <c:v>185</c:v>
                </c:pt>
                <c:pt idx="14">
                  <c:v>88</c:v>
                </c:pt>
                <c:pt idx="15">
                  <c:v>1626</c:v>
                </c:pt>
                <c:pt idx="16">
                  <c:v>20091</c:v>
                </c:pt>
                <c:pt idx="17">
                  <c:v>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12-4D64-A1AB-8BF47BD0E1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0698704"/>
        <c:axId val="290699120"/>
      </c:barChart>
      <c:catAx>
        <c:axId val="29069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9120"/>
        <c:crosses val="autoZero"/>
        <c:auto val="1"/>
        <c:lblAlgn val="ctr"/>
        <c:lblOffset val="100"/>
        <c:noMultiLvlLbl val="0"/>
      </c:catAx>
      <c:valAx>
        <c:axId val="29069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F355C-3026-4A17-91C5-A44E22FD5C9C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843AA-A71C-47E8-BC92-32961B07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66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43AA-A71C-47E8-BC92-32961B070E7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ECDB-3388-4E7C-A40D-FDBF373B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97FE3C-FD9C-4536-ADC8-4D0A64360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89974-31C7-4FA2-8AB9-DA26EF91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3F50A-D6BA-4563-A06D-2E4CDC9A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D4B7F-8310-4865-B309-E802E451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9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63693-A8D5-4998-9A38-6AE4E43E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FD118-0ACC-4D67-B53A-77AAFFA9D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3430A-8899-49F6-90BB-E491A0B2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E6254-7DBB-4C5A-BE2C-4115C378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3D73AB-08C1-4A17-904F-5B4E80B9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1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4BF4D-9055-4635-B692-C74D9BD4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0F8F6-D8F4-4285-8BD3-A4E5E3FB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8556F-57F9-44EB-AC89-94C54CC7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2498F-3D0B-4BA8-824E-C7EE5BFB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16E87-C985-45D6-82BB-ED3BFC5B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50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CCD42-6908-4519-B4E1-6D121942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F53C7-46C2-452C-B195-E35BA7247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47A228-393C-4A6E-B3E4-CF3C9F72A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D09E9E-8D0B-47EF-8EAF-ED616D74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CC067-FABD-4A17-B3EF-A82C51C4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BA7B06-493A-416F-8F11-37CA1239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1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32C53-FFBD-4150-A611-C041D4F9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19CFF-8D43-4E3C-9B83-1162A5B21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C915EE-E49F-4A14-8947-0E8142298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D85343-E8CD-433D-8841-BCA75F24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CED0CC-0F4D-4301-9F33-F36B860E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7071A7-1B8F-4E37-8B5E-5AEBB191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DADAD1-6CF1-4A73-9074-14E5F703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1D79A9-F4D2-48A1-8CB5-C9F6DB49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3ED84-1749-4DC0-B138-0AC39ED7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4270BC-C70D-4320-A1E8-B5AA2751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7F0712-4FC1-40A4-BEF4-A8421BAA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413749-1807-4E1C-91A6-9D5FC673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75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790C91-3693-4C56-97CD-1FE6DDE0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41EE2A-188A-45CD-A56D-6C08A1EA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ABFA6-2ADC-48AD-B7E6-5717CC10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27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AB6CB-C1A9-45A2-B86E-C7E05284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0E922-FCB5-4619-B092-62954BE91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0D1796-4B13-4324-B7B8-DBD328696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C64B37-DE15-42C3-AD7A-617A4DF5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664F5D-BB87-4FA8-A9B3-EC75A47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ADCF49-C85C-420D-87C1-3F35CF5D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1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3654D-4C2C-410E-88E6-5ED4A01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5AB38C-FAC5-4DDE-9724-FE6FBE6DF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48B3B-C5CB-43AD-B617-ACF73F6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6A4E0-A6D1-46B6-967A-82990ED0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31330D-4D7D-415A-BC05-718AB611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E28E46-845F-45C4-8568-A1E12B93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316B3-0364-4FB8-A7BA-DDE6D13F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204C54-51E3-4737-B999-0C88E4750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F9C29-E353-410A-A73C-D2CDDAA4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ACA41-C270-49F8-9D41-F0B8A9F9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641C2-07AE-45BF-B49A-4E8FC629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2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BFE1AA-13AC-4F2F-B677-39A05D67A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D34E71-4DF0-4C0F-AB88-C7269D8D1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D2765-7C10-49FE-9CCF-9FE232BF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6B98F-CB4C-48BF-9213-53AA15D9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0C918-6158-4EEE-81EB-BDD8C95E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58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78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35" b="35355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F4305A7-2134-4CA6-8CE5-8C13C255E8C7}"/>
              </a:ext>
            </a:extLst>
          </p:cNvPr>
          <p:cNvSpPr txBox="1">
            <a:spLocks/>
          </p:cNvSpPr>
          <p:nvPr userDrawn="1"/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69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5AE7A5-4188-438E-983A-6889EF67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644372-42E7-4A7C-8A09-16C02BEC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501BD-49EC-4FC4-9A7A-C2ED72B54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5B0C9-3FD6-4F0C-8209-3F931E213168}" type="datetimeFigureOut">
              <a:rPr lang="ko-KR" altLang="en-US" smtClean="0"/>
              <a:t>2026. 4. 18.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9F757-F4C7-4FCA-99EA-5CB027D8F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5EE17-C0C0-4375-BFF4-3005ED5B1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1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10" Type="http://schemas.openxmlformats.org/officeDocument/2006/relationships/chart" Target="../charts/chart3.xml"/><Relationship Id="rId4" Type="http://schemas.openxmlformats.org/officeDocument/2006/relationships/image" Target="../media/image9.jpg"/><Relationship Id="rId9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hart" Target="../charts/chart7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DF99-2420-A988-7F98-34FF9CB9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6065DC8-64D8-FAEA-EA76-A9A050BFDF51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158F83-D496-D37F-AC96-08E4ABB6015F}"/>
              </a:ext>
            </a:extLst>
          </p:cNvPr>
          <p:cNvSpPr/>
          <p:nvPr/>
        </p:nvSpPr>
        <p:spPr>
          <a:xfrm>
            <a:off x="382422" y="3126902"/>
            <a:ext cx="4245714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</a:p>
        </p:txBody>
      </p:sp>
      <p:pic>
        <p:nvPicPr>
          <p:cNvPr id="4" name="Picture 2" descr="혼합형 로고">
            <a:extLst>
              <a:ext uri="{FF2B5EF4-FFF2-40B4-BE49-F238E27FC236}">
                <a16:creationId xmlns:a16="http://schemas.microsoft.com/office/drawing/2014/main" id="{E25BF2E1-0116-9692-CBA5-B838E9EAC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93" y="2960816"/>
            <a:ext cx="5539095" cy="86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52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(1/4)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F3071E87-D76F-4AD3-DA6F-165338CF8152}"/>
              </a:ext>
            </a:extLst>
          </p:cNvPr>
          <p:cNvSpPr/>
          <p:nvPr/>
        </p:nvSpPr>
        <p:spPr>
          <a:xfrm>
            <a:off x="1150605" y="3185410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초기 테스트 데이터 기반 객체 탐지 및 분류</a:t>
            </a:r>
            <a:br>
              <a:rPr kumimoji="1" lang="en-US" altLang="ko-KR" sz="1400" b="1" dirty="0">
                <a:solidFill>
                  <a:schemeClr val="tx1"/>
                </a:solidFill>
              </a:rPr>
            </a:br>
            <a:r>
              <a:rPr kumimoji="1" lang="en-US" altLang="ko-KR" sz="1400" b="1" dirty="0">
                <a:solidFill>
                  <a:schemeClr val="tx1"/>
                </a:solidFill>
              </a:rPr>
              <a:t>(15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장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객체 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1000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개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2F9ADAA-A175-95BF-0800-0F95D12BF5CE}"/>
              </a:ext>
            </a:extLst>
          </p:cNvPr>
          <p:cNvSpPr/>
          <p:nvPr/>
        </p:nvSpPr>
        <p:spPr>
          <a:xfrm>
            <a:off x="3921514" y="3185409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라벨 데이터 수령 및 학습</a:t>
            </a:r>
            <a:br>
              <a:rPr kumimoji="1" lang="en-US" altLang="ko-KR" sz="1400" b="1" dirty="0">
                <a:solidFill>
                  <a:schemeClr val="tx1"/>
                </a:solidFill>
              </a:rPr>
            </a:br>
            <a:r>
              <a:rPr kumimoji="1" lang="en-US" altLang="ko-KR" sz="1400" b="1" dirty="0">
                <a:solidFill>
                  <a:schemeClr val="tx1"/>
                </a:solidFill>
              </a:rPr>
              <a:t>(2096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장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89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클래스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</a:t>
            </a:r>
            <a:br>
              <a:rPr kumimoji="1" lang="en-US" altLang="ko-KR" sz="1400" b="1" dirty="0">
                <a:solidFill>
                  <a:schemeClr val="tx1"/>
                </a:solidFill>
              </a:rPr>
            </a:br>
            <a:r>
              <a:rPr kumimoji="1" lang="en-US" altLang="ko-KR" sz="1400" b="1" dirty="0">
                <a:solidFill>
                  <a:schemeClr val="tx1"/>
                </a:solidFill>
              </a:rPr>
              <a:t>50</a:t>
            </a:r>
            <a:r>
              <a:rPr kumimoji="1" lang="ko-KR" altLang="en-US" sz="1400" b="1" dirty="0" err="1">
                <a:solidFill>
                  <a:schemeClr val="tx1"/>
                </a:solidFill>
              </a:rPr>
              <a:t>만객체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5474B28-8C75-4287-E34C-21162AFC7768}"/>
              </a:ext>
            </a:extLst>
          </p:cNvPr>
          <p:cNvSpPr/>
          <p:nvPr/>
        </p:nvSpPr>
        <p:spPr>
          <a:xfrm>
            <a:off x="6692425" y="2090900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데이터 그대로 학습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69293C7-A2A4-1104-305E-C52693650490}"/>
              </a:ext>
            </a:extLst>
          </p:cNvPr>
          <p:cNvSpPr/>
          <p:nvPr/>
        </p:nvSpPr>
        <p:spPr>
          <a:xfrm>
            <a:off x="6692425" y="3185409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클래스 축소 </a:t>
            </a:r>
            <a:br>
              <a:rPr kumimoji="1" lang="en-US" altLang="ko-KR" sz="1400" b="1" dirty="0">
                <a:solidFill>
                  <a:schemeClr val="tx1"/>
                </a:solidFill>
              </a:rPr>
            </a:br>
            <a:r>
              <a:rPr kumimoji="1" lang="en-US" altLang="ko-KR" sz="1400" b="1" dirty="0">
                <a:solidFill>
                  <a:schemeClr val="tx1"/>
                </a:solidFill>
              </a:rPr>
              <a:t>(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비슷한 형상 맵핑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0AB1FA4-D76E-2EC3-696F-B81B435D8E99}"/>
              </a:ext>
            </a:extLst>
          </p:cNvPr>
          <p:cNvSpPr/>
          <p:nvPr/>
        </p:nvSpPr>
        <p:spPr>
          <a:xfrm>
            <a:off x="6692425" y="4279918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작은 객체 제거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9E991D2-C814-B64A-D1C0-B72012E3714C}"/>
              </a:ext>
            </a:extLst>
          </p:cNvPr>
          <p:cNvSpPr/>
          <p:nvPr/>
        </p:nvSpPr>
        <p:spPr>
          <a:xfrm>
            <a:off x="3921514" y="5447297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녹슨 정도 정량화 </a:t>
            </a:r>
            <a:br>
              <a:rPr kumimoji="1" lang="en-US" altLang="ko-KR" sz="1400" b="1" dirty="0">
                <a:solidFill>
                  <a:schemeClr val="tx1"/>
                </a:solidFill>
              </a:rPr>
            </a:br>
            <a:r>
              <a:rPr kumimoji="1" lang="ko-KR" altLang="en-US" sz="1400" b="1" dirty="0">
                <a:solidFill>
                  <a:schemeClr val="tx1"/>
                </a:solidFill>
              </a:rPr>
              <a:t>평가 모델 개발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058C2D3-02F6-375C-FCB7-573AB5480E1A}"/>
              </a:ext>
            </a:extLst>
          </p:cNvPr>
          <p:cNvSpPr/>
          <p:nvPr/>
        </p:nvSpPr>
        <p:spPr>
          <a:xfrm>
            <a:off x="6692425" y="5447298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이물질 탐지 모델 개발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2F105EE-B190-39FA-25F6-4776BC88205F}"/>
              </a:ext>
            </a:extLst>
          </p:cNvPr>
          <p:cNvSpPr/>
          <p:nvPr/>
        </p:nvSpPr>
        <p:spPr>
          <a:xfrm>
            <a:off x="9588025" y="4279917"/>
            <a:ext cx="2340000" cy="72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데이터 </a:t>
            </a:r>
            <a:r>
              <a:rPr kumimoji="1" lang="ko-KR" altLang="en-US" sz="1400" b="1" dirty="0" err="1">
                <a:solidFill>
                  <a:schemeClr val="tx1"/>
                </a:solidFill>
              </a:rPr>
              <a:t>크롭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모델 고도화</a:t>
            </a:r>
            <a:endParaRPr kumimoji="1"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라벨 수정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,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추가데이터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24CE41-1A0F-D4EB-9708-C1A559E04F39}"/>
              </a:ext>
            </a:extLst>
          </p:cNvPr>
          <p:cNvSpPr txBox="1"/>
          <p:nvPr/>
        </p:nvSpPr>
        <p:spPr>
          <a:xfrm>
            <a:off x="556443" y="1054767"/>
            <a:ext cx="5211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재료연구원 </a:t>
            </a:r>
            <a:r>
              <a:rPr lang="ko-KR" altLang="en-US" sz="2000" spc="-60" dirty="0" err="1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철스크랩</a:t>
            </a:r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관련 모델 개발 현황 요약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6B008D6-2ED8-9D54-F79D-2BED63EE8D42}"/>
              </a:ext>
            </a:extLst>
          </p:cNvPr>
          <p:cNvGrpSpPr/>
          <p:nvPr/>
        </p:nvGrpSpPr>
        <p:grpSpPr>
          <a:xfrm>
            <a:off x="324495" y="1674247"/>
            <a:ext cx="150368" cy="155776"/>
            <a:chOff x="4657725" y="3038478"/>
            <a:chExt cx="661990" cy="68579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FD49ED83-9030-DC1A-6AB1-E9BBA3149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D8562EC4-1503-52BB-754A-4EE7DD88D4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pic>
        <p:nvPicPr>
          <p:cNvPr id="32" name="그래픽 31">
            <a:extLst>
              <a:ext uri="{FF2B5EF4-FFF2-40B4-BE49-F238E27FC236}">
                <a16:creationId xmlns:a16="http://schemas.microsoft.com/office/drawing/2014/main" id="{CB8A04A1-CD9C-622C-80E4-C33802B05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073" y="1069813"/>
            <a:ext cx="328370" cy="372153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722543-C8C8-D60F-2009-723DC98CA1AE}"/>
              </a:ext>
            </a:extLst>
          </p:cNvPr>
          <p:cNvSpPr/>
          <p:nvPr/>
        </p:nvSpPr>
        <p:spPr>
          <a:xfrm>
            <a:off x="388206" y="1483940"/>
            <a:ext cx="11757121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수령 후 순차적 학습 진행 및 모델 개선 방향 설정</a:t>
            </a:r>
            <a:endParaRPr lang="en-US" altLang="ko-KR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추가데이터 기반 성능 향상 및 추가 모델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kern="0" spc="-6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녹슨정도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이물질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개발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9EE7DF2-1F91-9604-E396-95799DA592EE}"/>
              </a:ext>
            </a:extLst>
          </p:cNvPr>
          <p:cNvGrpSpPr/>
          <p:nvPr/>
        </p:nvGrpSpPr>
        <p:grpSpPr>
          <a:xfrm>
            <a:off x="313022" y="2096909"/>
            <a:ext cx="150368" cy="155776"/>
            <a:chOff x="4657725" y="3038478"/>
            <a:chExt cx="661990" cy="685797"/>
          </a:xfrm>
        </p:grpSpPr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8D1E9375-113A-3BB4-1632-A70D76BE42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6" name="그래픽 35">
              <a:extLst>
                <a:ext uri="{FF2B5EF4-FFF2-40B4-BE49-F238E27FC236}">
                  <a16:creationId xmlns:a16="http://schemas.microsoft.com/office/drawing/2014/main" id="{02FAB3E8-E8A9-6135-4FFE-BB406936DB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cxnSp>
        <p:nvCxnSpPr>
          <p:cNvPr id="38" name="꺾인 연결선[E] 37">
            <a:extLst>
              <a:ext uri="{FF2B5EF4-FFF2-40B4-BE49-F238E27FC236}">
                <a16:creationId xmlns:a16="http://schemas.microsoft.com/office/drawing/2014/main" id="{1A12627F-A5EB-955F-02FA-679CCB94087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6261514" y="2450900"/>
            <a:ext cx="430911" cy="109450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[E] 40">
            <a:extLst>
              <a:ext uri="{FF2B5EF4-FFF2-40B4-BE49-F238E27FC236}">
                <a16:creationId xmlns:a16="http://schemas.microsoft.com/office/drawing/2014/main" id="{3979CC5D-6CAF-AA9D-4DA8-8AFA085D34A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6261514" y="3545409"/>
            <a:ext cx="430911" cy="109450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821DF3E-3D1F-CDA2-12CF-619BBB9EFF6F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261514" y="5807297"/>
            <a:ext cx="43091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C665D37-3020-3212-E0AB-50BC36BD0653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9032425" y="4639917"/>
            <a:ext cx="55560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2C00A17-2D7B-9B92-8CFD-722118210C09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5091514" y="3905409"/>
            <a:ext cx="0" cy="15418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B088CAD-DC42-64E6-A674-8E6142E7A3E6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3490605" y="3545409"/>
            <a:ext cx="43090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6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/4)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949DE3-6F78-3318-8FC5-298D213A4423}"/>
              </a:ext>
            </a:extLst>
          </p:cNvPr>
          <p:cNvGrpSpPr/>
          <p:nvPr/>
        </p:nvGrpSpPr>
        <p:grpSpPr>
          <a:xfrm>
            <a:off x="1107450" y="1465330"/>
            <a:ext cx="6967977" cy="4605687"/>
            <a:chOff x="1871948" y="786131"/>
            <a:chExt cx="8597617" cy="5682845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16F7DF6C-8F08-4A0D-9D8E-0D61090D7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1948" y="1583623"/>
              <a:ext cx="2666584" cy="2763198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0D6B213-798F-4BA2-9FA0-6EF238E6F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456" y="4442003"/>
              <a:ext cx="2658076" cy="2020507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7F6868E8-7387-4B2F-B6CF-EA3A79E17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8533" y="4442003"/>
              <a:ext cx="2666582" cy="2026973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3C54BDD1-CB7A-4CFA-9950-616361B45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8532" y="1583623"/>
              <a:ext cx="2666582" cy="2763198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6D051C-0832-4BF6-9747-A51F76DD5A6E}"/>
                </a:ext>
              </a:extLst>
            </p:cNvPr>
            <p:cNvSpPr txBox="1"/>
            <p:nvPr/>
          </p:nvSpPr>
          <p:spPr>
            <a:xfrm>
              <a:off x="2898674" y="1042151"/>
              <a:ext cx="663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GT</a:t>
              </a:r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C3E6195-21A2-4918-9312-7712BC3314B9}"/>
                </a:ext>
              </a:extLst>
            </p:cNvPr>
            <p:cNvSpPr txBox="1"/>
            <p:nvPr/>
          </p:nvSpPr>
          <p:spPr>
            <a:xfrm>
              <a:off x="5089989" y="1042153"/>
              <a:ext cx="2115124" cy="455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클래스 매핑</a:t>
              </a: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E55C650-A524-26EE-C1F9-9AB482E8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9258" y="1583623"/>
              <a:ext cx="2666582" cy="2763196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00D0152-3D6C-319C-0B0D-AA84A86B9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859" y="4435536"/>
              <a:ext cx="2666583" cy="202697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A8B9AB5-3D5B-CF81-4A6E-CF5CB5E847E4}"/>
                </a:ext>
              </a:extLst>
            </p:cNvPr>
            <p:cNvSpPr txBox="1"/>
            <p:nvPr/>
          </p:nvSpPr>
          <p:spPr>
            <a:xfrm>
              <a:off x="7205114" y="786131"/>
              <a:ext cx="3264451" cy="797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작은 객체 제거 </a:t>
              </a:r>
              <a:endParaRPr lang="en-US" altLang="ko-KR" dirty="0"/>
            </a:p>
            <a:p>
              <a:pPr algn="ctr"/>
              <a:r>
                <a:rPr lang="en-US" altLang="ko-KR" dirty="0"/>
                <a:t>(size 1024 </a:t>
              </a:r>
              <a:r>
                <a:rPr lang="ko-KR" altLang="en-US" dirty="0"/>
                <a:t>기준</a:t>
              </a:r>
              <a:r>
                <a:rPr lang="en-US" altLang="ko-KR" dirty="0"/>
                <a:t>,12px)</a:t>
              </a:r>
              <a:endParaRPr lang="ko-KR" altLang="en-US" dirty="0"/>
            </a:p>
          </p:txBody>
        </p:sp>
      </p:grp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29B377A2-6F25-0F3A-94BB-2C8AF3B5F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7545328"/>
              </p:ext>
            </p:extLst>
          </p:nvPr>
        </p:nvGraphicFramePr>
        <p:xfrm>
          <a:off x="8133524" y="1818775"/>
          <a:ext cx="3236568" cy="140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2798E25-F1E9-FF7C-1BBE-6D3241A480BE}"/>
              </a:ext>
            </a:extLst>
          </p:cNvPr>
          <p:cNvSpPr txBox="1"/>
          <p:nvPr/>
        </p:nvSpPr>
        <p:spPr>
          <a:xfrm>
            <a:off x="8779247" y="1443695"/>
            <a:ext cx="2020784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1: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전처리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X</a:t>
            </a:r>
          </a:p>
        </p:txBody>
      </p:sp>
      <p:graphicFrame>
        <p:nvGraphicFramePr>
          <p:cNvPr id="27" name="차트 26">
            <a:extLst>
              <a:ext uri="{FF2B5EF4-FFF2-40B4-BE49-F238E27FC236}">
                <a16:creationId xmlns:a16="http://schemas.microsoft.com/office/drawing/2014/main" id="{694A55B1-5BB3-65B8-F2A7-EC3C3666A3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856474"/>
              </p:ext>
            </p:extLst>
          </p:nvPr>
        </p:nvGraphicFramePr>
        <p:xfrm>
          <a:off x="8069842" y="3481553"/>
          <a:ext cx="3363932" cy="140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E588227-CDAC-1BDB-634A-A8FD6BA9BF6C}"/>
              </a:ext>
            </a:extLst>
          </p:cNvPr>
          <p:cNvSpPr txBox="1"/>
          <p:nvPr/>
        </p:nvSpPr>
        <p:spPr>
          <a:xfrm>
            <a:off x="8232773" y="3097858"/>
            <a:ext cx="4499115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2: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재매핑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비슷한 형상의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객체매핑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</p:txBody>
      </p: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27CF74E1-2132-3275-A881-A3AD9B24A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887708"/>
              </p:ext>
            </p:extLst>
          </p:nvPr>
        </p:nvGraphicFramePr>
        <p:xfrm>
          <a:off x="8133525" y="5176343"/>
          <a:ext cx="3300250" cy="1311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A1E19E9D-B440-7953-3D2F-45CC3BD70C26}"/>
              </a:ext>
            </a:extLst>
          </p:cNvPr>
          <p:cNvSpPr txBox="1"/>
          <p:nvPr/>
        </p:nvSpPr>
        <p:spPr>
          <a:xfrm>
            <a:off x="8584141" y="4792648"/>
            <a:ext cx="2743883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3: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작은 객체 제거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(8px)</a:t>
            </a:r>
          </a:p>
        </p:txBody>
      </p:sp>
    </p:spTree>
    <p:extLst>
      <p:ext uri="{BB962C8B-B14F-4D97-AF65-F5344CB8AC3E}">
        <p14:creationId xmlns:p14="http://schemas.microsoft.com/office/powerpoint/2010/main" val="181133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03F16-FAD6-ACD8-7082-93214E5A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9966C370-364F-D1AD-8996-269A85457DFC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/4)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D9DF054-29AD-9EFC-4601-DF1A04CDB580}"/>
              </a:ext>
            </a:extLst>
          </p:cNvPr>
          <p:cNvGrpSpPr/>
          <p:nvPr/>
        </p:nvGrpSpPr>
        <p:grpSpPr>
          <a:xfrm>
            <a:off x="438120" y="3645863"/>
            <a:ext cx="11315759" cy="2533956"/>
            <a:chOff x="736333" y="3510951"/>
            <a:chExt cx="11855835" cy="2533956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5873AC16-E551-ACF8-4CDC-71BCE63937AF}"/>
                </a:ext>
              </a:extLst>
            </p:cNvPr>
            <p:cNvGrpSpPr/>
            <p:nvPr/>
          </p:nvGrpSpPr>
          <p:grpSpPr>
            <a:xfrm>
              <a:off x="8692801" y="3525748"/>
              <a:ext cx="3899367" cy="2513631"/>
              <a:chOff x="5709195" y="2975469"/>
              <a:chExt cx="7290600" cy="3258667"/>
            </a:xfrm>
          </p:grpSpPr>
          <p:sp>
            <p:nvSpPr>
              <p:cNvPr id="27" name="사각형: 둥근 위쪽 모서리 26">
                <a:extLst>
                  <a:ext uri="{FF2B5EF4-FFF2-40B4-BE49-F238E27FC236}">
                    <a16:creationId xmlns:a16="http://schemas.microsoft.com/office/drawing/2014/main" id="{E7333735-11C6-A236-91C4-AD2720B0A198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82A66F21-2FD2-6C10-5374-3B54DC0858A7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graphicFrame>
          <p:nvGraphicFramePr>
            <p:cNvPr id="39" name="차트 38">
              <a:extLst>
                <a:ext uri="{FF2B5EF4-FFF2-40B4-BE49-F238E27FC236}">
                  <a16:creationId xmlns:a16="http://schemas.microsoft.com/office/drawing/2014/main" id="{55F44A12-E41C-D636-0F2F-01EA3FB2809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36482042"/>
                </p:ext>
              </p:extLst>
            </p:nvPr>
          </p:nvGraphicFramePr>
          <p:xfrm>
            <a:off x="8808369" y="3573187"/>
            <a:ext cx="3656779" cy="23696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8D53229-A822-814A-A04F-100F0DEF64E4}"/>
                </a:ext>
              </a:extLst>
            </p:cNvPr>
            <p:cNvSpPr/>
            <p:nvPr/>
          </p:nvSpPr>
          <p:spPr>
            <a:xfrm>
              <a:off x="9883539" y="4175654"/>
              <a:ext cx="517496" cy="15871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7D13F16-AF0E-E24C-876E-6CC66898EC12}"/>
                </a:ext>
              </a:extLst>
            </p:cNvPr>
            <p:cNvGrpSpPr/>
            <p:nvPr/>
          </p:nvGrpSpPr>
          <p:grpSpPr>
            <a:xfrm>
              <a:off x="4729558" y="3531276"/>
              <a:ext cx="3899367" cy="2513631"/>
              <a:chOff x="5709195" y="2975469"/>
              <a:chExt cx="7290600" cy="3258667"/>
            </a:xfrm>
          </p:grpSpPr>
          <p:sp>
            <p:nvSpPr>
              <p:cNvPr id="3" name="사각형: 둥근 위쪽 모서리 29">
                <a:extLst>
                  <a:ext uri="{FF2B5EF4-FFF2-40B4-BE49-F238E27FC236}">
                    <a16:creationId xmlns:a16="http://schemas.microsoft.com/office/drawing/2014/main" id="{CCF30171-52B3-EDEA-E08C-E7A5719397CB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4" name="사각형: 둥근 모서리 30">
                <a:extLst>
                  <a:ext uri="{FF2B5EF4-FFF2-40B4-BE49-F238E27FC236}">
                    <a16:creationId xmlns:a16="http://schemas.microsoft.com/office/drawing/2014/main" id="{D5E85123-89DA-6A35-5C71-3CCAEB13DED3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6FA1675-1742-AE4C-A72B-893EBCBDE0A5}"/>
                </a:ext>
              </a:extLst>
            </p:cNvPr>
            <p:cNvGrpSpPr/>
            <p:nvPr/>
          </p:nvGrpSpPr>
          <p:grpSpPr>
            <a:xfrm>
              <a:off x="736333" y="3525748"/>
              <a:ext cx="3899367" cy="2513631"/>
              <a:chOff x="5709195" y="2975469"/>
              <a:chExt cx="7290600" cy="3258667"/>
            </a:xfrm>
          </p:grpSpPr>
          <p:sp>
            <p:nvSpPr>
              <p:cNvPr id="6" name="사각형: 둥근 위쪽 모서리 32">
                <a:extLst>
                  <a:ext uri="{FF2B5EF4-FFF2-40B4-BE49-F238E27FC236}">
                    <a16:creationId xmlns:a16="http://schemas.microsoft.com/office/drawing/2014/main" id="{F58C7118-77B4-B245-5C06-7F1EFBC770FE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7" name="사각형: 둥근 모서리 33">
                <a:extLst>
                  <a:ext uri="{FF2B5EF4-FFF2-40B4-BE49-F238E27FC236}">
                    <a16:creationId xmlns:a16="http://schemas.microsoft.com/office/drawing/2014/main" id="{F5A55810-3557-2617-13B1-915A3E7245D9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graphicFrame>
          <p:nvGraphicFramePr>
            <p:cNvPr id="8" name="차트 7">
              <a:extLst>
                <a:ext uri="{FF2B5EF4-FFF2-40B4-BE49-F238E27FC236}">
                  <a16:creationId xmlns:a16="http://schemas.microsoft.com/office/drawing/2014/main" id="{B2EE5169-66E5-843A-FAA9-F7863255FDB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20842295"/>
                </p:ext>
              </p:extLst>
            </p:nvPr>
          </p:nvGraphicFramePr>
          <p:xfrm>
            <a:off x="914291" y="3510951"/>
            <a:ext cx="3543450" cy="24322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" name="차트 8">
              <a:extLst>
                <a:ext uri="{FF2B5EF4-FFF2-40B4-BE49-F238E27FC236}">
                  <a16:creationId xmlns:a16="http://schemas.microsoft.com/office/drawing/2014/main" id="{5A9111D5-7431-B33B-5253-06C1B98A85A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97036367"/>
                </p:ext>
              </p:extLst>
            </p:nvPr>
          </p:nvGraphicFramePr>
          <p:xfrm>
            <a:off x="4907515" y="3527273"/>
            <a:ext cx="3543451" cy="24322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9B23B41-6F7D-5173-CD54-400802AC89CC}"/>
                </a:ext>
              </a:extLst>
            </p:cNvPr>
            <p:cNvSpPr/>
            <p:nvPr/>
          </p:nvSpPr>
          <p:spPr>
            <a:xfrm>
              <a:off x="1996458" y="4164056"/>
              <a:ext cx="450737" cy="14649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B917280-6EEF-50D2-4F00-EDCC9A8139A5}"/>
                </a:ext>
              </a:extLst>
            </p:cNvPr>
            <p:cNvSpPr/>
            <p:nvPr/>
          </p:nvSpPr>
          <p:spPr>
            <a:xfrm>
              <a:off x="5979093" y="4149920"/>
              <a:ext cx="450737" cy="14649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258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A2AC75B2-C7B7-4610-801A-141B2CAB967F}"/>
              </a:ext>
            </a:extLst>
          </p:cNvPr>
          <p:cNvGrpSpPr/>
          <p:nvPr/>
        </p:nvGrpSpPr>
        <p:grpSpPr>
          <a:xfrm>
            <a:off x="6096000" y="1113525"/>
            <a:ext cx="5409977" cy="5510612"/>
            <a:chOff x="5709195" y="2975469"/>
            <a:chExt cx="7290600" cy="3258667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71F06B7A-3F8B-49CD-89A8-FE7E5295C78B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9ACA366-9E06-47B8-9A1D-2B70C8DE3259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(4/4)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1396BA9-69F5-4D82-BA98-9E5F1903108D}"/>
              </a:ext>
            </a:extLst>
          </p:cNvPr>
          <p:cNvGrpSpPr/>
          <p:nvPr/>
        </p:nvGrpSpPr>
        <p:grpSpPr>
          <a:xfrm>
            <a:off x="844945" y="4385366"/>
            <a:ext cx="4574262" cy="2238771"/>
            <a:chOff x="5709195" y="2975469"/>
            <a:chExt cx="7290600" cy="3258667"/>
          </a:xfrm>
        </p:grpSpPr>
        <p:sp>
          <p:nvSpPr>
            <p:cNvPr id="5" name="사각형: 둥근 위쪽 모서리 4">
              <a:extLst>
                <a:ext uri="{FF2B5EF4-FFF2-40B4-BE49-F238E27FC236}">
                  <a16:creationId xmlns:a16="http://schemas.microsoft.com/office/drawing/2014/main" id="{2D08CC08-7B14-4B97-9B5B-35FB944FD806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E3E7506-ACFF-4D08-BC80-9966B92FA6FE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482FBA7F-FF52-4EFA-B8D2-4AEB40520E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294062"/>
              </p:ext>
            </p:extLst>
          </p:nvPr>
        </p:nvGraphicFramePr>
        <p:xfrm>
          <a:off x="877225" y="4471624"/>
          <a:ext cx="4469097" cy="2109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4008691-C3A6-47FA-BB25-47CC336AE4EC}"/>
              </a:ext>
            </a:extLst>
          </p:cNvPr>
          <p:cNvSpPr txBox="1"/>
          <p:nvPr/>
        </p:nvSpPr>
        <p:spPr>
          <a:xfrm>
            <a:off x="396090" y="1113525"/>
            <a:ext cx="4574262" cy="27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*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데이터셋 이슈사항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불균형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겹침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작은 객체 다수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(pipe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개별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chunk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 객체 동일 클래스 처리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5.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라벨링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오류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C8FD07-A208-4D6D-A18A-C2F9D5A0D4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31" r="10440"/>
          <a:stretch/>
        </p:blipFill>
        <p:spPr>
          <a:xfrm>
            <a:off x="6663959" y="1533641"/>
            <a:ext cx="2150295" cy="17128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93FEECD-968E-4F28-8725-C1B52B6EF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959" y="3246447"/>
            <a:ext cx="2150295" cy="15829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9F9C87-FA5C-4D83-A710-D099A2AB6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254" y="3246447"/>
            <a:ext cx="2150295" cy="15829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D6CCF65-BFFE-4BD2-A035-0B7FE8A5E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254" y="1533640"/>
            <a:ext cx="2150295" cy="17128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A49E82-3847-486D-A140-16E94C13A42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333"/>
          <a:stretch/>
        </p:blipFill>
        <p:spPr>
          <a:xfrm>
            <a:off x="6663959" y="4794105"/>
            <a:ext cx="2150295" cy="137477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C5B6C0D-64B6-484E-B0DC-8C886A6229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253" y="4794104"/>
            <a:ext cx="2150295" cy="137477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B5DEF164-8804-4940-8D64-64CD10ACA77A}"/>
              </a:ext>
            </a:extLst>
          </p:cNvPr>
          <p:cNvSpPr/>
          <p:nvPr/>
        </p:nvSpPr>
        <p:spPr>
          <a:xfrm>
            <a:off x="465132" y="4394496"/>
            <a:ext cx="334978" cy="3499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7FEE29E-1445-4A47-8A2F-9E7F056EEDB5}"/>
              </a:ext>
            </a:extLst>
          </p:cNvPr>
          <p:cNvSpPr/>
          <p:nvPr/>
        </p:nvSpPr>
        <p:spPr>
          <a:xfrm>
            <a:off x="6259112" y="1533640"/>
            <a:ext cx="334978" cy="3499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B43D77F-28A2-4F6E-8A00-6A17AC30D48F}"/>
              </a:ext>
            </a:extLst>
          </p:cNvPr>
          <p:cNvSpPr/>
          <p:nvPr/>
        </p:nvSpPr>
        <p:spPr>
          <a:xfrm>
            <a:off x="11022939" y="1533640"/>
            <a:ext cx="334978" cy="3499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C1327A3-D340-4198-977E-B3A2601276F5}"/>
              </a:ext>
            </a:extLst>
          </p:cNvPr>
          <p:cNvSpPr/>
          <p:nvPr/>
        </p:nvSpPr>
        <p:spPr>
          <a:xfrm>
            <a:off x="6262683" y="3267534"/>
            <a:ext cx="334978" cy="3499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8C5BB0F-4E2D-4DC1-A76C-BEFC04D20942}"/>
              </a:ext>
            </a:extLst>
          </p:cNvPr>
          <p:cNvSpPr/>
          <p:nvPr/>
        </p:nvSpPr>
        <p:spPr>
          <a:xfrm>
            <a:off x="6267698" y="4794104"/>
            <a:ext cx="334978" cy="3499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247</Words>
  <Application>Microsoft Macintosh PowerPoint</Application>
  <PresentationFormat>와이드스크린</PresentationFormat>
  <Paragraphs>45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나눔스퀘어 네오 Bold</vt:lpstr>
      <vt:lpstr>나눔스퀘어 네오 Heavy</vt:lpstr>
      <vt:lpstr>KoPub돋움체 Light</vt:lpstr>
      <vt:lpstr>맑은 고딕</vt:lpstr>
      <vt:lpstr>Arial</vt:lpstr>
      <vt:lpstr>KoPubWorld돋움체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준희</dc:creator>
  <cp:lastModifiedBy>허경훈</cp:lastModifiedBy>
  <cp:revision>31</cp:revision>
  <dcterms:created xsi:type="dcterms:W3CDTF">2026-04-16T06:45:39Z</dcterms:created>
  <dcterms:modified xsi:type="dcterms:W3CDTF">2026-04-19T10:22:58Z</dcterms:modified>
</cp:coreProperties>
</file>
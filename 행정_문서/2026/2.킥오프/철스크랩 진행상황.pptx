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33" r:id="rId2"/>
    <p:sldId id="527" r:id="rId3"/>
    <p:sldId id="538" r:id="rId4"/>
    <p:sldId id="539" r:id="rId5"/>
    <p:sldId id="529" r:id="rId6"/>
    <p:sldId id="545" r:id="rId7"/>
    <p:sldId id="541" r:id="rId8"/>
    <p:sldId id="542" r:id="rId9"/>
    <p:sldId id="543" r:id="rId10"/>
    <p:sldId id="544" r:id="rId11"/>
    <p:sldId id="546" r:id="rId12"/>
    <p:sldId id="48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5F79A8C-72AB-4DB2-80E3-0EA278E2A2C1}">
          <p14:sldIdLst>
            <p14:sldId id="333"/>
            <p14:sldId id="527"/>
            <p14:sldId id="538"/>
            <p14:sldId id="539"/>
            <p14:sldId id="529"/>
            <p14:sldId id="545"/>
            <p14:sldId id="541"/>
            <p14:sldId id="542"/>
            <p14:sldId id="543"/>
            <p14:sldId id="544"/>
            <p14:sldId id="546"/>
            <p14:sldId id="4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c391d1e78c4bdd56" providerId="Windows Live"/>
      </p:ext>
    </p:extLst>
  </p:cmAuthor>
  <p:cmAuthor id="2" name="varde" initials="v" lastIdx="1" clrIdx="1">
    <p:extLst>
      <p:ext uri="{19B8F6BF-5375-455C-9EA6-DF929625EA0E}">
        <p15:presenceInfo xmlns:p15="http://schemas.microsoft.com/office/powerpoint/2012/main" userId="vard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2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6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&#52384;&#49828;&#53356;&#47017;%20&#51064;&#49688;&#51064;&#44228;\2&#52264;&#45380;&#46020;%20&#50672;&#52264;&#48372;&#44256;&#49436;\&#44061;&#52404;&#48324;%20A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&#52384;&#49828;&#53356;&#47017;%20&#51064;&#49688;&#51064;&#44228;\2&#52264;&#45380;&#46020;%20&#50672;&#52264;&#48372;&#44256;&#49436;\&#44061;&#52404;&#48324;%20AP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yolo_results_&#45936;&#51060;&#53552;%202096&#44060;%20&#54617;&#4984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3.%20&#45936;&#51060;&#53552;%202096&#44060;%20&#54617;&#49845;,%20&#51204;&#52376;&#47532;&#1261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yolo_results_&#45936;&#51060;&#53552;%202096&#44060;%20&#54617;&#4984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3.%20&#45936;&#51060;&#53552;%202096&#44060;%20&#54617;&#49845;,%20&#51204;&#52376;&#47532;&#1261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4.%20&#45936;&#51060;&#53552;%202096&#44060;%20&#54617;&#49845;,%20&#51089;&#51008;&#44061;&#52404;%20&#51228;&#44144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/>
              <a:t>yolo+sam </a:t>
            </a:r>
            <a:r>
              <a:rPr lang="ko-KR" altLang="en-US" sz="1400"/>
              <a:t>객체별 </a:t>
            </a:r>
            <a:r>
              <a:rPr lang="en-US" altLang="ko-KR" sz="1400"/>
              <a:t>AP</a:t>
            </a:r>
            <a:endParaRPr lang="ko-KR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ap50_by_class!$C$16</c:f>
              <c:strCache>
                <c:ptCount val="1"/>
                <c:pt idx="0">
                  <c:v>AP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ap50_by_class!$B$17:$B$27</c:f>
              <c:strCache>
                <c:ptCount val="11"/>
                <c:pt idx="0">
                  <c:v>Handler</c:v>
                </c:pt>
                <c:pt idx="1">
                  <c:v>Guillotine</c:v>
                </c:pt>
                <c:pt idx="2">
                  <c:v>Panels</c:v>
                </c:pt>
                <c:pt idx="3">
                  <c:v>Incorner (form)</c:v>
                </c:pt>
                <c:pt idx="4">
                  <c:v>Pipe_2</c:v>
                </c:pt>
                <c:pt idx="5">
                  <c:v>Square steel pipe</c:v>
                </c:pt>
                <c:pt idx="6">
                  <c:v>Scrap automotive parts</c:v>
                </c:pt>
                <c:pt idx="7">
                  <c:v>Housepipe</c:v>
                </c:pt>
                <c:pt idx="8">
                  <c:v>Scaffold base plate</c:v>
                </c:pt>
                <c:pt idx="9">
                  <c:v>Magnet</c:v>
                </c:pt>
                <c:pt idx="10">
                  <c:v>mAP</c:v>
                </c:pt>
              </c:strCache>
            </c:strRef>
          </c:cat>
          <c:val>
            <c:numRef>
              <c:f>ap50_by_class!$C$17:$C$27</c:f>
              <c:numCache>
                <c:formatCode>General</c:formatCode>
                <c:ptCount val="11"/>
                <c:pt idx="0">
                  <c:v>0.995</c:v>
                </c:pt>
                <c:pt idx="1">
                  <c:v>0.89900000000000002</c:v>
                </c:pt>
                <c:pt idx="2">
                  <c:v>0.59899999999999998</c:v>
                </c:pt>
                <c:pt idx="3">
                  <c:v>0.33200000000000002</c:v>
                </c:pt>
                <c:pt idx="4">
                  <c:v>0.28599999999999998</c:v>
                </c:pt>
                <c:pt idx="5">
                  <c:v>0.25900000000000001</c:v>
                </c:pt>
                <c:pt idx="6">
                  <c:v>0.17899999999999999</c:v>
                </c:pt>
                <c:pt idx="7">
                  <c:v>0.14199999999999999</c:v>
                </c:pt>
                <c:pt idx="8">
                  <c:v>0</c:v>
                </c:pt>
                <c:pt idx="9">
                  <c:v>0</c:v>
                </c:pt>
                <c:pt idx="10">
                  <c:v>0.41399999999999998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9E-4025-8D0F-02992BA1C1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axId val="1974957551"/>
        <c:axId val="1974971695"/>
      </c:barChart>
      <c:catAx>
        <c:axId val="19749575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4971695"/>
        <c:crosses val="autoZero"/>
        <c:auto val="1"/>
        <c:lblAlgn val="ctr"/>
        <c:lblOffset val="100"/>
        <c:noMultiLvlLbl val="0"/>
      </c:catAx>
      <c:valAx>
        <c:axId val="197497169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49575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/>
              <a:t>maskdino</a:t>
            </a:r>
            <a:r>
              <a:rPr lang="en-US" altLang="ko-KR" sz="1400" baseline="0"/>
              <a:t> </a:t>
            </a:r>
            <a:r>
              <a:rPr lang="ko-KR" sz="1400"/>
              <a:t>객체별 </a:t>
            </a:r>
            <a:r>
              <a:rPr lang="en-US" sz="1400"/>
              <a:t>AP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ap50_by_class!$C$1</c:f>
              <c:strCache>
                <c:ptCount val="1"/>
                <c:pt idx="0">
                  <c:v>AP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ap50_by_class!$B$2:$B$12</c:f>
              <c:strCache>
                <c:ptCount val="11"/>
                <c:pt idx="0">
                  <c:v>Handler</c:v>
                </c:pt>
                <c:pt idx="1">
                  <c:v>Scaffold base plate</c:v>
                </c:pt>
                <c:pt idx="2">
                  <c:v>Magnet</c:v>
                </c:pt>
                <c:pt idx="3">
                  <c:v>Guillotine</c:v>
                </c:pt>
                <c:pt idx="4">
                  <c:v>Pipe_2</c:v>
                </c:pt>
                <c:pt idx="5">
                  <c:v>Incorner (form)</c:v>
                </c:pt>
                <c:pt idx="6">
                  <c:v>Panels</c:v>
                </c:pt>
                <c:pt idx="7">
                  <c:v>Housepipe</c:v>
                </c:pt>
                <c:pt idx="8">
                  <c:v>Scrap automotive parts</c:v>
                </c:pt>
                <c:pt idx="9">
                  <c:v>Square steel pipe</c:v>
                </c:pt>
                <c:pt idx="10">
                  <c:v>mAP</c:v>
                </c:pt>
              </c:strCache>
            </c:strRef>
          </c:cat>
          <c:val>
            <c:numRef>
              <c:f>ap50_by_class!$C$2:$C$12</c:f>
              <c:numCache>
                <c:formatCode>General</c:formatCode>
                <c:ptCount val="11"/>
                <c:pt idx="0">
                  <c:v>1</c:v>
                </c:pt>
                <c:pt idx="1">
                  <c:v>0.999999999999999</c:v>
                </c:pt>
                <c:pt idx="2">
                  <c:v>0.999999999999999</c:v>
                </c:pt>
                <c:pt idx="3">
                  <c:v>0.88100000000000001</c:v>
                </c:pt>
                <c:pt idx="4">
                  <c:v>0.80500000000000005</c:v>
                </c:pt>
                <c:pt idx="5">
                  <c:v>0.72799999999999998</c:v>
                </c:pt>
                <c:pt idx="6">
                  <c:v>0.66100000000000003</c:v>
                </c:pt>
                <c:pt idx="7">
                  <c:v>0.502</c:v>
                </c:pt>
                <c:pt idx="8">
                  <c:v>0.40600000000000003</c:v>
                </c:pt>
                <c:pt idx="9">
                  <c:v>0.22500000000000001</c:v>
                </c:pt>
                <c:pt idx="10">
                  <c:v>0.72099999999999997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F-44E5-B0EE-8BD8F3618E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axId val="1723669967"/>
        <c:axId val="1723671215"/>
      </c:barChart>
      <c:catAx>
        <c:axId val="17236699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23671215"/>
        <c:crosses val="autoZero"/>
        <c:auto val="1"/>
        <c:lblAlgn val="ctr"/>
        <c:lblOffset val="100"/>
        <c:noMultiLvlLbl val="0"/>
      </c:catAx>
      <c:valAx>
        <c:axId val="172367121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236699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'YOLO Results'!$E$1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'YOLO Results'!$C$3:$C$20</c:f>
              <c:strCache>
                <c:ptCount val="18"/>
                <c:pt idx="0">
                  <c:v>1.Laser cutting (thick plate)</c:v>
                </c:pt>
                <c:pt idx="1">
                  <c:v>10.Shredded general ferrous scrap</c:v>
                </c:pt>
                <c:pt idx="2">
                  <c:v>11.Shredder</c:v>
                </c:pt>
                <c:pt idx="3">
                  <c:v>12.Worksite oxidized scrap</c:v>
                </c:pt>
                <c:pt idx="4">
                  <c:v>13.Sealed drum</c:v>
                </c:pt>
                <c:pt idx="5">
                  <c:v>14.Scrap automotive parts</c:v>
                </c:pt>
                <c:pt idx="6">
                  <c:v>15.Gangform</c:v>
                </c:pt>
                <c:pt idx="7">
                  <c:v>16.Chair</c:v>
                </c:pt>
                <c:pt idx="8">
                  <c:v>18.Cut H-beam scrap</c:v>
                </c:pt>
                <c:pt idx="9">
                  <c:v>19.Forklift truck</c:v>
                </c:pt>
                <c:pt idx="10">
                  <c:v>2.Pipe_1</c:v>
                </c:pt>
                <c:pt idx="11">
                  <c:v>20.Galvanized steel pipe</c:v>
                </c:pt>
                <c:pt idx="12">
                  <c:v>21.h-beam, i-beam, and bar- shaped steel</c:v>
                </c:pt>
                <c:pt idx="13">
                  <c:v>22.Spring</c:v>
                </c:pt>
                <c:pt idx="14">
                  <c:v>23.Mixed heavy iron scrap</c:v>
                </c:pt>
                <c:pt idx="15">
                  <c:v>24.Grating manhole cover</c:v>
                </c:pt>
                <c:pt idx="16">
                  <c:v>25.Rebar coil scrap</c:v>
                </c:pt>
                <c:pt idx="17">
                  <c:v>26.Scaffolding pipe</c:v>
                </c:pt>
              </c:strCache>
            </c:strRef>
          </c:cat>
          <c:val>
            <c:numRef>
              <c:f>'YOLO Results'!$E$3:$E$20</c:f>
              <c:numCache>
                <c:formatCode>General</c:formatCode>
                <c:ptCount val="18"/>
                <c:pt idx="0">
                  <c:v>11</c:v>
                </c:pt>
                <c:pt idx="1">
                  <c:v>10</c:v>
                </c:pt>
                <c:pt idx="2">
                  <c:v>7</c:v>
                </c:pt>
                <c:pt idx="3">
                  <c:v>359</c:v>
                </c:pt>
                <c:pt idx="4">
                  <c:v>43</c:v>
                </c:pt>
                <c:pt idx="5">
                  <c:v>48</c:v>
                </c:pt>
                <c:pt idx="6">
                  <c:v>3</c:v>
                </c:pt>
                <c:pt idx="7">
                  <c:v>12</c:v>
                </c:pt>
                <c:pt idx="8">
                  <c:v>164</c:v>
                </c:pt>
                <c:pt idx="9">
                  <c:v>267</c:v>
                </c:pt>
                <c:pt idx="10">
                  <c:v>28</c:v>
                </c:pt>
                <c:pt idx="11">
                  <c:v>4</c:v>
                </c:pt>
                <c:pt idx="12">
                  <c:v>64</c:v>
                </c:pt>
                <c:pt idx="13">
                  <c:v>185</c:v>
                </c:pt>
                <c:pt idx="14">
                  <c:v>88</c:v>
                </c:pt>
                <c:pt idx="15">
                  <c:v>1626</c:v>
                </c:pt>
                <c:pt idx="16">
                  <c:v>20091</c:v>
                </c:pt>
                <c:pt idx="17">
                  <c:v>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93-44A1-BBA1-4C9C92D675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0698704"/>
        <c:axId val="290699120"/>
      </c:barChart>
      <c:catAx>
        <c:axId val="29069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9120"/>
        <c:crosses val="autoZero"/>
        <c:auto val="1"/>
        <c:lblAlgn val="ctr"/>
        <c:lblOffset val="100"/>
        <c:noMultiLvlLbl val="0"/>
      </c:catAx>
      <c:valAx>
        <c:axId val="29069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8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YOLO_eval!$C$1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YOLO_eval!$A$3:$A$21</c:f>
              <c:strCache>
                <c:ptCount val="19"/>
                <c:pt idx="0">
                  <c:v>mixed steel</c:v>
                </c:pt>
                <c:pt idx="1">
                  <c:v>machine</c:v>
                </c:pt>
                <c:pt idx="2">
                  <c:v>drum</c:v>
                </c:pt>
                <c:pt idx="3">
                  <c:v>panel</c:v>
                </c:pt>
                <c:pt idx="4">
                  <c:v>trash</c:v>
                </c:pt>
                <c:pt idx="5">
                  <c:v>beam</c:v>
                </c:pt>
                <c:pt idx="6">
                  <c:v>pipe</c:v>
                </c:pt>
                <c:pt idx="7">
                  <c:v>heavy iron</c:v>
                </c:pt>
                <c:pt idx="8">
                  <c:v>mesh</c:v>
                </c:pt>
                <c:pt idx="9">
                  <c:v>structure steel</c:v>
                </c:pt>
                <c:pt idx="10">
                  <c:v>rebar</c:v>
                </c:pt>
                <c:pt idx="11">
                  <c:v>small pipe</c:v>
                </c:pt>
                <c:pt idx="12">
                  <c:v>vehicle</c:v>
                </c:pt>
                <c:pt idx="13">
                  <c:v>square pipe</c:v>
                </c:pt>
                <c:pt idx="14">
                  <c:v>Guillotine</c:v>
                </c:pt>
                <c:pt idx="15">
                  <c:v>LPG GAS cylinder</c:v>
                </c:pt>
                <c:pt idx="16">
                  <c:v>handler</c:v>
                </c:pt>
                <c:pt idx="17">
                  <c:v>plastic</c:v>
                </c:pt>
                <c:pt idx="18">
                  <c:v>Fan</c:v>
                </c:pt>
              </c:strCache>
            </c:strRef>
          </c:cat>
          <c:val>
            <c:numRef>
              <c:f>YOLO_eval!$C$3:$C$21</c:f>
              <c:numCache>
                <c:formatCode>General</c:formatCode>
                <c:ptCount val="19"/>
                <c:pt idx="0">
                  <c:v>1044</c:v>
                </c:pt>
                <c:pt idx="1">
                  <c:v>365</c:v>
                </c:pt>
                <c:pt idx="2">
                  <c:v>297</c:v>
                </c:pt>
                <c:pt idx="3">
                  <c:v>12767</c:v>
                </c:pt>
                <c:pt idx="4">
                  <c:v>843</c:v>
                </c:pt>
                <c:pt idx="5">
                  <c:v>564</c:v>
                </c:pt>
                <c:pt idx="6">
                  <c:v>412</c:v>
                </c:pt>
                <c:pt idx="7">
                  <c:v>25851</c:v>
                </c:pt>
                <c:pt idx="8">
                  <c:v>20091</c:v>
                </c:pt>
                <c:pt idx="9">
                  <c:v>4070</c:v>
                </c:pt>
                <c:pt idx="10">
                  <c:v>4145</c:v>
                </c:pt>
                <c:pt idx="11">
                  <c:v>9231</c:v>
                </c:pt>
                <c:pt idx="12">
                  <c:v>575</c:v>
                </c:pt>
                <c:pt idx="13">
                  <c:v>335</c:v>
                </c:pt>
                <c:pt idx="14">
                  <c:v>870</c:v>
                </c:pt>
                <c:pt idx="15">
                  <c:v>328</c:v>
                </c:pt>
                <c:pt idx="16">
                  <c:v>12</c:v>
                </c:pt>
                <c:pt idx="17">
                  <c:v>2160</c:v>
                </c:pt>
                <c:pt idx="18">
                  <c:v>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A-4266-86A1-43083D5C93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1768000"/>
        <c:axId val="371761760"/>
      </c:barChart>
      <c:catAx>
        <c:axId val="37176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1761760"/>
        <c:crosses val="autoZero"/>
        <c:auto val="1"/>
        <c:lblAlgn val="ctr"/>
        <c:lblOffset val="100"/>
        <c:noMultiLvlLbl val="0"/>
      </c:catAx>
      <c:valAx>
        <c:axId val="37176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1768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Sheet1!$A$3:$A$21</c:f>
              <c:strCache>
                <c:ptCount val="19"/>
                <c:pt idx="0">
                  <c:v>mixed steel</c:v>
                </c:pt>
                <c:pt idx="1">
                  <c:v>machine</c:v>
                </c:pt>
                <c:pt idx="2">
                  <c:v>drum</c:v>
                </c:pt>
                <c:pt idx="3">
                  <c:v>panel</c:v>
                </c:pt>
                <c:pt idx="4">
                  <c:v>trash</c:v>
                </c:pt>
                <c:pt idx="5">
                  <c:v>beam</c:v>
                </c:pt>
                <c:pt idx="6">
                  <c:v>pipe</c:v>
                </c:pt>
                <c:pt idx="7">
                  <c:v>heavy iron</c:v>
                </c:pt>
                <c:pt idx="8">
                  <c:v>mesh</c:v>
                </c:pt>
                <c:pt idx="9">
                  <c:v>structure steel</c:v>
                </c:pt>
                <c:pt idx="10">
                  <c:v>rebar</c:v>
                </c:pt>
                <c:pt idx="11">
                  <c:v>small pipe</c:v>
                </c:pt>
                <c:pt idx="12">
                  <c:v>vehicle</c:v>
                </c:pt>
                <c:pt idx="13">
                  <c:v>square pipe</c:v>
                </c:pt>
                <c:pt idx="14">
                  <c:v>Guillotine</c:v>
                </c:pt>
                <c:pt idx="15">
                  <c:v>LPG GAS cylinder</c:v>
                </c:pt>
                <c:pt idx="16">
                  <c:v>handler</c:v>
                </c:pt>
                <c:pt idx="17">
                  <c:v>plastic</c:v>
                </c:pt>
                <c:pt idx="18">
                  <c:v>Fan</c:v>
                </c:pt>
              </c:strCache>
            </c:strRef>
          </c:cat>
          <c:val>
            <c:numRef>
              <c:f>Sheet1!$C$3:$C$21</c:f>
              <c:numCache>
                <c:formatCode>General</c:formatCode>
                <c:ptCount val="19"/>
                <c:pt idx="0">
                  <c:v>112</c:v>
                </c:pt>
                <c:pt idx="1">
                  <c:v>316</c:v>
                </c:pt>
                <c:pt idx="2">
                  <c:v>522</c:v>
                </c:pt>
                <c:pt idx="3">
                  <c:v>332</c:v>
                </c:pt>
                <c:pt idx="4">
                  <c:v>280</c:v>
                </c:pt>
                <c:pt idx="5">
                  <c:v>325</c:v>
                </c:pt>
                <c:pt idx="6">
                  <c:v>230</c:v>
                </c:pt>
                <c:pt idx="7">
                  <c:v>188</c:v>
                </c:pt>
                <c:pt idx="8">
                  <c:v>338</c:v>
                </c:pt>
                <c:pt idx="9">
                  <c:v>518</c:v>
                </c:pt>
                <c:pt idx="10">
                  <c:v>7990</c:v>
                </c:pt>
                <c:pt idx="11">
                  <c:v>230</c:v>
                </c:pt>
                <c:pt idx="12">
                  <c:v>5</c:v>
                </c:pt>
                <c:pt idx="13">
                  <c:v>1933</c:v>
                </c:pt>
                <c:pt idx="14">
                  <c:v>2949</c:v>
                </c:pt>
                <c:pt idx="15">
                  <c:v>1309</c:v>
                </c:pt>
                <c:pt idx="16">
                  <c:v>8244</c:v>
                </c:pt>
                <c:pt idx="17">
                  <c:v>123</c:v>
                </c:pt>
                <c:pt idx="18">
                  <c:v>1709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E1-4F47-B298-9A7DEA2041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99536"/>
        <c:axId val="162302032"/>
      </c:barChart>
      <c:catAx>
        <c:axId val="16229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302032"/>
        <c:crosses val="autoZero"/>
        <c:auto val="1"/>
        <c:lblAlgn val="ctr"/>
        <c:lblOffset val="100"/>
        <c:noMultiLvlLbl val="0"/>
      </c:catAx>
      <c:valAx>
        <c:axId val="16230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299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Trial</a:t>
            </a:r>
            <a:r>
              <a:rPr lang="en-US" altLang="ko-KR" baseline="0" dirty="0"/>
              <a:t> 1 </a:t>
            </a:r>
            <a:r>
              <a:rPr lang="ko-KR" altLang="en-US" baseline="0" dirty="0"/>
              <a:t>데이터 </a:t>
            </a:r>
            <a:r>
              <a:rPr lang="ko-KR" altLang="en-US" baseline="0" dirty="0" err="1"/>
              <a:t>전처리</a:t>
            </a:r>
            <a:r>
              <a:rPr lang="en-US" altLang="ko-KR" baseline="0" dirty="0"/>
              <a:t>X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'YOLO Results'!$C$2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'YOLO Results'!$F$1:$M$1</c:f>
              <c:strCache>
                <c:ptCount val="8"/>
                <c:pt idx="0">
                  <c:v>Box_P</c:v>
                </c:pt>
                <c:pt idx="1">
                  <c:v>Box_R</c:v>
                </c:pt>
                <c:pt idx="2">
                  <c:v>mAP50</c:v>
                </c:pt>
                <c:pt idx="3">
                  <c:v>mAP50-95</c:v>
                </c:pt>
                <c:pt idx="4">
                  <c:v>Mask_P</c:v>
                </c:pt>
                <c:pt idx="5">
                  <c:v>Mask_R</c:v>
                </c:pt>
                <c:pt idx="6">
                  <c:v>Mask_mAP50</c:v>
                </c:pt>
                <c:pt idx="7">
                  <c:v>Mask_mAP50-95</c:v>
                </c:pt>
              </c:strCache>
            </c:strRef>
          </c:cat>
          <c:val>
            <c:numRef>
              <c:f>'YOLO Results'!$F$2:$M$2</c:f>
              <c:numCache>
                <c:formatCode>General</c:formatCode>
                <c:ptCount val="8"/>
                <c:pt idx="0">
                  <c:v>1.9300000000000001E-2</c:v>
                </c:pt>
                <c:pt idx="1">
                  <c:v>1.0800000000000001E-2</c:v>
                </c:pt>
                <c:pt idx="2">
                  <c:v>1.2699999999999999E-2</c:v>
                </c:pt>
                <c:pt idx="3">
                  <c:v>7.2199999999999999E-3</c:v>
                </c:pt>
                <c:pt idx="4">
                  <c:v>2.0299999999999999E-2</c:v>
                </c:pt>
                <c:pt idx="5">
                  <c:v>1.12E-2</c:v>
                </c:pt>
                <c:pt idx="6">
                  <c:v>1.35E-2</c:v>
                </c:pt>
                <c:pt idx="7">
                  <c:v>1.01E-2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E8-49FC-8B27-775E8018F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2940256"/>
        <c:axId val="292938176"/>
      </c:barChart>
      <c:catAx>
        <c:axId val="29294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2938176"/>
        <c:crosses val="autoZero"/>
        <c:auto val="1"/>
        <c:lblAlgn val="ctr"/>
        <c:lblOffset val="100"/>
        <c:noMultiLvlLbl val="0"/>
      </c:catAx>
      <c:valAx>
        <c:axId val="292938176"/>
        <c:scaling>
          <c:orientation val="minMax"/>
          <c:max val="0.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2940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Trial 2 </a:t>
            </a:r>
            <a:r>
              <a:rPr lang="ko-KR" altLang="en-US" dirty="0"/>
              <a:t>클래스 </a:t>
            </a:r>
            <a:r>
              <a:rPr lang="ko-KR" altLang="en-US" dirty="0" err="1"/>
              <a:t>매핑처리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YOLO_eval!$A$2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YOLO_eval!$D$1:$K$1</c:f>
              <c:strCache>
                <c:ptCount val="8"/>
                <c:pt idx="0">
                  <c:v>Box_P</c:v>
                </c:pt>
                <c:pt idx="1">
                  <c:v>Box_R</c:v>
                </c:pt>
                <c:pt idx="2">
                  <c:v>mAP50</c:v>
                </c:pt>
                <c:pt idx="3">
                  <c:v>mAP50-95</c:v>
                </c:pt>
                <c:pt idx="4">
                  <c:v>Mask_P</c:v>
                </c:pt>
                <c:pt idx="5">
                  <c:v>Mask_R</c:v>
                </c:pt>
                <c:pt idx="6">
                  <c:v>Mask_mAP50</c:v>
                </c:pt>
                <c:pt idx="7">
                  <c:v>Mask_mAP50-95</c:v>
                </c:pt>
              </c:strCache>
            </c:strRef>
          </c:cat>
          <c:val>
            <c:numRef>
              <c:f>YOLO_eval!$D$2:$K$2</c:f>
              <c:numCache>
                <c:formatCode>General</c:formatCode>
                <c:ptCount val="8"/>
                <c:pt idx="0">
                  <c:v>0.1</c:v>
                </c:pt>
                <c:pt idx="1">
                  <c:v>6.2199999999999998E-2</c:v>
                </c:pt>
                <c:pt idx="2">
                  <c:v>7.3400000000000007E-2</c:v>
                </c:pt>
                <c:pt idx="3">
                  <c:v>4.6199999999999998E-2</c:v>
                </c:pt>
                <c:pt idx="4">
                  <c:v>8.6999999999999994E-2</c:v>
                </c:pt>
                <c:pt idx="5">
                  <c:v>4.3700000000000003E-2</c:v>
                </c:pt>
                <c:pt idx="6">
                  <c:v>5.6500000000000002E-2</c:v>
                </c:pt>
                <c:pt idx="7">
                  <c:v>2.5899999999999999E-2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02-41CC-B441-CFAB11DAE2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4171424"/>
        <c:axId val="334172256"/>
      </c:barChart>
      <c:catAx>
        <c:axId val="33417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34172256"/>
        <c:crosses val="autoZero"/>
        <c:auto val="1"/>
        <c:lblAlgn val="ctr"/>
        <c:lblOffset val="100"/>
        <c:noMultiLvlLbl val="0"/>
      </c:catAx>
      <c:valAx>
        <c:axId val="334172256"/>
        <c:scaling>
          <c:orientation val="minMax"/>
          <c:max val="0.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3417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Trial 3 </a:t>
            </a:r>
            <a:r>
              <a:rPr lang="ko-KR" altLang="en-US" dirty="0"/>
              <a:t>작은 객체 제거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Sheet1!$D$1:$K$1</c:f>
              <c:strCache>
                <c:ptCount val="8"/>
                <c:pt idx="0">
                  <c:v>Box(P)</c:v>
                </c:pt>
                <c:pt idx="1">
                  <c:v>R</c:v>
                </c:pt>
                <c:pt idx="2">
                  <c:v>mAP50</c:v>
                </c:pt>
                <c:pt idx="3">
                  <c:v>mAP50-95</c:v>
                </c:pt>
                <c:pt idx="4">
                  <c:v>Mask(P)</c:v>
                </c:pt>
                <c:pt idx="5">
                  <c:v>R</c:v>
                </c:pt>
                <c:pt idx="6">
                  <c:v>mAP50</c:v>
                </c:pt>
                <c:pt idx="7">
                  <c:v>mAP50-95</c:v>
                </c:pt>
              </c:strCache>
            </c:strRef>
          </c:cat>
          <c:val>
            <c:numRef>
              <c:f>Sheet1!$D$2:$K$2</c:f>
              <c:numCache>
                <c:formatCode>General</c:formatCode>
                <c:ptCount val="8"/>
                <c:pt idx="0">
                  <c:v>0.77800000000000002</c:v>
                </c:pt>
                <c:pt idx="1">
                  <c:v>0.55500000000000005</c:v>
                </c:pt>
                <c:pt idx="2">
                  <c:v>0.64100000000000001</c:v>
                </c:pt>
                <c:pt idx="3">
                  <c:v>0.442</c:v>
                </c:pt>
                <c:pt idx="4">
                  <c:v>0.748</c:v>
                </c:pt>
                <c:pt idx="5">
                  <c:v>0.44900000000000001</c:v>
                </c:pt>
                <c:pt idx="6">
                  <c:v>0.502</c:v>
                </c:pt>
                <c:pt idx="7">
                  <c:v>0.26200000000000001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8C-4113-9E45-D1F42F5582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902352"/>
        <c:axId val="164888624"/>
      </c:barChart>
      <c:catAx>
        <c:axId val="16490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4888624"/>
        <c:crosses val="autoZero"/>
        <c:auto val="1"/>
        <c:lblAlgn val="ctr"/>
        <c:lblOffset val="100"/>
        <c:noMultiLvlLbl val="0"/>
      </c:catAx>
      <c:valAx>
        <c:axId val="16488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4902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Trial 2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'[3. 데이터 2096개 학습, 전처리ㅇ.xlsx]YOLO_eval'!$C$31</c:f>
              <c:strCache>
                <c:ptCount val="1"/>
                <c:pt idx="0">
                  <c:v>PQ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[1]YOLO_eval!$B$32:$B$34</c:f>
              <c:strCache>
                <c:ptCount val="3"/>
                <c:pt idx="0">
                  <c:v>All</c:v>
                </c:pt>
                <c:pt idx="1">
                  <c:v>Things</c:v>
                </c:pt>
                <c:pt idx="2">
                  <c:v>Stuff</c:v>
                </c:pt>
              </c:strCache>
            </c:strRef>
          </c:cat>
          <c:val>
            <c:numRef>
              <c:f>[1]YOLO_eval!$C$32:$C$34</c:f>
              <c:numCache>
                <c:formatCode>General</c:formatCode>
                <c:ptCount val="3"/>
                <c:pt idx="0">
                  <c:v>3.1</c:v>
                </c:pt>
                <c:pt idx="1">
                  <c:v>3.3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C-4C69-A677-E8379B9DA44E}"/>
            </c:ext>
          </c:extLst>
        </c:ser>
        <c:ser>
          <c:idx val="1"/>
          <c:order val="1"/>
          <c:tx>
            <c:strRef>
              <c:f>'[3. 데이터 2096개 학습, 전처리ㅇ.xlsx]YOLO_eval'!$D$31</c:f>
              <c:strCache>
                <c:ptCount val="1"/>
                <c:pt idx="0">
                  <c:v>SQ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[1]YOLO_eval!$B$32:$B$34</c:f>
              <c:strCache>
                <c:ptCount val="3"/>
                <c:pt idx="0">
                  <c:v>All</c:v>
                </c:pt>
                <c:pt idx="1">
                  <c:v>Things</c:v>
                </c:pt>
                <c:pt idx="2">
                  <c:v>Stuff</c:v>
                </c:pt>
              </c:strCache>
            </c:strRef>
          </c:cat>
          <c:val>
            <c:numRef>
              <c:f>[1]YOLO_eval!$D$32:$D$34</c:f>
              <c:numCache>
                <c:formatCode>General</c:formatCode>
                <c:ptCount val="3"/>
                <c:pt idx="0">
                  <c:v>24.5</c:v>
                </c:pt>
                <c:pt idx="1">
                  <c:v>25.9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9C-4C69-A677-E8379B9DA44E}"/>
            </c:ext>
          </c:extLst>
        </c:ser>
        <c:ser>
          <c:idx val="2"/>
          <c:order val="2"/>
          <c:tx>
            <c:strRef>
              <c:f>'[3. 데이터 2096개 학습, 전처리ㅇ.xlsx]YOLO_eval'!$E$31</c:f>
              <c:strCache>
                <c:ptCount val="1"/>
                <c:pt idx="0">
                  <c:v>RQ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[1]YOLO_eval!$B$32:$B$34</c:f>
              <c:strCache>
                <c:ptCount val="3"/>
                <c:pt idx="0">
                  <c:v>All</c:v>
                </c:pt>
                <c:pt idx="1">
                  <c:v>Things</c:v>
                </c:pt>
                <c:pt idx="2">
                  <c:v>Stuff</c:v>
                </c:pt>
              </c:strCache>
            </c:strRef>
          </c:cat>
          <c:val>
            <c:numRef>
              <c:f>[1]YOLO_eval!$E$32:$E$34</c:f>
              <c:numCache>
                <c:formatCode>General</c:formatCode>
                <c:ptCount val="3"/>
                <c:pt idx="0">
                  <c:v>4.4000000000000004</c:v>
                </c:pt>
                <c:pt idx="1">
                  <c:v>4.7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9C-4C69-A677-E8379B9DA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6740463"/>
        <c:axId val="886722239"/>
      </c:barChart>
      <c:catAx>
        <c:axId val="886740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6722239"/>
        <c:crosses val="autoZero"/>
        <c:auto val="1"/>
        <c:lblAlgn val="ctr"/>
        <c:lblOffset val="100"/>
        <c:noMultiLvlLbl val="0"/>
      </c:catAx>
      <c:valAx>
        <c:axId val="886722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674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Trial</a:t>
            </a:r>
            <a:r>
              <a:rPr lang="en-US" altLang="ko-KR" baseline="0"/>
              <a:t> 3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Sheet1!$C$27</c:f>
              <c:strCache>
                <c:ptCount val="1"/>
                <c:pt idx="0">
                  <c:v>PQ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Sheet1!$B$28:$B$30</c:f>
              <c:strCache>
                <c:ptCount val="3"/>
                <c:pt idx="0">
                  <c:v>All</c:v>
                </c:pt>
                <c:pt idx="1">
                  <c:v>Things</c:v>
                </c:pt>
                <c:pt idx="2">
                  <c:v>Stuff</c:v>
                </c:pt>
              </c:strCache>
            </c:strRef>
          </c:cat>
          <c:val>
            <c:numRef>
              <c:f>Sheet1!$C$28:$C$30</c:f>
              <c:numCache>
                <c:formatCode>General</c:formatCode>
                <c:ptCount val="3"/>
                <c:pt idx="0">
                  <c:v>35.5</c:v>
                </c:pt>
                <c:pt idx="1">
                  <c:v>36.1</c:v>
                </c:pt>
                <c:pt idx="2">
                  <c:v>23.9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F0-45BF-A5ED-35218AED9CA0}"/>
            </c:ext>
          </c:extLst>
        </c:ser>
        <c:ser>
          <c:idx val="1"/>
          <c:order val="1"/>
          <c:tx>
            <c:strRef>
              <c:f>Sheet1!$D$27</c:f>
              <c:strCache>
                <c:ptCount val="1"/>
                <c:pt idx="0">
                  <c:v>SQ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Sheet1!$B$28:$B$30</c:f>
              <c:strCache>
                <c:ptCount val="3"/>
                <c:pt idx="0">
                  <c:v>All</c:v>
                </c:pt>
                <c:pt idx="1">
                  <c:v>Things</c:v>
                </c:pt>
                <c:pt idx="2">
                  <c:v>Stuff</c:v>
                </c:pt>
              </c:strCache>
            </c:strRef>
          </c:cat>
          <c:val>
            <c:numRef>
              <c:f>Sheet1!$D$28:$D$30</c:f>
              <c:numCache>
                <c:formatCode>General</c:formatCode>
                <c:ptCount val="3"/>
                <c:pt idx="0">
                  <c:v>73.2</c:v>
                </c:pt>
                <c:pt idx="1">
                  <c:v>73.5</c:v>
                </c:pt>
                <c:pt idx="2">
                  <c:v>68.7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F0-45BF-A5ED-35218AED9CA0}"/>
            </c:ext>
          </c:extLst>
        </c:ser>
        <c:ser>
          <c:idx val="2"/>
          <c:order val="2"/>
          <c:tx>
            <c:strRef>
              <c:f>Sheet1!$E$27</c:f>
              <c:strCache>
                <c:ptCount val="1"/>
                <c:pt idx="0">
                  <c:v>RQ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Sheet1!$B$28:$B$30</c:f>
              <c:strCache>
                <c:ptCount val="3"/>
                <c:pt idx="0">
                  <c:v>All</c:v>
                </c:pt>
                <c:pt idx="1">
                  <c:v>Things</c:v>
                </c:pt>
                <c:pt idx="2">
                  <c:v>Stuff</c:v>
                </c:pt>
              </c:strCache>
            </c:strRef>
          </c:cat>
          <c:val>
            <c:numRef>
              <c:f>Sheet1!$E$28:$E$30</c:f>
              <c:numCache>
                <c:formatCode>General</c:formatCode>
                <c:ptCount val="3"/>
                <c:pt idx="0">
                  <c:v>47.1</c:v>
                </c:pt>
                <c:pt idx="1">
                  <c:v>47.7</c:v>
                </c:pt>
                <c:pt idx="2">
                  <c:v>34.799999999999997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F0-45BF-A5ED-35218AED9C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0047616"/>
        <c:axId val="1620042624"/>
      </c:barChart>
      <c:catAx>
        <c:axId val="1620047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0042624"/>
        <c:crosses val="autoZero"/>
        <c:auto val="1"/>
        <c:lblAlgn val="ctr"/>
        <c:lblOffset val="100"/>
        <c:noMultiLvlLbl val="0"/>
      </c:catAx>
      <c:valAx>
        <c:axId val="162004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0047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F908D-0C7D-4827-AA55-8F7F6B7B7629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62B09-6BCC-4CC3-8DF2-C7B865C6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591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0F80B0-75DF-4AC5-8D50-DC8D1F4D596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6118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242D4-4C59-4F30-8411-54A1E15CA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090A74-77A5-4D2C-82DD-8C600CD37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31BE11-7132-439B-9E35-AAE3800D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B9ADE6-86A9-49A1-BAF2-E9EF7FF71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C8BBA8-BEB9-4495-BF7B-B78446FB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9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41A46-A0C9-450F-BB4C-259AA5C5A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CCF7C7-418F-421A-8688-FFA887513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85015-9044-4B6B-8763-7832DC8E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D417A5-F883-41CF-84F6-4197EAF0C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DA7CE-4531-4D28-8178-D2B01AF6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05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F7DB0-6124-4222-833B-EA7146528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104F40-47E4-4714-880F-9E3610EE7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D1213-FDE0-4DC7-804B-8A678E0A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82106C-7E0A-4B15-BE53-E547851F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481237-4CFE-46B9-A31D-C24ED02F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504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87DFF-8368-45E9-A645-D8C613D3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48795B-0657-4DD1-9ED8-29687291B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40CB0D-2D59-4D49-87DA-73DDA6BAF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FA417D-4A21-4063-8FB4-4E5974FD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F54180-308B-4D8B-8044-CD5E2E06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5448F0-C06F-4BB1-B355-CC4DF97B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95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3F892-E9B7-4130-90AE-5D463853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1665F9-C58A-418D-8117-925627AF6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84443B-2119-4885-8F67-37B272F5E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EBAB7F-C551-4F2E-9F03-BFF49F9DC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3970F7-E65B-4CB1-BF44-23A255E2A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4B5A21-058C-4BF0-90DD-A9E411AB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FBB8F1-812C-45DE-B075-8BD21D86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6EC0C7-651E-4997-B847-2BE8C852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99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4BA4D-684D-4D0C-8B27-D17E19F2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F42417-76DB-4D02-A56A-0C75BF43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03A10A-D157-42AC-82BA-3B0629AD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B54DE4-12E3-44C7-9E40-16613148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10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5E6A9A-1034-49EB-B1D0-D83A0F23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250E9F-BE53-4F78-A19A-7A5B4D17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B791F-F5BA-4341-9629-87CF4A2C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62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3DB8E-6D6B-4276-A0C3-0A079612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8B12B-C53B-4485-B535-9E66598E2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C59F2A-DB9B-4E16-9C91-B0D5FEE37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54AF18-D0C7-47FF-8650-98996EAA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DC2164-0A4B-4DD5-9BA5-29957015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0D0596-EE3B-4A4D-8AED-4E1B03B0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51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5EF9D-9C87-4B71-916A-20B86D59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B7F163-D0DA-40C0-BE95-77D0AC0D2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3C0B7E-29F9-4EEB-8327-EB307A9E6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AE2C41-D4A5-49DB-A74C-DE1E784A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B61993-C0C5-4DDD-9CC1-C9DBF3E8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1450D9-E4B5-4CBB-A01A-E08EFFA2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25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E30DE-0825-4D18-ABC7-A55C896E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AB5C56-3B92-445E-BAB5-C1768C0D0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2B450-68EB-4E96-8F56-220CCD83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F689F-08C7-4CAB-B3AD-F06545E5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47003A-7992-48D3-A87F-DB7A0530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59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36945B-535D-4FDD-9DB2-FF511DFDA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12128B-2374-4CE4-95A4-6E0938D54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E6ABF-5F0A-48FE-B7F2-4E8B14F5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0A610D-D8C2-43BF-8541-F42D1D58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B942C7-6FFC-44D4-8E7C-485CE5C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371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양쪽 모서리가 둥근 사각형 1"/>
          <p:cNvSpPr/>
          <p:nvPr userDrawn="1"/>
        </p:nvSpPr>
        <p:spPr>
          <a:xfrm flipV="1">
            <a:off x="423986" y="-5"/>
            <a:ext cx="11344030" cy="854091"/>
          </a:xfrm>
          <a:prstGeom prst="round2SameRect">
            <a:avLst>
              <a:gd name="adj1" fmla="val 29516"/>
              <a:gd name="adj2" fmla="val 0"/>
            </a:avLst>
          </a:prstGeom>
          <a:gradFill>
            <a:gsLst>
              <a:gs pos="100000">
                <a:srgbClr val="2E5069"/>
              </a:gs>
              <a:gs pos="50000">
                <a:srgbClr val="CAE3D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TextBox 5"/>
          <p:cNvSpPr txBox="1"/>
          <p:nvPr userDrawn="1"/>
        </p:nvSpPr>
        <p:spPr>
          <a:xfrm>
            <a:off x="5951163" y="6604416"/>
            <a:ext cx="289677" cy="138499"/>
          </a:xfrm>
          <a:prstGeom prst="rect">
            <a:avLst/>
          </a:prstGeom>
          <a:noFill/>
        </p:spPr>
        <p:txBody>
          <a:bodyPr wrap="none" lIns="72000" tIns="0" rIns="72000" bIns="0" rtlCol="0" anchor="ctr">
            <a:spAutoFit/>
          </a:bodyPr>
          <a:lstStyle/>
          <a:p>
            <a:pPr algn="ctr"/>
            <a:fld id="{9405539E-90D7-4AF8-A7AD-A7F4863668DB}" type="slidenum">
              <a:rPr lang="en-US" altLang="ko-KR" sz="9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6D6E71"/>
                </a:solidFill>
                <a:latin typeface="+mj-lt"/>
                <a:ea typeface="다음_SemiBold" panose="02000700060000000000" pitchFamily="2" charset="-127"/>
              </a:rPr>
              <a:t>‹#›</a:t>
            </a:fld>
            <a:endParaRPr lang="ko-KR" altLang="en-US" sz="500" spc="-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6D6E71"/>
              </a:solidFill>
              <a:latin typeface="다음_Regular" panose="02000603060000000000" pitchFamily="2" charset="-127"/>
              <a:ea typeface="다음_Regular" panose="02000603060000000000" pitchFamily="2" charset="-127"/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783494" y="196819"/>
            <a:ext cx="9313984" cy="5142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algn="l" defTabSz="914400" rtl="0" eaLnBrk="1" latinLnBrk="1" hangingPunct="1">
              <a:defRPr lang="ko-KR" altLang="en-US" sz="3000" kern="12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C4666"/>
                </a:solidFill>
                <a:latin typeface="다음_SemiBold" panose="02000700060000000000" pitchFamily="2" charset="-127"/>
                <a:ea typeface="다음_SemiBold" panose="0200070006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0848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62208" y="266245"/>
            <a:ext cx="1869591" cy="25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13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A3BF87-F164-4B2F-9139-9D412A8BB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4458E6-B514-4A60-ACAC-6426F7442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AD2648-A641-4364-B61E-8DC22850C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F5D80-70F8-4EB3-8278-C1AC8261BA5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E33D26-9053-4509-BF35-7E1C17414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BD323-26A6-46EA-9B7C-B5A9FD9B5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A017B-803A-459A-B1F6-82CF7BD3C6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09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chart" Target="../charts/chart2.xml"/><Relationship Id="rId7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54427" t="-1" b="-9771"/>
          <a:stretch/>
        </p:blipFill>
        <p:spPr>
          <a:xfrm>
            <a:off x="1143000" y="4743450"/>
            <a:ext cx="748516" cy="1952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3047" y="1790290"/>
            <a:ext cx="49259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3600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다음_SemiBold" panose="02000700060000000000" pitchFamily="2" charset="-127"/>
                <a:ea typeface="다음_SemiBold" panose="02000700060000000000" pitchFamily="2" charset="-127"/>
              </a:rPr>
              <a:t>철스크랩</a:t>
            </a:r>
            <a:r>
              <a:rPr lang="ko-KR" altLang="en-US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다음_SemiBold" panose="02000700060000000000" pitchFamily="2" charset="-127"/>
                <a:ea typeface="다음_SemiBold" panose="02000700060000000000" pitchFamily="2" charset="-127"/>
              </a:rPr>
              <a:t> 진행상황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8DAC43C6-68C8-4309-933A-6A3B6D7C8916}"/>
              </a:ext>
            </a:extLst>
          </p:cNvPr>
          <p:cNvSpPr txBox="1">
            <a:spLocks/>
          </p:cNvSpPr>
          <p:nvPr/>
        </p:nvSpPr>
        <p:spPr>
          <a:xfrm>
            <a:off x="2890887" y="2621650"/>
            <a:ext cx="7233501" cy="5532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436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792D4-E261-4C42-B14C-F8AF2AD1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절차</a:t>
            </a:r>
          </a:p>
        </p:txBody>
      </p:sp>
      <p:sp>
        <p:nvSpPr>
          <p:cNvPr id="15" name="TextBox 35">
            <a:extLst>
              <a:ext uri="{FF2B5EF4-FFF2-40B4-BE49-F238E27FC236}">
                <a16:creationId xmlns:a16="http://schemas.microsoft.com/office/drawing/2014/main" id="{9969BDDB-E066-4EFE-9229-6832C127F1EE}"/>
              </a:ext>
            </a:extLst>
          </p:cNvPr>
          <p:cNvSpPr txBox="1"/>
          <p:nvPr/>
        </p:nvSpPr>
        <p:spPr>
          <a:xfrm>
            <a:off x="783494" y="1108867"/>
            <a:ext cx="8536144" cy="29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1. 2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차년도 결과 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82563" indent="-182563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2. 3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차년도 목표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82563" indent="-182563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데이터셋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82563" indent="-182563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학습방법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82563" indent="-182563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5.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45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557CD-6A96-4504-948D-C183DB14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1. 2</a:t>
            </a:r>
            <a:r>
              <a:rPr lang="ko-KR" altLang="en-US" dirty="0"/>
              <a:t>차년도 결과 </a:t>
            </a:r>
            <a:r>
              <a:rPr lang="en-US" altLang="ko-KR" dirty="0"/>
              <a:t>- </a:t>
            </a:r>
            <a:r>
              <a:rPr lang="en-US" altLang="ko-KR" dirty="0" err="1"/>
              <a:t>maskDINO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8CD613-BB2B-4E77-954B-4934259B0C82}"/>
              </a:ext>
            </a:extLst>
          </p:cNvPr>
          <p:cNvGrpSpPr/>
          <p:nvPr/>
        </p:nvGrpSpPr>
        <p:grpSpPr>
          <a:xfrm>
            <a:off x="401826" y="2850761"/>
            <a:ext cx="6878343" cy="3302881"/>
            <a:chOff x="5709195" y="2975469"/>
            <a:chExt cx="7290600" cy="3258667"/>
          </a:xfrm>
        </p:grpSpPr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A1B22546-B7C7-48DC-AF62-87EEDC4E2C83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E3F74EF6-A336-41A2-880F-9DBA12493416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E6FC88E6-9275-4C63-8BC2-3151043AB86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2"/>
          <a:stretch/>
        </p:blipFill>
        <p:spPr>
          <a:xfrm>
            <a:off x="633774" y="3141276"/>
            <a:ext cx="6421669" cy="278799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CBA79A63-8A27-4E77-8A72-8C5BB483202B}"/>
              </a:ext>
            </a:extLst>
          </p:cNvPr>
          <p:cNvGrpSpPr/>
          <p:nvPr/>
        </p:nvGrpSpPr>
        <p:grpSpPr>
          <a:xfrm>
            <a:off x="7442693" y="2849672"/>
            <a:ext cx="4347481" cy="3302881"/>
            <a:chOff x="5709195" y="2975469"/>
            <a:chExt cx="7290600" cy="3258667"/>
          </a:xfrm>
        </p:grpSpPr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189AEC53-DCAA-439C-84F5-2895991C7AFB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BC5B286-6223-423D-B435-44F7F972FA55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62F54D92-E237-4A58-8A41-43A421A2F2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503" y="3446476"/>
            <a:ext cx="3948857" cy="2185261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A738301-D4B1-4478-ABB6-AC6E3B8FA51E}"/>
              </a:ext>
            </a:extLst>
          </p:cNvPr>
          <p:cNvSpPr/>
          <p:nvPr/>
        </p:nvSpPr>
        <p:spPr>
          <a:xfrm>
            <a:off x="2494866" y="2660158"/>
            <a:ext cx="2692261" cy="47052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25400"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AI </a:t>
            </a:r>
            <a:r>
              <a:rPr lang="ko-KR" altLang="en-US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모델 정성적 성능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79B5E8-CF6E-4DC3-AF3A-B6C10A07CC59}"/>
              </a:ext>
            </a:extLst>
          </p:cNvPr>
          <p:cNvSpPr/>
          <p:nvPr/>
        </p:nvSpPr>
        <p:spPr>
          <a:xfrm>
            <a:off x="8268800" y="2665952"/>
            <a:ext cx="2692261" cy="47052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25400"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AI </a:t>
            </a:r>
            <a:r>
              <a:rPr lang="ko-KR" altLang="en-US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모델 정량적 성능</a:t>
            </a: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F457CB18-40C9-4B37-A9CC-3C0CC546F292}"/>
              </a:ext>
            </a:extLst>
          </p:cNvPr>
          <p:cNvSpPr txBox="1"/>
          <p:nvPr/>
        </p:nvSpPr>
        <p:spPr>
          <a:xfrm>
            <a:off x="783494" y="1108867"/>
            <a:ext cx="8536144" cy="1184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mAP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0.72, PQ : 46.49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면적 정확도 평균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86.9%, </a:t>
            </a:r>
            <a:r>
              <a:rPr lang="ko-KR" altLang="en-US" sz="2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객체수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정확도 평균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:80.2%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7FA36E5-9907-483E-8005-1AA7F515954C}"/>
              </a:ext>
            </a:extLst>
          </p:cNvPr>
          <p:cNvGrpSpPr/>
          <p:nvPr/>
        </p:nvGrpSpPr>
        <p:grpSpPr>
          <a:xfrm>
            <a:off x="708310" y="1387965"/>
            <a:ext cx="150368" cy="155776"/>
            <a:chOff x="4657725" y="3038478"/>
            <a:chExt cx="661990" cy="685797"/>
          </a:xfrm>
        </p:grpSpPr>
        <p:pic>
          <p:nvPicPr>
            <p:cNvPr id="16" name="그래픽 9">
              <a:extLst>
                <a:ext uri="{FF2B5EF4-FFF2-40B4-BE49-F238E27FC236}">
                  <a16:creationId xmlns:a16="http://schemas.microsoft.com/office/drawing/2014/main" id="{182AFB5E-C2F2-4508-9247-1ABF9F550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17" name="그래픽 10">
              <a:extLst>
                <a:ext uri="{FF2B5EF4-FFF2-40B4-BE49-F238E27FC236}">
                  <a16:creationId xmlns:a16="http://schemas.microsoft.com/office/drawing/2014/main" id="{03268585-9AE3-429E-ADB0-47E086C19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8B81F7C-988E-47DB-A0DB-C4C3BCF9956B}"/>
              </a:ext>
            </a:extLst>
          </p:cNvPr>
          <p:cNvGrpSpPr/>
          <p:nvPr/>
        </p:nvGrpSpPr>
        <p:grpSpPr>
          <a:xfrm>
            <a:off x="708310" y="1984569"/>
            <a:ext cx="150368" cy="155776"/>
            <a:chOff x="4657725" y="3038478"/>
            <a:chExt cx="661990" cy="685797"/>
          </a:xfrm>
        </p:grpSpPr>
        <p:pic>
          <p:nvPicPr>
            <p:cNvPr id="19" name="그래픽 9">
              <a:extLst>
                <a:ext uri="{FF2B5EF4-FFF2-40B4-BE49-F238E27FC236}">
                  <a16:creationId xmlns:a16="http://schemas.microsoft.com/office/drawing/2014/main" id="{EF72F271-D6E6-4FA2-A123-128678E64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20" name="그래픽 10">
              <a:extLst>
                <a:ext uri="{FF2B5EF4-FFF2-40B4-BE49-F238E27FC236}">
                  <a16:creationId xmlns:a16="http://schemas.microsoft.com/office/drawing/2014/main" id="{AFA39152-93E4-4B70-B849-D075107C9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148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7687A9C6-0557-4BE8-9178-7EEFA99B3037}"/>
              </a:ext>
            </a:extLst>
          </p:cNvPr>
          <p:cNvGrpSpPr/>
          <p:nvPr/>
        </p:nvGrpSpPr>
        <p:grpSpPr>
          <a:xfrm>
            <a:off x="6496915" y="3503701"/>
            <a:ext cx="5251269" cy="3193344"/>
            <a:chOff x="5709195" y="2975469"/>
            <a:chExt cx="7290600" cy="3258667"/>
          </a:xfrm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7D941F04-B737-40C3-B47C-320DE3FE8C71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705EE94-DA89-4F59-B7BB-45B84BBC04D8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589876D-4FF8-4C48-8855-785A8C62A4E8}"/>
              </a:ext>
            </a:extLst>
          </p:cNvPr>
          <p:cNvGrpSpPr/>
          <p:nvPr/>
        </p:nvGrpSpPr>
        <p:grpSpPr>
          <a:xfrm>
            <a:off x="653142" y="3503701"/>
            <a:ext cx="5251269" cy="3193344"/>
            <a:chOff x="5709195" y="2975469"/>
            <a:chExt cx="7290600" cy="3258667"/>
          </a:xfrm>
        </p:grpSpPr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id="{3E6EF0E9-9BE3-4A17-87DE-FA098522EDAD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98918A15-F0A7-4F2B-B81B-5AB8A15CFA8D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ABC9870-7840-44E5-BF9B-547B39B1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객체별</a:t>
            </a:r>
            <a:r>
              <a:rPr lang="ko-KR" altLang="en-US" dirty="0"/>
              <a:t> </a:t>
            </a:r>
            <a:r>
              <a:rPr lang="en-US" altLang="ko-KR" dirty="0"/>
              <a:t>AP</a:t>
            </a:r>
            <a:r>
              <a:rPr lang="ko-KR" altLang="en-US" dirty="0"/>
              <a:t>계산 </a:t>
            </a:r>
            <a:r>
              <a:rPr lang="en-US" altLang="ko-KR" dirty="0"/>
              <a:t>(</a:t>
            </a:r>
            <a:r>
              <a:rPr lang="en-US" altLang="ko-KR" dirty="0" err="1"/>
              <a:t>maskDINO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Yolo+SAM</a:t>
            </a:r>
            <a:r>
              <a:rPr lang="ko-KR" altLang="en-US" dirty="0"/>
              <a:t> 혼합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B16B15B-6F6D-4CB9-B72A-6ED5F71361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4174504"/>
              </p:ext>
            </p:extLst>
          </p:nvPr>
        </p:nvGraphicFramePr>
        <p:xfrm>
          <a:off x="6617432" y="3538537"/>
          <a:ext cx="4800600" cy="3128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7E54201D-D0C9-4FC0-98D9-368F6C681A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792992"/>
              </p:ext>
            </p:extLst>
          </p:nvPr>
        </p:nvGraphicFramePr>
        <p:xfrm>
          <a:off x="783494" y="3538537"/>
          <a:ext cx="4791076" cy="3133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35">
            <a:extLst>
              <a:ext uri="{FF2B5EF4-FFF2-40B4-BE49-F238E27FC236}">
                <a16:creationId xmlns:a16="http://schemas.microsoft.com/office/drawing/2014/main" id="{E52A0B03-E22C-48B3-8C70-4B4DF119B520}"/>
              </a:ext>
            </a:extLst>
          </p:cNvPr>
          <p:cNvSpPr txBox="1"/>
          <p:nvPr/>
        </p:nvSpPr>
        <p:spPr>
          <a:xfrm>
            <a:off x="783494" y="972166"/>
            <a:ext cx="8536144" cy="3554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AP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낮은 객체 원인 분석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이미지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15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장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객체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1000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 학습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1.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소수 객체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(magnet) :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이미지 당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2.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작은 객체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en-US" altLang="ko-KR" sz="2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Housepipe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 3.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정의 모호성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(scaffold base plate) </a:t>
            </a: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Tx/>
              <a:buChar char="-"/>
            </a:pP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B44338-0D79-442E-9AFB-4C86DD82AD4E}"/>
              </a:ext>
            </a:extLst>
          </p:cNvPr>
          <p:cNvSpPr/>
          <p:nvPr/>
        </p:nvSpPr>
        <p:spPr>
          <a:xfrm>
            <a:off x="740181" y="4302034"/>
            <a:ext cx="4816969" cy="5138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91743E-1807-46CD-9E30-1F62C4CCBC40}"/>
              </a:ext>
            </a:extLst>
          </p:cNvPr>
          <p:cNvSpPr/>
          <p:nvPr/>
        </p:nvSpPr>
        <p:spPr>
          <a:xfrm>
            <a:off x="6688184" y="4236720"/>
            <a:ext cx="4720322" cy="9187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E7E4E7-C0A8-40E6-9F03-EFB5D8494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765" y="1414881"/>
            <a:ext cx="3155379" cy="185642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E0A26D72-EC00-4CD2-8AFF-1FEE3F2B6339}"/>
              </a:ext>
            </a:extLst>
          </p:cNvPr>
          <p:cNvGrpSpPr/>
          <p:nvPr/>
        </p:nvGrpSpPr>
        <p:grpSpPr>
          <a:xfrm>
            <a:off x="856633" y="1847591"/>
            <a:ext cx="150368" cy="155776"/>
            <a:chOff x="4657725" y="3038478"/>
            <a:chExt cx="661990" cy="685797"/>
          </a:xfrm>
        </p:grpSpPr>
        <p:pic>
          <p:nvPicPr>
            <p:cNvPr id="20" name="그래픽 9">
              <a:extLst>
                <a:ext uri="{FF2B5EF4-FFF2-40B4-BE49-F238E27FC236}">
                  <a16:creationId xmlns:a16="http://schemas.microsoft.com/office/drawing/2014/main" id="{A28CE3F9-0FBF-4526-A4A6-66CF233CF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21" name="그래픽 10">
              <a:extLst>
                <a:ext uri="{FF2B5EF4-FFF2-40B4-BE49-F238E27FC236}">
                  <a16:creationId xmlns:a16="http://schemas.microsoft.com/office/drawing/2014/main" id="{F3798C34-5E08-44E3-9E6C-14D3011B0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AF73935-3B40-4F7B-A8AC-6C248AE6B6D2}"/>
              </a:ext>
            </a:extLst>
          </p:cNvPr>
          <p:cNvGrpSpPr/>
          <p:nvPr/>
        </p:nvGrpSpPr>
        <p:grpSpPr>
          <a:xfrm>
            <a:off x="856633" y="2425750"/>
            <a:ext cx="150368" cy="155776"/>
            <a:chOff x="4657725" y="3038478"/>
            <a:chExt cx="661990" cy="685797"/>
          </a:xfrm>
        </p:grpSpPr>
        <p:pic>
          <p:nvPicPr>
            <p:cNvPr id="23" name="그래픽 9">
              <a:extLst>
                <a:ext uri="{FF2B5EF4-FFF2-40B4-BE49-F238E27FC236}">
                  <a16:creationId xmlns:a16="http://schemas.microsoft.com/office/drawing/2014/main" id="{A064295A-9347-446B-BD3E-B81F7BCA4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24" name="그래픽 10">
              <a:extLst>
                <a:ext uri="{FF2B5EF4-FFF2-40B4-BE49-F238E27FC236}">
                  <a16:creationId xmlns:a16="http://schemas.microsoft.com/office/drawing/2014/main" id="{16E12C4C-F245-4AD1-B24C-89208D002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032A505-0467-4F4E-97A3-73453D8B6D39}"/>
              </a:ext>
            </a:extLst>
          </p:cNvPr>
          <p:cNvGrpSpPr/>
          <p:nvPr/>
        </p:nvGrpSpPr>
        <p:grpSpPr>
          <a:xfrm>
            <a:off x="848519" y="3008065"/>
            <a:ext cx="150368" cy="155776"/>
            <a:chOff x="4657725" y="3038478"/>
            <a:chExt cx="661990" cy="685797"/>
          </a:xfrm>
        </p:grpSpPr>
        <p:pic>
          <p:nvPicPr>
            <p:cNvPr id="26" name="그래픽 9">
              <a:extLst>
                <a:ext uri="{FF2B5EF4-FFF2-40B4-BE49-F238E27FC236}">
                  <a16:creationId xmlns:a16="http://schemas.microsoft.com/office/drawing/2014/main" id="{8CA01C95-A3DC-4043-89C7-67A429306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27" name="그래픽 10">
              <a:extLst>
                <a:ext uri="{FF2B5EF4-FFF2-40B4-BE49-F238E27FC236}">
                  <a16:creationId xmlns:a16="http://schemas.microsoft.com/office/drawing/2014/main" id="{A2F61A02-6501-4555-86B1-606A85189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18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BFA58-9899-4BCE-BE89-2172DF51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494" y="196819"/>
            <a:ext cx="9313984" cy="514243"/>
          </a:xfrm>
        </p:spPr>
        <p:txBody>
          <a:bodyPr/>
          <a:lstStyle/>
          <a:p>
            <a:r>
              <a:rPr lang="en-US" altLang="ko-KR" dirty="0"/>
              <a:t>2. 3</a:t>
            </a:r>
            <a:r>
              <a:rPr lang="ko-KR" altLang="en-US" dirty="0"/>
              <a:t>차년도 목표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6BB16B3-DD83-466C-A8A5-3360A3AA2549}"/>
              </a:ext>
            </a:extLst>
          </p:cNvPr>
          <p:cNvGrpSpPr/>
          <p:nvPr/>
        </p:nvGrpSpPr>
        <p:grpSpPr>
          <a:xfrm>
            <a:off x="783494" y="2747146"/>
            <a:ext cx="10470235" cy="3645364"/>
            <a:chOff x="742789" y="2573331"/>
            <a:chExt cx="10470235" cy="364536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1EAD5210-A57F-4F42-A091-254540DE752B}"/>
                </a:ext>
              </a:extLst>
            </p:cNvPr>
            <p:cNvGrpSpPr/>
            <p:nvPr/>
          </p:nvGrpSpPr>
          <p:grpSpPr>
            <a:xfrm>
              <a:off x="6954863" y="2763934"/>
              <a:ext cx="4258161" cy="3454761"/>
              <a:chOff x="5709195" y="2975469"/>
              <a:chExt cx="7290600" cy="3258667"/>
            </a:xfrm>
          </p:grpSpPr>
          <p:sp>
            <p:nvSpPr>
              <p:cNvPr id="16" name="사각형: 둥근 위쪽 모서리 15">
                <a:extLst>
                  <a:ext uri="{FF2B5EF4-FFF2-40B4-BE49-F238E27FC236}">
                    <a16:creationId xmlns:a16="http://schemas.microsoft.com/office/drawing/2014/main" id="{8733DCD8-F2EF-4F73-A3CE-C7B4E9CEE58B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endParaRPr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ED416A9E-488A-4875-ABF8-C77A8AD9AA3B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</a:endParaRPr>
              </a:p>
            </p:txBody>
          </p:sp>
        </p:grp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45B3523-033D-43AC-8C3F-7A5D4DBE847C}"/>
                </a:ext>
              </a:extLst>
            </p:cNvPr>
            <p:cNvSpPr/>
            <p:nvPr/>
          </p:nvSpPr>
          <p:spPr>
            <a:xfrm>
              <a:off x="7733101" y="2573331"/>
              <a:ext cx="2692261" cy="47052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z="1400" kern="0" spc="-6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rPr>
                <a:t>철 스크랩 이물질 구분 </a:t>
              </a:r>
              <a:r>
                <a:rPr lang="en-US" altLang="ko-KR" sz="1400" kern="0" spc="-6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rPr>
                <a:t>AI </a:t>
              </a:r>
              <a:r>
                <a:rPr lang="ko-KR" altLang="en-US" sz="1400" kern="0" spc="-6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rPr>
                <a:t>개발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54BCB56-0F02-490E-AD42-90610782E484}"/>
                </a:ext>
              </a:extLst>
            </p:cNvPr>
            <p:cNvGrpSpPr/>
            <p:nvPr/>
          </p:nvGrpSpPr>
          <p:grpSpPr>
            <a:xfrm>
              <a:off x="742789" y="2763934"/>
              <a:ext cx="5719255" cy="3454761"/>
              <a:chOff x="5709195" y="2975469"/>
              <a:chExt cx="7290600" cy="3258667"/>
            </a:xfrm>
          </p:grpSpPr>
          <p:sp>
            <p:nvSpPr>
              <p:cNvPr id="14" name="사각형: 둥근 위쪽 모서리 13">
                <a:extLst>
                  <a:ext uri="{FF2B5EF4-FFF2-40B4-BE49-F238E27FC236}">
                    <a16:creationId xmlns:a16="http://schemas.microsoft.com/office/drawing/2014/main" id="{F29C809B-EC10-4EE4-A352-ACF64AB2B6E5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258667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endParaRP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B0916AA6-9405-47D8-A8AC-AD298BAD12AF}"/>
                  </a:ext>
                </a:extLst>
              </p:cNvPr>
              <p:cNvSpPr/>
              <p:nvPr/>
            </p:nvSpPr>
            <p:spPr>
              <a:xfrm>
                <a:off x="5830036" y="3068803"/>
                <a:ext cx="7048918" cy="3071998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KoPubWorld돋움체 Bold" panose="00000800000000000000" pitchFamily="2" charset="-127"/>
                  <a:ea typeface="KoPubWorld돋움체 Bold" panose="00000800000000000000" pitchFamily="2" charset="-127"/>
                </a:endParaRPr>
              </a:p>
            </p:txBody>
          </p: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B9D9EFD-B9E3-4630-B8D7-37C72DA7B983}"/>
                </a:ext>
              </a:extLst>
            </p:cNvPr>
            <p:cNvSpPr/>
            <p:nvPr/>
          </p:nvSpPr>
          <p:spPr>
            <a:xfrm>
              <a:off x="2256285" y="2573331"/>
              <a:ext cx="2692261" cy="47052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ko-KR" altLang="en-US" sz="1400" kern="0" spc="-6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rPr>
                <a:t>철 스크랩 녹 정도 예측 </a:t>
              </a:r>
              <a:r>
                <a:rPr lang="en-US" altLang="ko-KR" sz="1400" kern="0" spc="-6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rPr>
                <a:t>AI </a:t>
              </a:r>
              <a:r>
                <a:rPr lang="ko-KR" altLang="en-US" sz="1400" kern="0" spc="-60" dirty="0">
                  <a:solidFill>
                    <a:schemeClr val="bg1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</a:rPr>
                <a:t>개발</a:t>
              </a: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1BC3DF8-3CE8-46D5-AEC6-FF83F8A848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157"/>
            <a:stretch/>
          </p:blipFill>
          <p:spPr>
            <a:xfrm>
              <a:off x="7604183" y="3123195"/>
              <a:ext cx="3020992" cy="1381905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BF17349-5F2A-407D-91ED-4E215F658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976" y="3142803"/>
              <a:ext cx="5253029" cy="282388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36F8C78-B523-4C36-87BE-8DEA11D08F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4"/>
            <a:stretch/>
          </p:blipFill>
          <p:spPr>
            <a:xfrm>
              <a:off x="7527523" y="4621469"/>
              <a:ext cx="3152994" cy="1381905"/>
            </a:xfrm>
            <a:prstGeom prst="rect">
              <a:avLst/>
            </a:prstGeom>
          </p:spPr>
        </p:pic>
      </p:grpSp>
      <p:sp>
        <p:nvSpPr>
          <p:cNvPr id="18" name="TextBox 35">
            <a:extLst>
              <a:ext uri="{FF2B5EF4-FFF2-40B4-BE49-F238E27FC236}">
                <a16:creationId xmlns:a16="http://schemas.microsoft.com/office/drawing/2014/main" id="{7B82E0A7-6AFA-4DF0-ACE8-BA60FE994C65}"/>
              </a:ext>
            </a:extLst>
          </p:cNvPr>
          <p:cNvSpPr txBox="1"/>
          <p:nvPr/>
        </p:nvSpPr>
        <p:spPr>
          <a:xfrm>
            <a:off x="783494" y="1033129"/>
            <a:ext cx="8536144" cy="1184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녹 예측 방안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공유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backbone + 2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head (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형상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녹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이물질 구분 방안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분류 클래스 추가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6674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666AC040-C4F7-489E-BE68-51AC00E24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695" y="1525867"/>
            <a:ext cx="3049783" cy="4574674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48A43F73-765A-4DDE-A8B2-B074DBCAE77E}"/>
              </a:ext>
            </a:extLst>
          </p:cNvPr>
          <p:cNvGrpSpPr/>
          <p:nvPr/>
        </p:nvGrpSpPr>
        <p:grpSpPr>
          <a:xfrm>
            <a:off x="6137533" y="1030827"/>
            <a:ext cx="5096196" cy="5562589"/>
            <a:chOff x="5709195" y="2975469"/>
            <a:chExt cx="7290600" cy="3258667"/>
          </a:xfrm>
        </p:grpSpPr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id="{4EAB5821-5FE4-41F3-BDCD-9ACAA7B98658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15D7B74-5B01-4303-A752-D6E799E66A89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50B5680-2C3E-4BDE-B388-E0FEBB79B05D}"/>
              </a:ext>
            </a:extLst>
          </p:cNvPr>
          <p:cNvGrpSpPr/>
          <p:nvPr/>
        </p:nvGrpSpPr>
        <p:grpSpPr>
          <a:xfrm>
            <a:off x="703068" y="2118738"/>
            <a:ext cx="5096196" cy="3459539"/>
            <a:chOff x="5709195" y="2975469"/>
            <a:chExt cx="7290600" cy="3258667"/>
          </a:xfrm>
        </p:grpSpPr>
        <p:sp>
          <p:nvSpPr>
            <p:cNvPr id="15" name="사각형: 둥근 위쪽 모서리 14">
              <a:extLst>
                <a:ext uri="{FF2B5EF4-FFF2-40B4-BE49-F238E27FC236}">
                  <a16:creationId xmlns:a16="http://schemas.microsoft.com/office/drawing/2014/main" id="{2F45D966-C385-4CDC-B1CF-64E62A88D44C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31BE7FB-6CE4-47C7-92F5-5A5A9235573D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9828882-26D2-48D0-B66F-35F3422B7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2. 3</a:t>
            </a:r>
            <a:r>
              <a:rPr lang="ko-KR" altLang="en-US" dirty="0"/>
              <a:t>차년도 목표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008451-C24F-4404-9ECA-5090946F8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228" y="2332426"/>
            <a:ext cx="4217877" cy="303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B3027A-72ED-4275-9693-855C1D4D5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342" y="1386853"/>
            <a:ext cx="3344490" cy="5016733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EEF197F-59E1-489F-8C5D-F42606302937}"/>
              </a:ext>
            </a:extLst>
          </p:cNvPr>
          <p:cNvSpPr/>
          <p:nvPr/>
        </p:nvSpPr>
        <p:spPr>
          <a:xfrm>
            <a:off x="1864046" y="1883475"/>
            <a:ext cx="2692261" cy="47052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25400"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Mask2former</a:t>
            </a:r>
            <a:endParaRPr lang="ko-KR" altLang="en-US" sz="1400" kern="0" spc="-60" dirty="0">
              <a:solidFill>
                <a:schemeClr val="bg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C60B8DF-6AC0-42AA-984F-132A85F87026}"/>
              </a:ext>
            </a:extLst>
          </p:cNvPr>
          <p:cNvSpPr/>
          <p:nvPr/>
        </p:nvSpPr>
        <p:spPr>
          <a:xfrm>
            <a:off x="7339500" y="890048"/>
            <a:ext cx="2692261" cy="47052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25400"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부식 인식 </a:t>
            </a:r>
            <a:r>
              <a:rPr lang="en-US" altLang="ko-KR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head </a:t>
            </a:r>
            <a:r>
              <a:rPr lang="ko-KR" altLang="en-US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24745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BFA58-9899-4BCE-BE89-2172DF51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494" y="196819"/>
            <a:ext cx="9313984" cy="51424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데이터셋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D43E91-87D5-4AA9-A524-51E53A7A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464" y="1762890"/>
            <a:ext cx="3653072" cy="45375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659AC85-9058-465A-AF1D-76ADEB9C0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68" y="1762890"/>
            <a:ext cx="3751304" cy="4442333"/>
          </a:xfrm>
          <a:prstGeom prst="rect">
            <a:avLst/>
          </a:prstGeom>
        </p:spPr>
      </p:pic>
      <p:sp>
        <p:nvSpPr>
          <p:cNvPr id="13" name="TextBox 35">
            <a:extLst>
              <a:ext uri="{FF2B5EF4-FFF2-40B4-BE49-F238E27FC236}">
                <a16:creationId xmlns:a16="http://schemas.microsoft.com/office/drawing/2014/main" id="{D0BF78A2-06E6-4AF7-93D1-0CF93ABC0467}"/>
              </a:ext>
            </a:extLst>
          </p:cNvPr>
          <p:cNvSpPr txBox="1"/>
          <p:nvPr/>
        </p:nvSpPr>
        <p:spPr>
          <a:xfrm>
            <a:off x="783494" y="1033129"/>
            <a:ext cx="4331050" cy="2736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 데이터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2096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장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수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89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*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이슈사항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불균형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정의 모호함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겹침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4.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작은 객체 다수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(pipe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류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9BB6D9A-71AB-48EA-A880-0AC6F448B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94" y="4305960"/>
            <a:ext cx="3099658" cy="179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4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C60C6F49-3A7E-404D-939D-4C1565522542}"/>
              </a:ext>
            </a:extLst>
          </p:cNvPr>
          <p:cNvGrpSpPr/>
          <p:nvPr/>
        </p:nvGrpSpPr>
        <p:grpSpPr>
          <a:xfrm>
            <a:off x="8260415" y="3870056"/>
            <a:ext cx="3792109" cy="2568678"/>
            <a:chOff x="5709195" y="2975469"/>
            <a:chExt cx="7290600" cy="3258667"/>
          </a:xfrm>
        </p:grpSpPr>
        <p:sp>
          <p:nvSpPr>
            <p:cNvPr id="18" name="사각형: 둥근 위쪽 모서리 17">
              <a:extLst>
                <a:ext uri="{FF2B5EF4-FFF2-40B4-BE49-F238E27FC236}">
                  <a16:creationId xmlns:a16="http://schemas.microsoft.com/office/drawing/2014/main" id="{98C8F710-18CC-4460-B873-FBD8B98F58FC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BB6352F-05C5-4874-94CE-D23C0C17F5BC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02A1DB9-4BE3-4CEB-A09E-9626B077BCA8}"/>
              </a:ext>
            </a:extLst>
          </p:cNvPr>
          <p:cNvGrpSpPr/>
          <p:nvPr/>
        </p:nvGrpSpPr>
        <p:grpSpPr>
          <a:xfrm>
            <a:off x="4192252" y="3870056"/>
            <a:ext cx="3792109" cy="2568678"/>
            <a:chOff x="5709195" y="2975469"/>
            <a:chExt cx="7290600" cy="3258667"/>
          </a:xfrm>
        </p:grpSpPr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925A543A-8C4F-4F81-B6D0-392BB3DAE921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DB88151D-1CC8-406F-ADBD-0F7C50BAC4EF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CFB5412-A647-4601-9AD7-102A91CEF936}"/>
              </a:ext>
            </a:extLst>
          </p:cNvPr>
          <p:cNvGrpSpPr/>
          <p:nvPr/>
        </p:nvGrpSpPr>
        <p:grpSpPr>
          <a:xfrm>
            <a:off x="124090" y="3870056"/>
            <a:ext cx="3792109" cy="2568678"/>
            <a:chOff x="5709195" y="2975469"/>
            <a:chExt cx="7290600" cy="3258667"/>
          </a:xfrm>
        </p:grpSpPr>
        <p:sp>
          <p:nvSpPr>
            <p:cNvPr id="9" name="사각형: 둥근 위쪽 모서리 8">
              <a:extLst>
                <a:ext uri="{FF2B5EF4-FFF2-40B4-BE49-F238E27FC236}">
                  <a16:creationId xmlns:a16="http://schemas.microsoft.com/office/drawing/2014/main" id="{ADAE6915-8E4B-4EAC-A12D-739EE9C17815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A1566B71-3834-4771-BDD4-35FA647A15F3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79C71B9-A2EC-4DD0-811D-255B05D4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학습방법 </a:t>
            </a:r>
            <a:r>
              <a:rPr lang="en-US" altLang="ko-KR" dirty="0"/>
              <a:t>: yolov11 - instance segmentation</a:t>
            </a:r>
            <a:endParaRPr lang="ko-KR" altLang="en-US" dirty="0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12E7B20B-9F12-4744-B804-2F621C0494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2701353"/>
              </p:ext>
            </p:extLst>
          </p:nvPr>
        </p:nvGraphicFramePr>
        <p:xfrm>
          <a:off x="156370" y="3956314"/>
          <a:ext cx="3704926" cy="2420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35">
            <a:extLst>
              <a:ext uri="{FF2B5EF4-FFF2-40B4-BE49-F238E27FC236}">
                <a16:creationId xmlns:a16="http://schemas.microsoft.com/office/drawing/2014/main" id="{B952A35C-D7A2-4E2D-BACD-02D5987FF4A8}"/>
              </a:ext>
            </a:extLst>
          </p:cNvPr>
          <p:cNvSpPr txBox="1"/>
          <p:nvPr/>
        </p:nvSpPr>
        <p:spPr>
          <a:xfrm>
            <a:off x="751215" y="1118648"/>
            <a:ext cx="4331050" cy="1374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사전학습 가중치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yolov11-seg</a:t>
            </a: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리사이즈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640</a:t>
            </a: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Epoch: 500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FF9417AB-105C-4612-965D-E2E175214A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6685528"/>
              </p:ext>
            </p:extLst>
          </p:nvPr>
        </p:nvGraphicFramePr>
        <p:xfrm>
          <a:off x="4276388" y="3956314"/>
          <a:ext cx="3656741" cy="235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D5920C-4DEF-4365-93D7-54CC830DBCF0}"/>
              </a:ext>
            </a:extLst>
          </p:cNvPr>
          <p:cNvSpPr txBox="1"/>
          <p:nvPr/>
        </p:nvSpPr>
        <p:spPr>
          <a:xfrm>
            <a:off x="802654" y="3261398"/>
            <a:ext cx="2434980" cy="46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Trial 1: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전처리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7DD74E-3157-4B4A-B3DB-17A68767C32F}"/>
              </a:ext>
            </a:extLst>
          </p:cNvPr>
          <p:cNvSpPr txBox="1"/>
          <p:nvPr/>
        </p:nvSpPr>
        <p:spPr>
          <a:xfrm>
            <a:off x="3838748" y="3249586"/>
            <a:ext cx="4499115" cy="46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Trial 2: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재매핑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비슷한 형상의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객체매핑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D21FCF60-2A9E-482D-ABFC-D052F112B0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8521343"/>
              </p:ext>
            </p:extLst>
          </p:nvPr>
        </p:nvGraphicFramePr>
        <p:xfrm>
          <a:off x="8344551" y="4005179"/>
          <a:ext cx="3645119" cy="235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DCA0269-FEB1-41F7-AABC-FC5039FD424F}"/>
              </a:ext>
            </a:extLst>
          </p:cNvPr>
          <p:cNvSpPr txBox="1"/>
          <p:nvPr/>
        </p:nvSpPr>
        <p:spPr>
          <a:xfrm>
            <a:off x="8717843" y="3261397"/>
            <a:ext cx="2743883" cy="46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Trial 3: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작은 객체 제거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(8px)</a:t>
            </a:r>
          </a:p>
        </p:txBody>
      </p:sp>
    </p:spTree>
    <p:extLst>
      <p:ext uri="{BB962C8B-B14F-4D97-AF65-F5344CB8AC3E}">
        <p14:creationId xmlns:p14="http://schemas.microsoft.com/office/powerpoint/2010/main" val="44014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115774-E331-4FA4-A331-9068364981C4}"/>
              </a:ext>
            </a:extLst>
          </p:cNvPr>
          <p:cNvGrpSpPr/>
          <p:nvPr/>
        </p:nvGrpSpPr>
        <p:grpSpPr>
          <a:xfrm>
            <a:off x="8153520" y="3440152"/>
            <a:ext cx="3899367" cy="2981632"/>
            <a:chOff x="5709195" y="2975469"/>
            <a:chExt cx="7290600" cy="3258667"/>
          </a:xfrm>
        </p:grpSpPr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A7AD85B0-444C-4A56-AC4B-F2D3531F1CEF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3958CD87-863E-4101-AE06-8F40E57B48A3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BDFBBC0-D7B6-4CF2-A20D-EDA9E6594CB8}"/>
              </a:ext>
            </a:extLst>
          </p:cNvPr>
          <p:cNvGrpSpPr/>
          <p:nvPr/>
        </p:nvGrpSpPr>
        <p:grpSpPr>
          <a:xfrm>
            <a:off x="4156475" y="3429000"/>
            <a:ext cx="3899367" cy="2981632"/>
            <a:chOff x="5709195" y="2975469"/>
            <a:chExt cx="7290600" cy="3258667"/>
          </a:xfrm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F2967293-8643-4B6A-AE41-143F5978B794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DD4C80A-8058-4C96-859C-944E6FB0477F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7305A5E-3470-4EB1-924A-C3A7FB694910}"/>
              </a:ext>
            </a:extLst>
          </p:cNvPr>
          <p:cNvGrpSpPr/>
          <p:nvPr/>
        </p:nvGrpSpPr>
        <p:grpSpPr>
          <a:xfrm>
            <a:off x="159430" y="3429000"/>
            <a:ext cx="3899367" cy="2981632"/>
            <a:chOff x="5709195" y="2975469"/>
            <a:chExt cx="7290600" cy="3258667"/>
          </a:xfrm>
        </p:grpSpPr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id="{7D23CBFA-4CCA-4429-92D0-7C0D913F8154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198C322-F00F-4BA5-B964-B0DBFFF37559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BA5B95B-92A9-41DC-91BF-7729267A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정량적 결과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5168F360-9FEF-4778-82C3-F21CB59232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7903668"/>
              </p:ext>
            </p:extLst>
          </p:nvPr>
        </p:nvGraphicFramePr>
        <p:xfrm>
          <a:off x="337388" y="3429358"/>
          <a:ext cx="3543450" cy="2885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5AC34E2D-1B79-4D86-B192-B65A053FC9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039036"/>
              </p:ext>
            </p:extLst>
          </p:nvPr>
        </p:nvGraphicFramePr>
        <p:xfrm>
          <a:off x="4334432" y="3440152"/>
          <a:ext cx="3543451" cy="2885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35">
            <a:extLst>
              <a:ext uri="{FF2B5EF4-FFF2-40B4-BE49-F238E27FC236}">
                <a16:creationId xmlns:a16="http://schemas.microsoft.com/office/drawing/2014/main" id="{C3DF6525-25B7-4A77-BE5A-E325531E47D9}"/>
              </a:ext>
            </a:extLst>
          </p:cNvPr>
          <p:cNvSpPr txBox="1"/>
          <p:nvPr/>
        </p:nvSpPr>
        <p:spPr>
          <a:xfrm>
            <a:off x="783492" y="1288310"/>
            <a:ext cx="6924997" cy="92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Tx/>
              <a:buChar char="-"/>
            </a:pP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클래스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재매핑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시 </a:t>
            </a:r>
            <a:r>
              <a:rPr lang="en-US" altLang="ko-KR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bbox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mAP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기준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5.8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배 향상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  <a:buFontTx/>
              <a:buChar char="-"/>
            </a:pPr>
            <a:r>
              <a:rPr lang="en-US" altLang="ko-KR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Bbox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에서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Width, Height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길이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8px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이하 객체 제거 시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8.7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배 향상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9D3C66-0387-4D32-BDED-71953AE97C3F}"/>
              </a:ext>
            </a:extLst>
          </p:cNvPr>
          <p:cNvSpPr/>
          <p:nvPr/>
        </p:nvSpPr>
        <p:spPr>
          <a:xfrm>
            <a:off x="1463515" y="4262565"/>
            <a:ext cx="450737" cy="17376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C37288-FB2A-45B4-8826-204F4189903C}"/>
              </a:ext>
            </a:extLst>
          </p:cNvPr>
          <p:cNvSpPr/>
          <p:nvPr/>
        </p:nvSpPr>
        <p:spPr>
          <a:xfrm>
            <a:off x="5432386" y="4242901"/>
            <a:ext cx="450737" cy="17376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74DE36D3-4935-4DD3-9220-5C43EC9EA8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0243320"/>
              </p:ext>
            </p:extLst>
          </p:nvPr>
        </p:nvGraphicFramePr>
        <p:xfrm>
          <a:off x="8269088" y="3514400"/>
          <a:ext cx="3656779" cy="2810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0CE948-9039-4101-8FEE-DF32AD8B41E6}"/>
              </a:ext>
            </a:extLst>
          </p:cNvPr>
          <p:cNvSpPr/>
          <p:nvPr/>
        </p:nvSpPr>
        <p:spPr>
          <a:xfrm>
            <a:off x="9344258" y="4262565"/>
            <a:ext cx="517496" cy="188259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7AA179-F3B6-476F-9046-6C8F7FBDCDCB}"/>
                  </a:ext>
                </a:extLst>
              </p:cNvPr>
              <p:cNvSpPr txBox="1"/>
              <p:nvPr/>
            </p:nvSpPr>
            <p:spPr>
              <a:xfrm>
                <a:off x="2835123" y="2350819"/>
                <a:ext cx="6096000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𝑚𝐴𝑃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𝐴𝑃</m:t>
                          </m:r>
                          <m:r>
                            <m:rPr>
                              <m:lit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7AA179-F3B6-476F-9046-6C8F7FBDC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123" y="2350819"/>
                <a:ext cx="6096000" cy="8712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65BF8B48-041A-40BD-A912-AA1DDE8A8B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088" y="896476"/>
            <a:ext cx="3656779" cy="243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5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D9D162D-D792-4B81-A637-D13F9EB8E1C1}"/>
              </a:ext>
            </a:extLst>
          </p:cNvPr>
          <p:cNvGrpSpPr/>
          <p:nvPr/>
        </p:nvGrpSpPr>
        <p:grpSpPr>
          <a:xfrm>
            <a:off x="783493" y="3764116"/>
            <a:ext cx="4971968" cy="2735007"/>
            <a:chOff x="5709195" y="2975469"/>
            <a:chExt cx="7290600" cy="325866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EB99D45A-70B5-444A-A5EE-BC76102AB12E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F065FA2-0CA2-41D5-93B2-18945D79C1CA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303CE93-DED5-41F6-B3F4-0ADD85C6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정량적 결과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939CE830-73BF-4EBB-9046-F698ADC035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8487231"/>
              </p:ext>
            </p:extLst>
          </p:nvPr>
        </p:nvGraphicFramePr>
        <p:xfrm>
          <a:off x="940513" y="3816409"/>
          <a:ext cx="4702794" cy="2645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5">
            <a:extLst>
              <a:ext uri="{FF2B5EF4-FFF2-40B4-BE49-F238E27FC236}">
                <a16:creationId xmlns:a16="http://schemas.microsoft.com/office/drawing/2014/main" id="{E5086DB2-F25E-438B-AC2A-181354F8722E}"/>
              </a:ext>
            </a:extLst>
          </p:cNvPr>
          <p:cNvSpPr txBox="1"/>
          <p:nvPr/>
        </p:nvSpPr>
        <p:spPr>
          <a:xfrm>
            <a:off x="783493" y="1288310"/>
            <a:ext cx="8232915" cy="92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PQ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 지표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 handler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는 철 스크랩 분류의 대상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X -&gt;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stuff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처리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벤치마크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PQ 58(coco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데이터셋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의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EEF010-CDED-4FA7-BDAA-C2F5BFAE7F6A}"/>
                  </a:ext>
                </a:extLst>
              </p:cNvPr>
              <p:cNvSpPr txBox="1"/>
              <p:nvPr/>
            </p:nvSpPr>
            <p:spPr>
              <a:xfrm>
                <a:off x="4446338" y="2529161"/>
                <a:ext cx="3299323" cy="914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𝑃𝑄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sepChr m:val=",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sub>
                            <m:sup/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𝐼𝑜𝑈</m:t>
                              </m:r>
                              <m:d>
                                <m:dPr>
                                  <m:sepChr m:val=",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𝑇𝑃</m:t>
                              </m:r>
                            </m:e>
                          </m:d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</m:e>
                          </m:d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𝐹𝑁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EEF010-CDED-4FA7-BDAA-C2F5BFAE7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338" y="2529161"/>
                <a:ext cx="3299323" cy="9149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35">
            <a:extLst>
              <a:ext uri="{FF2B5EF4-FFF2-40B4-BE49-F238E27FC236}">
                <a16:creationId xmlns:a16="http://schemas.microsoft.com/office/drawing/2014/main" id="{144C2423-F38C-4351-9259-381A5447F173}"/>
              </a:ext>
            </a:extLst>
          </p:cNvPr>
          <p:cNvSpPr txBox="1"/>
          <p:nvPr/>
        </p:nvSpPr>
        <p:spPr>
          <a:xfrm>
            <a:off x="8940729" y="1288310"/>
            <a:ext cx="2538040" cy="1374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*PQ =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전체 성능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*SQ =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분할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모양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정확도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  <a:spcBef>
                <a:spcPts val="300"/>
              </a:spcBef>
              <a:buClr>
                <a:schemeClr val="tx2">
                  <a:lumMod val="40000"/>
                  <a:lumOff val="60000"/>
                </a:schemeClr>
              </a:buClr>
              <a:buSzPct val="70000"/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*RQ =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인식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찾기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정확도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7D99D07-2CE9-4699-A28F-4EAA0760F5A4}"/>
              </a:ext>
            </a:extLst>
          </p:cNvPr>
          <p:cNvGrpSpPr/>
          <p:nvPr/>
        </p:nvGrpSpPr>
        <p:grpSpPr>
          <a:xfrm>
            <a:off x="6436539" y="3764114"/>
            <a:ext cx="4971968" cy="2735007"/>
            <a:chOff x="5709195" y="2975469"/>
            <a:chExt cx="7290600" cy="3258667"/>
          </a:xfrm>
        </p:grpSpPr>
        <p:sp>
          <p:nvSpPr>
            <p:cNvPr id="14" name="사각형: 둥근 위쪽 모서리 13">
              <a:extLst>
                <a:ext uri="{FF2B5EF4-FFF2-40B4-BE49-F238E27FC236}">
                  <a16:creationId xmlns:a16="http://schemas.microsoft.com/office/drawing/2014/main" id="{E586C792-1529-43FF-ACC7-CF71154D8C9A}"/>
                </a:ext>
              </a:extLst>
            </p:cNvPr>
            <p:cNvSpPr/>
            <p:nvPr/>
          </p:nvSpPr>
          <p:spPr>
            <a:xfrm>
              <a:off x="5709195" y="2975469"/>
              <a:ext cx="7290600" cy="325866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7C7F8FE2-A447-4323-8B34-479376356765}"/>
                </a:ext>
              </a:extLst>
            </p:cNvPr>
            <p:cNvSpPr/>
            <p:nvPr/>
          </p:nvSpPr>
          <p:spPr>
            <a:xfrm>
              <a:off x="5830036" y="3068803"/>
              <a:ext cx="7048918" cy="307199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65A8DFC2-7A4B-4755-8CDD-10F903ED51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086831"/>
              </p:ext>
            </p:extLst>
          </p:nvPr>
        </p:nvGraphicFramePr>
        <p:xfrm>
          <a:off x="6518949" y="3842448"/>
          <a:ext cx="4807148" cy="2578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3214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2AC51-B89B-4E7A-8713-1D10E480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정성적 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35137A-9F62-4357-AA00-61F1C5FF0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44" y="1018045"/>
            <a:ext cx="4739482" cy="26659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C43130-C0CF-4953-ADB6-C4E8A3FE8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45" y="3810874"/>
            <a:ext cx="4739482" cy="26659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9C51E3-DC84-47DF-87F0-E1725E738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734" y="1018045"/>
            <a:ext cx="4739482" cy="26659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4BB4931-05D3-4591-99D2-6F1488AD19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734" y="3810875"/>
            <a:ext cx="4739482" cy="266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31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3370" y="2195989"/>
            <a:ext cx="30652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다음_SemiBold" panose="02000700060000000000" pitchFamily="2" charset="-127"/>
                <a:ea typeface="다음_SemiBold" panose="02000700060000000000" pitchFamily="2" charset="-127"/>
              </a:rPr>
              <a:t>Thank</a:t>
            </a:r>
            <a:r>
              <a:rPr lang="ko-KR" altLang="en-US" sz="44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다음_SemiBold" panose="02000700060000000000" pitchFamily="2" charset="-127"/>
                <a:ea typeface="다음_SemiBold" panose="02000700060000000000" pitchFamily="2" charset="-127"/>
              </a:rPr>
              <a:t> </a:t>
            </a:r>
            <a:r>
              <a:rPr lang="en-US" altLang="ko-KR" sz="44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2060"/>
                </a:solidFill>
                <a:latin typeface="다음_SemiBold" panose="02000700060000000000" pitchFamily="2" charset="-127"/>
                <a:ea typeface="다음_SemiBold" panose="02000700060000000000" pitchFamily="2" charset="-127"/>
              </a:rPr>
              <a:t>you</a:t>
            </a:r>
            <a:endParaRPr lang="ko-KR" altLang="en-US" sz="44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2060"/>
              </a:solidFill>
              <a:latin typeface="다음_SemiBold" panose="02000700060000000000" pitchFamily="2" charset="-127"/>
              <a:ea typeface="다음_SemiBold" panose="0200070006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077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372</Words>
  <Application>Microsoft Office PowerPoint</Application>
  <PresentationFormat>와이드스크린</PresentationFormat>
  <Paragraphs>63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KoPubWorld돋움체 Bold</vt:lpstr>
      <vt:lpstr>KoPub돋움체 Light</vt:lpstr>
      <vt:lpstr>나눔스퀘어 네오 Bold</vt:lpstr>
      <vt:lpstr>나눔스퀘어 네오 ExtraBold</vt:lpstr>
      <vt:lpstr>다음_Regular</vt:lpstr>
      <vt:lpstr>다음_SemiBold</vt:lpstr>
      <vt:lpstr>맑은 고딕</vt:lpstr>
      <vt:lpstr>Arial</vt:lpstr>
      <vt:lpstr>Cambria Math</vt:lpstr>
      <vt:lpstr>Wingdings</vt:lpstr>
      <vt:lpstr>Office 테마</vt:lpstr>
      <vt:lpstr>PowerPoint 프레젠테이션</vt:lpstr>
      <vt:lpstr>절차</vt:lpstr>
      <vt:lpstr>1. 2차년도 결과 - maskDINO</vt:lpstr>
      <vt:lpstr>객체별 AP계산 (maskDINO, Yolo+SAM 혼합)</vt:lpstr>
      <vt:lpstr>2. 3차년도 목표</vt:lpstr>
      <vt:lpstr>2. 3차년도 목표</vt:lpstr>
      <vt:lpstr>3. 데이터셋</vt:lpstr>
      <vt:lpstr>4. 학습방법 : yolov11 - instance segmentation</vt:lpstr>
      <vt:lpstr>5. 정량적 결과</vt:lpstr>
      <vt:lpstr>5. 정량적 결과</vt:lpstr>
      <vt:lpstr>5. 정성적 결과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Dms 웹 검토 보고</dc:title>
  <dc:creator>user</dc:creator>
  <cp:lastModifiedBy>준희</cp:lastModifiedBy>
  <cp:revision>309</cp:revision>
  <dcterms:created xsi:type="dcterms:W3CDTF">2025-01-13T04:59:46Z</dcterms:created>
  <dcterms:modified xsi:type="dcterms:W3CDTF">2026-04-16T06:16:45Z</dcterms:modified>
</cp:coreProperties>
</file>
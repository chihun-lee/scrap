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7" r:id="rId2"/>
    <p:sldId id="260" r:id="rId3"/>
    <p:sldId id="325" r:id="rId4"/>
    <p:sldId id="326" r:id="rId5"/>
    <p:sldId id="327" r:id="rId6"/>
    <p:sldId id="324" r:id="rId7"/>
    <p:sldId id="374" r:id="rId8"/>
    <p:sldId id="320" r:id="rId9"/>
    <p:sldId id="381" r:id="rId10"/>
    <p:sldId id="334" r:id="rId11"/>
    <p:sldId id="380" r:id="rId12"/>
    <p:sldId id="335" r:id="rId13"/>
    <p:sldId id="376" r:id="rId14"/>
    <p:sldId id="336" r:id="rId15"/>
    <p:sldId id="377" r:id="rId16"/>
    <p:sldId id="337" r:id="rId17"/>
    <p:sldId id="330" r:id="rId18"/>
    <p:sldId id="331" r:id="rId19"/>
    <p:sldId id="332" r:id="rId20"/>
    <p:sldId id="333" r:id="rId21"/>
    <p:sldId id="263" r:id="rId22"/>
  </p:sldIdLst>
  <p:sldSz cx="12192000" cy="6858000"/>
  <p:notesSz cx="6858000" cy="9144000"/>
  <p:embeddedFontLst>
    <p:embeddedFont>
      <p:font typeface="KoPub바탕체 Bold" panose="020B0600000101010101" charset="-127"/>
      <p:regular r:id="rId25"/>
      <p:bold r:id="rId26"/>
    </p:embeddedFont>
    <p:embeddedFont>
      <p:font typeface="KoPubWorld돋움체 Bold" panose="00000800000000000000" pitchFamily="2" charset="-127"/>
      <p:bold r:id="rId27"/>
    </p:embeddedFont>
    <p:embeddedFont>
      <p:font typeface="KoPubWorld돋움체 Medium" panose="00000600000000000000" pitchFamily="2" charset="-127"/>
      <p:regular r:id="rId28"/>
    </p:embeddedFont>
    <p:embeddedFont>
      <p:font typeface="맑은 고딕" panose="020B0503020000020004" pitchFamily="50" charset="-127"/>
      <p:regular r:id="rId29"/>
      <p:bold r:id="rId3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6" userDrawn="1">
          <p15:clr>
            <a:srgbClr val="A4A3A4"/>
          </p15:clr>
        </p15:guide>
        <p15:guide id="2" pos="7401" userDrawn="1">
          <p15:clr>
            <a:srgbClr val="A4A3A4"/>
          </p15:clr>
        </p15:guide>
        <p15:guide id="3" pos="279" userDrawn="1">
          <p15:clr>
            <a:srgbClr val="A4A3A4"/>
          </p15:clr>
        </p15:guide>
        <p15:guide id="4" orient="horz" pos="890" userDrawn="1">
          <p15:clr>
            <a:srgbClr val="A4A3A4"/>
          </p15:clr>
        </p15:guide>
        <p15:guide id="5" orient="horz" pos="399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C7E7"/>
    <a:srgbClr val="2F5597"/>
    <a:srgbClr val="8FAADC"/>
    <a:srgbClr val="445CC4"/>
    <a:srgbClr val="287CFF"/>
    <a:srgbClr val="808080"/>
    <a:srgbClr val="EAEAEA"/>
    <a:srgbClr val="FFFFFF"/>
    <a:srgbClr val="3333FF"/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03" autoAdjust="0"/>
    <p:restoredTop sz="96076" autoAdjust="0"/>
  </p:normalViewPr>
  <p:slideViewPr>
    <p:cSldViewPr snapToGrid="0">
      <p:cViewPr varScale="1">
        <p:scale>
          <a:sx n="107" d="100"/>
          <a:sy n="107" d="100"/>
        </p:scale>
        <p:origin x="708" y="102"/>
      </p:cViewPr>
      <p:guideLst>
        <p:guide orient="horz" pos="686"/>
        <p:guide pos="7401"/>
        <p:guide pos="279"/>
        <p:guide orient="horz" pos="890"/>
        <p:guide orient="horz" pos="399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298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994B3C-21DC-4CAC-8F48-87DD41E84210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12559-7224-48D1-9719-661B63C344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730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21C100-1133-4D91-A44A-D9B4B96850A8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DFEFB-D250-411F-8DB8-30585B8CDA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8061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DDFEFB-D250-411F-8DB8-30585B8CDA9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9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86" b="164"/>
          <a:stretch/>
        </p:blipFill>
        <p:spPr>
          <a:xfrm>
            <a:off x="0" y="-9525"/>
            <a:ext cx="12192000" cy="6867525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0" y="-9526"/>
            <a:ext cx="12192000" cy="6867525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9188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7944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>
            <a:grayscl/>
          </a:blip>
          <a:stretch>
            <a:fillRect/>
          </a:stretch>
        </p:blipFill>
        <p:spPr>
          <a:xfrm>
            <a:off x="-529" y="-6394"/>
            <a:ext cx="12193057" cy="687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587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724400" y="6356350"/>
            <a:ext cx="2743200" cy="365125"/>
          </a:xfrm>
        </p:spPr>
        <p:txBody>
          <a:bodyPr/>
          <a:lstStyle>
            <a:lvl1pPr algn="ctr">
              <a:defRPr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fld id="{372089FB-EC38-4E50-B47B-C4C06324D64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7" name="그룹 6"/>
          <p:cNvGrpSpPr/>
          <p:nvPr userDrawn="1"/>
        </p:nvGrpSpPr>
        <p:grpSpPr>
          <a:xfrm>
            <a:off x="0" y="-1"/>
            <a:ext cx="12192000" cy="885691"/>
            <a:chOff x="0" y="-1"/>
            <a:chExt cx="12192000" cy="885691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535" b="35355"/>
            <a:stretch/>
          </p:blipFill>
          <p:spPr>
            <a:xfrm>
              <a:off x="10100787" y="0"/>
              <a:ext cx="2091213" cy="885690"/>
            </a:xfrm>
            <a:prstGeom prst="rect">
              <a:avLst/>
            </a:prstGeom>
          </p:spPr>
        </p:pic>
        <p:sp>
          <p:nvSpPr>
            <p:cNvPr id="9" name="직사각형 8"/>
            <p:cNvSpPr/>
            <p:nvPr/>
          </p:nvSpPr>
          <p:spPr>
            <a:xfrm rot="10800000">
              <a:off x="0" y="-1"/>
              <a:ext cx="10100787" cy="885689"/>
            </a:xfrm>
            <a:prstGeom prst="rect">
              <a:avLst/>
            </a:prstGeom>
            <a:solidFill>
              <a:srgbClr val="0A14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 rot="10800000">
              <a:off x="10100787" y="0"/>
              <a:ext cx="2091213" cy="885689"/>
            </a:xfrm>
            <a:prstGeom prst="rect">
              <a:avLst/>
            </a:prstGeom>
            <a:gradFill>
              <a:gsLst>
                <a:gs pos="0">
                  <a:srgbClr val="0C294B">
                    <a:alpha val="10000"/>
                  </a:srgbClr>
                </a:gs>
                <a:gs pos="100000">
                  <a:srgbClr val="000000">
                    <a:alpha val="90000"/>
                  </a:srgb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5F4305A7-2134-4CA6-8CE5-8C13C255E8C7}"/>
              </a:ext>
            </a:extLst>
          </p:cNvPr>
          <p:cNvSpPr txBox="1">
            <a:spLocks/>
          </p:cNvSpPr>
          <p:nvPr userDrawn="1"/>
        </p:nvSpPr>
        <p:spPr>
          <a:xfrm>
            <a:off x="9386978" y="-99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089FB-EC38-4E50-B47B-C4C06324D64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3578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510746" y="1136822"/>
            <a:ext cx="10964562" cy="5040141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268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2222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989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027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260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886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624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89FB-EC38-4E50-B47B-C4C06324D6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7924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386978" y="-99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fld id="{372089FB-EC38-4E50-B47B-C4C06324D64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7742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microsoft.com/office/2007/relationships/hdphoto" Target="../media/hdphoto1.wdp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4A6F0B9-8547-9CAE-C1B0-B0E63CBB206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747" r="39498" b="22220"/>
          <a:stretch/>
        </p:blipFill>
        <p:spPr>
          <a:xfrm>
            <a:off x="515940" y="-1"/>
            <a:ext cx="6754724" cy="5039361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647734" y="1247901"/>
            <a:ext cx="6491136" cy="21190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fontAlgn="base">
              <a:lnSpc>
                <a:spcPct val="130000"/>
              </a:lnSpc>
            </a:pPr>
            <a:r>
              <a:rPr lang="en-US" altLang="ko-KR" sz="3600" b="1" kern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(1</a:t>
            </a:r>
            <a:r>
              <a:rPr lang="ko-KR" altLang="en-US" sz="3600" b="1" kern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세부</a:t>
            </a:r>
            <a:r>
              <a:rPr lang="en-US" altLang="ko-KR" sz="3600" b="1" kern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</a:t>
            </a:r>
            <a:r>
              <a:rPr lang="ko-KR" altLang="en-US" sz="3600" b="1" kern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 </a:t>
            </a:r>
            <a:r>
              <a:rPr lang="ko-KR" altLang="en-US" sz="3600" b="1" kern="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기반 </a:t>
            </a:r>
            <a:r>
              <a:rPr lang="ko-KR" altLang="en-US" sz="3600" b="1" kern="0" dirty="0" err="1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철자원</a:t>
            </a:r>
            <a:r>
              <a:rPr lang="ko-KR" altLang="en-US" sz="3600" b="1" kern="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분류 및 </a:t>
            </a:r>
            <a:endParaRPr lang="en-US" altLang="ko-KR" sz="3600" b="1" kern="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 fontAlgn="base">
              <a:lnSpc>
                <a:spcPct val="130000"/>
              </a:lnSpc>
            </a:pPr>
            <a:r>
              <a:rPr lang="ko-KR" altLang="en-US" sz="3600" b="1" kern="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품질 판정 </a:t>
            </a:r>
            <a:r>
              <a:rPr lang="ko-KR" altLang="en-US" sz="3600" b="1" kern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기술 개발</a:t>
            </a:r>
            <a:endParaRPr lang="en-US" altLang="ko-KR" sz="3600" b="1" kern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 fontAlgn="base">
              <a:lnSpc>
                <a:spcPct val="130000"/>
              </a:lnSpc>
            </a:pPr>
            <a:r>
              <a:rPr lang="en-US" altLang="ko-KR" sz="3600" b="1" kern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  <a:r>
              <a:rPr lang="ko-KR" altLang="en-US" sz="3600" b="1" kern="0">
                <a:solidFill>
                  <a:schemeClr val="bg1"/>
                </a:solidFill>
                <a:effectLst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킥오프회의</a:t>
            </a:r>
            <a:endParaRPr lang="en-US" altLang="ko-KR" sz="3000" b="1" kern="0" dirty="0">
              <a:solidFill>
                <a:schemeClr val="bg1"/>
              </a:solidFill>
              <a:effectLst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2C5B95F-6D79-113C-685E-C322CABC59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747" r="39498" b="22220"/>
          <a:stretch/>
        </p:blipFill>
        <p:spPr>
          <a:xfrm>
            <a:off x="515939" y="5253983"/>
            <a:ext cx="6201993" cy="46546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93BCE6-03A6-772D-9184-4EDE37C12835}"/>
              </a:ext>
            </a:extLst>
          </p:cNvPr>
          <p:cNvSpPr/>
          <p:nvPr/>
        </p:nvSpPr>
        <p:spPr>
          <a:xfrm>
            <a:off x="685384" y="1007718"/>
            <a:ext cx="6466947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C144D3-E834-D44D-7C1A-A43A35C1170C}"/>
              </a:ext>
            </a:extLst>
          </p:cNvPr>
          <p:cNvSpPr txBox="1"/>
          <p:nvPr/>
        </p:nvSpPr>
        <p:spPr>
          <a:xfrm>
            <a:off x="677416" y="3910744"/>
            <a:ext cx="6593248" cy="636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4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주관기관 </a:t>
            </a:r>
            <a:r>
              <a:rPr lang="en-US" altLang="ko-KR" sz="14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: </a:t>
            </a:r>
            <a:r>
              <a:rPr lang="ko-KR" altLang="en-US" sz="14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주식회사 </a:t>
            </a:r>
            <a:r>
              <a:rPr lang="ko-KR" altLang="en-US" sz="1400" spc="-50" dirty="0" err="1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아이티브에이아이</a:t>
            </a:r>
            <a:endParaRPr lang="en-US" altLang="ko-KR" sz="1400" spc="-50" dirty="0">
              <a:ln>
                <a:solidFill>
                  <a:srgbClr val="3C373D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400" spc="-5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공동연구개발기관 </a:t>
            </a:r>
            <a:r>
              <a:rPr lang="en-US" altLang="ko-KR" sz="1400" spc="-5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:</a:t>
            </a:r>
            <a:r>
              <a:rPr lang="en-US" altLang="ko-KR" sz="1200" spc="-5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1200" spc="-5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㈜</a:t>
            </a:r>
            <a:r>
              <a:rPr lang="ko-KR" altLang="en-US" sz="1200" spc="-50" dirty="0" err="1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솔위드</a:t>
            </a:r>
            <a:r>
              <a:rPr lang="en-US" altLang="ko-KR" sz="12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</a:t>
            </a:r>
            <a:r>
              <a:rPr lang="ko-KR" altLang="en-US" sz="12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㈜</a:t>
            </a:r>
            <a:r>
              <a:rPr lang="ko-KR" altLang="en-US" sz="1200" spc="-50" dirty="0" err="1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아이트리온</a:t>
            </a:r>
            <a:r>
              <a:rPr lang="en-US" altLang="ko-KR" sz="12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200" spc="-50" dirty="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한국재료연구원</a:t>
            </a:r>
            <a:r>
              <a:rPr lang="en-US" altLang="ko-KR" sz="1200" spc="-5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200" spc="-5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㈜보고넷</a:t>
            </a:r>
            <a:r>
              <a:rPr lang="en-US" altLang="ko-KR" sz="1200" spc="-5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200" spc="-5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심팩</a:t>
            </a:r>
            <a:r>
              <a:rPr lang="en-US" altLang="ko-KR" sz="1200" spc="-5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200" spc="-5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포스코</a:t>
            </a:r>
            <a:endParaRPr lang="en-US" altLang="ko-KR" sz="1200" dirty="0">
              <a:ln>
                <a:solidFill>
                  <a:srgbClr val="3C373D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7735969" y="1309313"/>
            <a:ext cx="3068567" cy="3067712"/>
            <a:chOff x="7742377" y="1212890"/>
            <a:chExt cx="3068567" cy="3067712"/>
          </a:xfrm>
        </p:grpSpPr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5332" y="1902015"/>
              <a:ext cx="1606815" cy="1606817"/>
            </a:xfrm>
            <a:prstGeom prst="rect">
              <a:avLst/>
            </a:prstGeom>
          </p:spPr>
        </p:pic>
        <p:grpSp>
          <p:nvGrpSpPr>
            <p:cNvPr id="35" name="그룹 34"/>
            <p:cNvGrpSpPr/>
            <p:nvPr/>
          </p:nvGrpSpPr>
          <p:grpSpPr>
            <a:xfrm>
              <a:off x="10001086" y="1212890"/>
              <a:ext cx="809858" cy="809858"/>
              <a:chOff x="9915292" y="1158084"/>
              <a:chExt cx="809858" cy="809858"/>
            </a:xfrm>
          </p:grpSpPr>
          <p:sp>
            <p:nvSpPr>
              <p:cNvPr id="26" name="타원 25"/>
              <p:cNvSpPr/>
              <p:nvPr/>
            </p:nvSpPr>
            <p:spPr>
              <a:xfrm>
                <a:off x="9915292" y="1158084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8" name="그림 27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72392" y="1347921"/>
                <a:ext cx="495659" cy="495659"/>
              </a:xfrm>
              <a:prstGeom prst="rect">
                <a:avLst/>
              </a:prstGeom>
            </p:spPr>
          </p:pic>
        </p:grpSp>
        <p:grpSp>
          <p:nvGrpSpPr>
            <p:cNvPr id="37" name="그룹 36"/>
            <p:cNvGrpSpPr/>
            <p:nvPr/>
          </p:nvGrpSpPr>
          <p:grpSpPr>
            <a:xfrm>
              <a:off x="9877192" y="3470744"/>
              <a:ext cx="809858" cy="809858"/>
              <a:chOff x="9915292" y="3499319"/>
              <a:chExt cx="809858" cy="809858"/>
            </a:xfrm>
          </p:grpSpPr>
          <p:sp>
            <p:nvSpPr>
              <p:cNvPr id="27" name="타원 26"/>
              <p:cNvSpPr/>
              <p:nvPr/>
            </p:nvSpPr>
            <p:spPr>
              <a:xfrm>
                <a:off x="9915292" y="3499319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9" name="그림 28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14768" y="3632528"/>
                <a:ext cx="553757" cy="553757"/>
              </a:xfrm>
              <a:prstGeom prst="rect">
                <a:avLst/>
              </a:prstGeom>
            </p:spPr>
          </p:pic>
        </p:grpSp>
        <p:grpSp>
          <p:nvGrpSpPr>
            <p:cNvPr id="39" name="그룹 38"/>
            <p:cNvGrpSpPr/>
            <p:nvPr/>
          </p:nvGrpSpPr>
          <p:grpSpPr>
            <a:xfrm>
              <a:off x="7742377" y="3338804"/>
              <a:ext cx="809858" cy="809858"/>
              <a:chOff x="7675474" y="3349053"/>
              <a:chExt cx="809858" cy="809858"/>
            </a:xfrm>
          </p:grpSpPr>
          <p:sp>
            <p:nvSpPr>
              <p:cNvPr id="21" name="타원 20"/>
              <p:cNvSpPr/>
              <p:nvPr/>
            </p:nvSpPr>
            <p:spPr>
              <a:xfrm>
                <a:off x="7675474" y="3349053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0" name="그림 29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73427" y="3475581"/>
                <a:ext cx="556803" cy="556803"/>
              </a:xfrm>
              <a:prstGeom prst="rect">
                <a:avLst/>
              </a:prstGeom>
            </p:spPr>
          </p:pic>
        </p:grpSp>
        <p:cxnSp>
          <p:nvCxnSpPr>
            <p:cNvPr id="33" name="직선 연결선 32"/>
            <p:cNvCxnSpPr/>
            <p:nvPr/>
          </p:nvCxnSpPr>
          <p:spPr>
            <a:xfrm flipV="1">
              <a:off x="9873596" y="1913518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/>
            <p:cNvCxnSpPr/>
            <p:nvPr/>
          </p:nvCxnSpPr>
          <p:spPr>
            <a:xfrm rot="5400000" flipV="1">
              <a:off x="9795404" y="3364236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/>
            <p:cNvCxnSpPr/>
            <p:nvPr/>
          </p:nvCxnSpPr>
          <p:spPr>
            <a:xfrm flipV="1">
              <a:off x="8485332" y="3273305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DC144D3-E834-D44D-7C1A-A43A35C1170C}"/>
              </a:ext>
            </a:extLst>
          </p:cNvPr>
          <p:cNvSpPr txBox="1"/>
          <p:nvPr/>
        </p:nvSpPr>
        <p:spPr>
          <a:xfrm>
            <a:off x="1099054" y="3418536"/>
            <a:ext cx="5918118" cy="3562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altLang="ko-KR" sz="1400" spc="-50">
                <a:ln>
                  <a:solidFill>
                    <a:srgbClr val="3C373D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2026.4</a:t>
            </a:r>
            <a:endParaRPr lang="en-US" altLang="ko-KR" sz="1200" dirty="0">
              <a:ln>
                <a:solidFill>
                  <a:srgbClr val="3C373D">
                    <a:alpha val="0"/>
                  </a:srgb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B514541-C4A4-9CDC-D9C7-5C3E825F92A9}"/>
              </a:ext>
            </a:extLst>
          </p:cNvPr>
          <p:cNvSpPr/>
          <p:nvPr/>
        </p:nvSpPr>
        <p:spPr>
          <a:xfrm>
            <a:off x="0" y="6345238"/>
            <a:ext cx="12192000" cy="5127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Picture 2" descr="아이티브에이아이 보도자료 - 뉴스와이어">
            <a:extLst>
              <a:ext uri="{FF2B5EF4-FFF2-40B4-BE49-F238E27FC236}">
                <a16:creationId xmlns:a16="http://schemas.microsoft.com/office/drawing/2014/main" id="{7696E0D6-376A-8749-C55F-1B7C7FDE45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09"/>
          <a:stretch/>
        </p:blipFill>
        <p:spPr bwMode="auto">
          <a:xfrm>
            <a:off x="246736" y="6359057"/>
            <a:ext cx="1176062" cy="478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혼합형 로고">
            <a:extLst>
              <a:ext uri="{FF2B5EF4-FFF2-40B4-BE49-F238E27FC236}">
                <a16:creationId xmlns:a16="http://schemas.microsoft.com/office/drawing/2014/main" id="{FC275040-1795-BFE7-0DAA-70AC04322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1533" y="6416855"/>
            <a:ext cx="2375071" cy="372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그림 23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913C54D3-DB3A-E01A-7C2D-6E41895F95A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1726684" y="6359705"/>
            <a:ext cx="2140707" cy="446918"/>
          </a:xfrm>
          <a:prstGeom prst="rect">
            <a:avLst/>
          </a:prstGeom>
          <a:ln w="0">
            <a:noFill/>
          </a:ln>
        </p:spPr>
      </p:pic>
      <p:pic>
        <p:nvPicPr>
          <p:cNvPr id="31" name="Picture 6" descr="ITRION">
            <a:extLst>
              <a:ext uri="{FF2B5EF4-FFF2-40B4-BE49-F238E27FC236}">
                <a16:creationId xmlns:a16="http://schemas.microsoft.com/office/drawing/2014/main" id="{99D81437-5C8C-B5C7-9B5B-CF2F61ECB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277" y="6438534"/>
            <a:ext cx="1426370" cy="380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1FF44F62-613B-BD2B-768D-53FEE2A6129E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4592" y="6403178"/>
            <a:ext cx="1426370" cy="38185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50CC0511-BF6A-086D-A580-E99C69B97D75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7181"/>
          <a:stretch/>
        </p:blipFill>
        <p:spPr>
          <a:xfrm>
            <a:off x="8580490" y="6364392"/>
            <a:ext cx="1520216" cy="47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299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8276296" y="509278"/>
            <a:ext cx="3068567" cy="3067712"/>
            <a:chOff x="7742377" y="1212890"/>
            <a:chExt cx="3068567" cy="3067712"/>
          </a:xfrm>
        </p:grpSpPr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5332" y="1902015"/>
              <a:ext cx="1606815" cy="1606817"/>
            </a:xfrm>
            <a:prstGeom prst="rect">
              <a:avLst/>
            </a:prstGeom>
          </p:spPr>
        </p:pic>
        <p:grpSp>
          <p:nvGrpSpPr>
            <p:cNvPr id="18" name="그룹 17"/>
            <p:cNvGrpSpPr/>
            <p:nvPr/>
          </p:nvGrpSpPr>
          <p:grpSpPr>
            <a:xfrm>
              <a:off x="10001086" y="1212890"/>
              <a:ext cx="809858" cy="809858"/>
              <a:chOff x="9915292" y="1158084"/>
              <a:chExt cx="809858" cy="809858"/>
            </a:xfrm>
          </p:grpSpPr>
          <p:sp>
            <p:nvSpPr>
              <p:cNvPr id="28" name="타원 27"/>
              <p:cNvSpPr/>
              <p:nvPr/>
            </p:nvSpPr>
            <p:spPr>
              <a:xfrm>
                <a:off x="9915292" y="1158084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9" name="그림 28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72392" y="1347921"/>
                <a:ext cx="495659" cy="495659"/>
              </a:xfrm>
              <a:prstGeom prst="rect">
                <a:avLst/>
              </a:prstGeom>
            </p:spPr>
          </p:pic>
        </p:grpSp>
        <p:grpSp>
          <p:nvGrpSpPr>
            <p:cNvPr id="19" name="그룹 18"/>
            <p:cNvGrpSpPr/>
            <p:nvPr/>
          </p:nvGrpSpPr>
          <p:grpSpPr>
            <a:xfrm>
              <a:off x="9877192" y="3470744"/>
              <a:ext cx="809858" cy="809858"/>
              <a:chOff x="9915292" y="3499319"/>
              <a:chExt cx="809858" cy="809858"/>
            </a:xfrm>
          </p:grpSpPr>
          <p:sp>
            <p:nvSpPr>
              <p:cNvPr id="26" name="타원 25"/>
              <p:cNvSpPr/>
              <p:nvPr/>
            </p:nvSpPr>
            <p:spPr>
              <a:xfrm>
                <a:off x="9915292" y="3499319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7" name="그림 26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14768" y="3632528"/>
                <a:ext cx="553757" cy="553757"/>
              </a:xfrm>
              <a:prstGeom prst="rect">
                <a:avLst/>
              </a:prstGeom>
            </p:spPr>
          </p:pic>
        </p:grpSp>
        <p:grpSp>
          <p:nvGrpSpPr>
            <p:cNvPr id="20" name="그룹 19"/>
            <p:cNvGrpSpPr/>
            <p:nvPr/>
          </p:nvGrpSpPr>
          <p:grpSpPr>
            <a:xfrm>
              <a:off x="7742377" y="3338804"/>
              <a:ext cx="809858" cy="809858"/>
              <a:chOff x="7675474" y="3349053"/>
              <a:chExt cx="809858" cy="809858"/>
            </a:xfrm>
          </p:grpSpPr>
          <p:sp>
            <p:nvSpPr>
              <p:cNvPr id="24" name="타원 23"/>
              <p:cNvSpPr/>
              <p:nvPr/>
            </p:nvSpPr>
            <p:spPr>
              <a:xfrm>
                <a:off x="7675474" y="3349053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5" name="그림 24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73427" y="3475581"/>
                <a:ext cx="556803" cy="556803"/>
              </a:xfrm>
              <a:prstGeom prst="rect">
                <a:avLst/>
              </a:prstGeom>
            </p:spPr>
          </p:pic>
        </p:grpSp>
        <p:cxnSp>
          <p:nvCxnSpPr>
            <p:cNvPr id="21" name="직선 연결선 20"/>
            <p:cNvCxnSpPr/>
            <p:nvPr/>
          </p:nvCxnSpPr>
          <p:spPr>
            <a:xfrm flipV="1">
              <a:off x="9873596" y="1913518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/>
          </p:nvCxnSpPr>
          <p:spPr>
            <a:xfrm rot="5400000" flipV="1">
              <a:off x="9795404" y="3364236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/>
            <p:cNvCxnSpPr/>
            <p:nvPr/>
          </p:nvCxnSpPr>
          <p:spPr>
            <a:xfrm flipV="1">
              <a:off x="8485332" y="3273305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직사각형 29"/>
          <p:cNvSpPr/>
          <p:nvPr/>
        </p:nvSpPr>
        <p:spPr>
          <a:xfrm>
            <a:off x="0" y="3659486"/>
            <a:ext cx="12192000" cy="31985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0" y="1936134"/>
            <a:ext cx="12192000" cy="1733215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88C95F-2ADB-48A1-AB95-F14694C8A0DE}"/>
              </a:ext>
            </a:extLst>
          </p:cNvPr>
          <p:cNvSpPr txBox="1"/>
          <p:nvPr/>
        </p:nvSpPr>
        <p:spPr>
          <a:xfrm>
            <a:off x="1834993" y="2108012"/>
            <a:ext cx="1107676" cy="147732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 defTabSz="829544" latinLnBrk="0">
              <a:defRPr/>
            </a:pPr>
            <a:r>
              <a:rPr lang="en-US" altLang="ko-KR" sz="96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Ⅰ</a:t>
            </a:r>
          </a:p>
        </p:txBody>
      </p:sp>
      <p:sp>
        <p:nvSpPr>
          <p:cNvPr id="33" name="모서리가 둥근 직사각형 32"/>
          <p:cNvSpPr/>
          <p:nvPr/>
        </p:nvSpPr>
        <p:spPr>
          <a:xfrm>
            <a:off x="1980332" y="3514130"/>
            <a:ext cx="816998" cy="2443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/>
            <a:r>
              <a:rPr lang="en-US" altLang="ko-KR" sz="1400" dirty="0">
                <a:solidFill>
                  <a:schemeClr val="accent5">
                    <a:lumMod val="50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chapter</a:t>
            </a:r>
            <a:endParaRPr lang="ko-KR" altLang="en-US" sz="1200" dirty="0">
              <a:solidFill>
                <a:schemeClr val="accent5">
                  <a:lumMod val="50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2820822" y="2834540"/>
            <a:ext cx="4954561" cy="600164"/>
          </a:xfrm>
          <a:prstGeom prst="rect">
            <a:avLst/>
          </a:prstGeom>
        </p:spPr>
        <p:txBody>
          <a:bodyPr wrap="none" bIns="0">
            <a:spAutoFit/>
          </a:bodyPr>
          <a:lstStyle/>
          <a:p>
            <a:pPr defTabSz="829544" latinLnBrk="0">
              <a:defRPr/>
            </a:pPr>
            <a:r>
              <a:rPr lang="en-US" altLang="ko-KR" sz="3600" kern="0" spc="-27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  <a:r>
              <a:rPr lang="ko-KR" altLang="en-US" sz="3600" kern="0" spc="-27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추진방향 및 목표</a:t>
            </a:r>
            <a:endParaRPr lang="ko-KR" altLang="en-US" sz="3600" kern="0" spc="-27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942669" y="2421547"/>
            <a:ext cx="4730375" cy="318549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ko-KR" altLang="en-US" sz="1200" kern="0">
                <a:solidFill>
                  <a:schemeClr val="bg1">
                    <a:lumMod val="8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데이터 기반 철자원 분류 및 품질 판정 기술 개발</a:t>
            </a:r>
            <a:endParaRPr lang="ko-KR" altLang="en-US" sz="1200" kern="0" dirty="0">
              <a:solidFill>
                <a:schemeClr val="bg1">
                  <a:lumMod val="8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2A55FB-1D02-B45B-75D0-62D6AA5BD409}"/>
              </a:ext>
            </a:extLst>
          </p:cNvPr>
          <p:cNvSpPr txBox="1"/>
          <p:nvPr/>
        </p:nvSpPr>
        <p:spPr>
          <a:xfrm>
            <a:off x="3023632" y="3795877"/>
            <a:ext cx="6204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lnSpc>
                <a:spcPct val="100000"/>
              </a:lnSpc>
              <a:buFont typeface="Wingdings" panose="05000000000000000000" pitchFamily="2" charset="2"/>
              <a:buChar char="l"/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pPr>
              <a:lnSpc>
                <a:spcPct val="200000"/>
              </a:lnSpc>
            </a:pPr>
            <a:r>
              <a:rPr lang="en-US" altLang="ko-KR" sz="16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6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세부 </a:t>
            </a:r>
            <a:r>
              <a:rPr lang="en-US" altLang="ko-KR" sz="16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  <a:r>
              <a:rPr lang="ko-KR" altLang="en-US" sz="16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추진방향 및 목표</a:t>
            </a:r>
            <a:endParaRPr lang="en-US" altLang="ko-KR" sz="1600" b="1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5959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CF094-8E40-C921-A720-D8ECBCD0C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745FAA39-7A7F-0D87-752E-5B72491B2E49}"/>
              </a:ext>
            </a:extLst>
          </p:cNvPr>
          <p:cNvSpPr txBox="1">
            <a:spLocks/>
          </p:cNvSpPr>
          <p:nvPr/>
        </p:nvSpPr>
        <p:spPr>
          <a:xfrm>
            <a:off x="307078" y="504858"/>
            <a:ext cx="7925695" cy="253888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marR="0" indent="0" algn="l" defTabSz="82083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나눔고딕 ExtraBold" panose="020D0904000000000000" pitchFamily="50" charset="-127"/>
              <a:buNone/>
              <a:tabLst/>
              <a:defRPr kumimoji="1" lang="ko-KR" altLang="en-US" sz="1800" b="0" kern="1200" spc="-50" baseline="0" dirty="0" smtClean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rgbClr val="23181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828002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184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636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054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</a:t>
            </a:r>
            <a:r>
              <a:rPr lang="en-US" altLang="ko-KR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3</a:t>
            </a:r>
            <a:r>
              <a:rPr lang="ko-KR" altLang="en-US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추진방향 및 목표</a:t>
            </a:r>
          </a:p>
          <a:p>
            <a:pPr lvl="0">
              <a:defRPr/>
            </a:pPr>
            <a:r>
              <a:rPr lang="en-US" altLang="ko-KR" sz="20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kumimoji="1" lang="en-US" altLang="ko-KR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1</a:t>
            </a:r>
            <a:r>
              <a:rPr kumimoji="1" lang="ko-KR" altLang="en-US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세부 </a:t>
            </a:r>
            <a:r>
              <a:rPr kumimoji="1" lang="en-US" altLang="ko-KR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  <a:r>
              <a:rPr kumimoji="1" lang="ko-KR" altLang="en-US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추진방향 및 목표 </a:t>
            </a:r>
            <a:r>
              <a:rPr kumimoji="1" lang="en-US" altLang="ko-KR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(1/3)</a:t>
            </a:r>
            <a:endParaRPr kumimoji="1" lang="ko-KR" altLang="en-US" sz="2000" b="0" i="0" u="none" strike="noStrike" kern="1200" cap="none" spc="-50" normalizeH="0" baseline="0" noProof="0">
              <a:ln>
                <a:solidFill>
                  <a:srgbClr val="0D3896"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E6E6F7-FC6F-6E3B-ADBF-65BE3B0F2BE3}"/>
              </a:ext>
            </a:extLst>
          </p:cNvPr>
          <p:cNvSpPr txBox="1"/>
          <p:nvPr/>
        </p:nvSpPr>
        <p:spPr>
          <a:xfrm>
            <a:off x="3046562" y="3597215"/>
            <a:ext cx="6098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최대 </a:t>
            </a:r>
            <a:r>
              <a:rPr lang="en-US" altLang="ko-KR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2~3</a:t>
            </a:r>
            <a:r>
              <a:rPr lang="ko-KR" altLang="en-US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페이지로 구성해 주세요</a:t>
            </a:r>
            <a:r>
              <a:rPr lang="en-US" altLang="ko-KR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  <a:endParaRPr lang="ko-KR" altLang="en-US" sz="2800">
              <a:solidFill>
                <a:srgbClr val="0000F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1D9C00-9A2E-42E8-48C8-F15454A6BB87}"/>
              </a:ext>
            </a:extLst>
          </p:cNvPr>
          <p:cNvSpPr/>
          <p:nvPr/>
        </p:nvSpPr>
        <p:spPr>
          <a:xfrm>
            <a:off x="3980330" y="2074113"/>
            <a:ext cx="3299012" cy="90543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주관기관 작성</a:t>
            </a:r>
          </a:p>
        </p:txBody>
      </p:sp>
    </p:spTree>
    <p:extLst>
      <p:ext uri="{BB962C8B-B14F-4D97-AF65-F5344CB8AC3E}">
        <p14:creationId xmlns:p14="http://schemas.microsoft.com/office/powerpoint/2010/main" val="1553823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7DD0-BADB-834D-3972-E5379E2D7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EA2212AF-563E-F63B-72E7-5E4F6F748CE2}"/>
              </a:ext>
            </a:extLst>
          </p:cNvPr>
          <p:cNvSpPr txBox="1">
            <a:spLocks/>
          </p:cNvSpPr>
          <p:nvPr/>
        </p:nvSpPr>
        <p:spPr>
          <a:xfrm>
            <a:off x="307078" y="504858"/>
            <a:ext cx="7925695" cy="253888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marR="0" indent="0" algn="l" defTabSz="82083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나눔고딕 ExtraBold" panose="020D0904000000000000" pitchFamily="50" charset="-127"/>
              <a:buNone/>
              <a:tabLst/>
              <a:defRPr kumimoji="1" lang="ko-KR" altLang="en-US" sz="1800" b="0" kern="1200" spc="-50" baseline="0" dirty="0" smtClean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rgbClr val="23181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828002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184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636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054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</a:t>
            </a:r>
            <a:r>
              <a:rPr lang="en-US" altLang="ko-KR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3</a:t>
            </a:r>
            <a:r>
              <a:rPr lang="ko-KR" altLang="en-US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추진방향 및 목표</a:t>
            </a:r>
          </a:p>
          <a:p>
            <a:pPr lvl="0">
              <a:defRPr/>
            </a:pPr>
            <a:r>
              <a:rPr lang="en-US" altLang="ko-KR" sz="20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kumimoji="1" lang="en-US" altLang="ko-KR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1</a:t>
            </a:r>
            <a:r>
              <a:rPr kumimoji="1" lang="ko-KR" altLang="en-US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세부 </a:t>
            </a:r>
            <a:r>
              <a:rPr kumimoji="1" lang="en-US" altLang="ko-KR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  <a:r>
              <a:rPr kumimoji="1" lang="ko-KR" altLang="en-US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추진방향 및 목표 </a:t>
            </a:r>
            <a:r>
              <a:rPr kumimoji="1" lang="en-US" altLang="ko-KR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(2/3)</a:t>
            </a:r>
            <a:endParaRPr kumimoji="1" lang="ko-KR" altLang="en-US" sz="2000" b="0" i="0" u="none" strike="noStrike" kern="1200" cap="none" spc="-50" normalizeH="0" baseline="0" noProof="0">
              <a:ln>
                <a:solidFill>
                  <a:srgbClr val="0D3896"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6570F2C-7EE8-3C4B-A240-26E028F9097E}"/>
              </a:ext>
            </a:extLst>
          </p:cNvPr>
          <p:cNvSpPr/>
          <p:nvPr/>
        </p:nvSpPr>
        <p:spPr>
          <a:xfrm>
            <a:off x="3980330" y="2074113"/>
            <a:ext cx="3299012" cy="90543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주관기관 작성</a:t>
            </a:r>
          </a:p>
        </p:txBody>
      </p:sp>
    </p:spTree>
    <p:extLst>
      <p:ext uri="{BB962C8B-B14F-4D97-AF65-F5344CB8AC3E}">
        <p14:creationId xmlns:p14="http://schemas.microsoft.com/office/powerpoint/2010/main" val="2171367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10F4F-91D1-1788-D665-2C276259F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E6CD7A7B-4313-9A1F-1925-1A6908F46706}"/>
              </a:ext>
            </a:extLst>
          </p:cNvPr>
          <p:cNvSpPr txBox="1">
            <a:spLocks/>
          </p:cNvSpPr>
          <p:nvPr/>
        </p:nvSpPr>
        <p:spPr>
          <a:xfrm>
            <a:off x="307078" y="504858"/>
            <a:ext cx="7925695" cy="253888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marR="0" indent="0" algn="l" defTabSz="82083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나눔고딕 ExtraBold" panose="020D0904000000000000" pitchFamily="50" charset="-127"/>
              <a:buNone/>
              <a:tabLst/>
              <a:defRPr kumimoji="1" lang="ko-KR" altLang="en-US" sz="1800" b="0" kern="1200" spc="-50" baseline="0" dirty="0" smtClean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rgbClr val="23181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828002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184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636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054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</a:t>
            </a:r>
            <a:r>
              <a:rPr lang="en-US" altLang="ko-KR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3</a:t>
            </a:r>
            <a:r>
              <a:rPr lang="ko-KR" altLang="en-US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추진방향 및 목표</a:t>
            </a:r>
          </a:p>
          <a:p>
            <a:pPr lvl="0">
              <a:defRPr/>
            </a:pPr>
            <a:r>
              <a:rPr lang="en-US" altLang="ko-KR" sz="20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kumimoji="1" lang="en-US" altLang="ko-KR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1</a:t>
            </a:r>
            <a:r>
              <a:rPr kumimoji="1" lang="ko-KR" altLang="en-US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세부 </a:t>
            </a:r>
            <a:r>
              <a:rPr kumimoji="1" lang="en-US" altLang="ko-KR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  <a:r>
              <a:rPr kumimoji="1" lang="ko-KR" altLang="en-US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추진방향 및 목표 </a:t>
            </a:r>
            <a:r>
              <a:rPr kumimoji="1" lang="en-US" altLang="ko-KR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(3/3)</a:t>
            </a:r>
            <a:endParaRPr kumimoji="1" lang="ko-KR" altLang="en-US" sz="2000" b="0" i="0" u="none" strike="noStrike" kern="1200" cap="none" spc="-50" normalizeH="0" baseline="0" noProof="0">
              <a:ln>
                <a:solidFill>
                  <a:srgbClr val="0D3896"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7F99B62-FF23-9ED8-0222-6BD78D2B1E46}"/>
              </a:ext>
            </a:extLst>
          </p:cNvPr>
          <p:cNvSpPr/>
          <p:nvPr/>
        </p:nvSpPr>
        <p:spPr>
          <a:xfrm>
            <a:off x="3980330" y="2074113"/>
            <a:ext cx="3299012" cy="90543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주관기관 작성</a:t>
            </a:r>
          </a:p>
        </p:txBody>
      </p:sp>
    </p:spTree>
    <p:extLst>
      <p:ext uri="{BB962C8B-B14F-4D97-AF65-F5344CB8AC3E}">
        <p14:creationId xmlns:p14="http://schemas.microsoft.com/office/powerpoint/2010/main" val="2307091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73118-D323-F3DF-79AA-BB8E547E7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F975B36C-CFB7-EF11-67AA-07A073FCEB65}"/>
              </a:ext>
            </a:extLst>
          </p:cNvPr>
          <p:cNvGrpSpPr/>
          <p:nvPr/>
        </p:nvGrpSpPr>
        <p:grpSpPr>
          <a:xfrm>
            <a:off x="8276296" y="509278"/>
            <a:ext cx="3068567" cy="3067712"/>
            <a:chOff x="7742377" y="1212890"/>
            <a:chExt cx="3068567" cy="3067712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DC800F25-B0BC-DE36-56FC-8B0A84E90F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5332" y="1902015"/>
              <a:ext cx="1606815" cy="1606817"/>
            </a:xfrm>
            <a:prstGeom prst="rect">
              <a:avLst/>
            </a:prstGeom>
          </p:spPr>
        </p:pic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4C8FC87F-4743-DF97-C223-6F7F0931E5F4}"/>
                </a:ext>
              </a:extLst>
            </p:cNvPr>
            <p:cNvGrpSpPr/>
            <p:nvPr/>
          </p:nvGrpSpPr>
          <p:grpSpPr>
            <a:xfrm>
              <a:off x="10001086" y="1212890"/>
              <a:ext cx="809858" cy="809858"/>
              <a:chOff x="9915292" y="1158084"/>
              <a:chExt cx="809858" cy="809858"/>
            </a:xfrm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F5BAB43B-534B-6EAC-29EB-EF7F077EAFD9}"/>
                  </a:ext>
                </a:extLst>
              </p:cNvPr>
              <p:cNvSpPr/>
              <p:nvPr/>
            </p:nvSpPr>
            <p:spPr>
              <a:xfrm>
                <a:off x="9915292" y="1158084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9" name="그림 28">
                <a:extLst>
                  <a:ext uri="{FF2B5EF4-FFF2-40B4-BE49-F238E27FC236}">
                    <a16:creationId xmlns:a16="http://schemas.microsoft.com/office/drawing/2014/main" id="{15525630-7D54-E736-F94E-813FF5689B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72392" y="1347921"/>
                <a:ext cx="495659" cy="495659"/>
              </a:xfrm>
              <a:prstGeom prst="rect">
                <a:avLst/>
              </a:prstGeom>
            </p:spPr>
          </p:pic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D7350479-822B-0A15-BFC6-C1A3B868DC31}"/>
                </a:ext>
              </a:extLst>
            </p:cNvPr>
            <p:cNvGrpSpPr/>
            <p:nvPr/>
          </p:nvGrpSpPr>
          <p:grpSpPr>
            <a:xfrm>
              <a:off x="9877192" y="3470744"/>
              <a:ext cx="809858" cy="809858"/>
              <a:chOff x="9915292" y="3499319"/>
              <a:chExt cx="809858" cy="809858"/>
            </a:xfrm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34CA8B3C-D7B4-0859-CA5D-344F3721E482}"/>
                  </a:ext>
                </a:extLst>
              </p:cNvPr>
              <p:cNvSpPr/>
              <p:nvPr/>
            </p:nvSpPr>
            <p:spPr>
              <a:xfrm>
                <a:off x="9915292" y="3499319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362072A8-662D-CB53-6909-38C0E22FEE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14768" y="3632528"/>
                <a:ext cx="553757" cy="553757"/>
              </a:xfrm>
              <a:prstGeom prst="rect">
                <a:avLst/>
              </a:prstGeom>
            </p:spPr>
          </p:pic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34A7A703-B5B3-C2E0-39BE-AD2C75C85CC4}"/>
                </a:ext>
              </a:extLst>
            </p:cNvPr>
            <p:cNvGrpSpPr/>
            <p:nvPr/>
          </p:nvGrpSpPr>
          <p:grpSpPr>
            <a:xfrm>
              <a:off x="7742377" y="3338804"/>
              <a:ext cx="809858" cy="809858"/>
              <a:chOff x="7675474" y="3349053"/>
              <a:chExt cx="809858" cy="809858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EE8D3FC2-DF76-BD8A-0FEA-0CDE5E1DBBCE}"/>
                  </a:ext>
                </a:extLst>
              </p:cNvPr>
              <p:cNvSpPr/>
              <p:nvPr/>
            </p:nvSpPr>
            <p:spPr>
              <a:xfrm>
                <a:off x="7675474" y="3349053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5" name="그림 24">
                <a:extLst>
                  <a:ext uri="{FF2B5EF4-FFF2-40B4-BE49-F238E27FC236}">
                    <a16:creationId xmlns:a16="http://schemas.microsoft.com/office/drawing/2014/main" id="{669CB9C1-7EC4-9FD8-2D55-6BE34AEBCC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73427" y="3475581"/>
                <a:ext cx="556803" cy="556803"/>
              </a:xfrm>
              <a:prstGeom prst="rect">
                <a:avLst/>
              </a:prstGeom>
            </p:spPr>
          </p:pic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054C653D-9D4D-EC6C-50AC-8A6C3564135F}"/>
                </a:ext>
              </a:extLst>
            </p:cNvPr>
            <p:cNvCxnSpPr/>
            <p:nvPr/>
          </p:nvCxnSpPr>
          <p:spPr>
            <a:xfrm flipV="1">
              <a:off x="9873596" y="1913518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65D6F1A-71AE-D2DF-8CB8-7E8B51CB40C2}"/>
                </a:ext>
              </a:extLst>
            </p:cNvPr>
            <p:cNvCxnSpPr/>
            <p:nvPr/>
          </p:nvCxnSpPr>
          <p:spPr>
            <a:xfrm rot="5400000" flipV="1">
              <a:off x="9795404" y="3364236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F961C238-7118-AE3A-BA07-05B7E282EECD}"/>
                </a:ext>
              </a:extLst>
            </p:cNvPr>
            <p:cNvCxnSpPr/>
            <p:nvPr/>
          </p:nvCxnSpPr>
          <p:spPr>
            <a:xfrm flipV="1">
              <a:off x="8485332" y="3273305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B3415F1-351C-23C5-707F-2205756957D2}"/>
              </a:ext>
            </a:extLst>
          </p:cNvPr>
          <p:cNvSpPr/>
          <p:nvPr/>
        </p:nvSpPr>
        <p:spPr>
          <a:xfrm>
            <a:off x="0" y="3659486"/>
            <a:ext cx="12192000" cy="31985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CCBEA08-1F7D-42D9-FD6E-C6ED2C70A3F2}"/>
              </a:ext>
            </a:extLst>
          </p:cNvPr>
          <p:cNvSpPr/>
          <p:nvPr/>
        </p:nvSpPr>
        <p:spPr>
          <a:xfrm>
            <a:off x="0" y="1936134"/>
            <a:ext cx="12192000" cy="1733215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FC8EA3-3372-D958-E638-7B2FBD2CACCB}"/>
              </a:ext>
            </a:extLst>
          </p:cNvPr>
          <p:cNvSpPr txBox="1"/>
          <p:nvPr/>
        </p:nvSpPr>
        <p:spPr>
          <a:xfrm>
            <a:off x="1834993" y="2108012"/>
            <a:ext cx="1107676" cy="147732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 defTabSz="829544" latinLnBrk="0">
              <a:defRPr/>
            </a:pPr>
            <a:r>
              <a:rPr lang="en-US" altLang="ko-KR" sz="9600" ker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Ⅱ</a:t>
            </a:r>
            <a:endParaRPr lang="en-US" altLang="ko-KR" sz="9600" kern="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chemeClr val="bg1"/>
              </a:solidFill>
              <a:latin typeface="KoPub바탕체 Bold" panose="02020603020101020101" pitchFamily="18" charset="-127"/>
              <a:ea typeface="KoPub바탕체 Bold" panose="02020603020101020101" pitchFamily="18" charset="-127"/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D4998C77-0CB5-262E-CBFC-11EE8D34D020}"/>
              </a:ext>
            </a:extLst>
          </p:cNvPr>
          <p:cNvSpPr/>
          <p:nvPr/>
        </p:nvSpPr>
        <p:spPr>
          <a:xfrm>
            <a:off x="1980332" y="3514130"/>
            <a:ext cx="816998" cy="2443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/>
            <a:r>
              <a:rPr lang="en-US" altLang="ko-KR" sz="1400" dirty="0">
                <a:solidFill>
                  <a:schemeClr val="accent5">
                    <a:lumMod val="50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chapter</a:t>
            </a:r>
            <a:endParaRPr lang="ko-KR" altLang="en-US" sz="1200" dirty="0">
              <a:solidFill>
                <a:schemeClr val="accent5">
                  <a:lumMod val="50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C3DE112-6305-5136-E28D-FFB26B0BB712}"/>
              </a:ext>
            </a:extLst>
          </p:cNvPr>
          <p:cNvSpPr/>
          <p:nvPr/>
        </p:nvSpPr>
        <p:spPr>
          <a:xfrm>
            <a:off x="2820822" y="2834540"/>
            <a:ext cx="4698337" cy="600164"/>
          </a:xfrm>
          <a:prstGeom prst="rect">
            <a:avLst/>
          </a:prstGeom>
        </p:spPr>
        <p:txBody>
          <a:bodyPr wrap="none" bIns="0">
            <a:spAutoFit/>
          </a:bodyPr>
          <a:lstStyle/>
          <a:p>
            <a:pPr defTabSz="829544" latinLnBrk="0">
              <a:defRPr/>
            </a:pPr>
            <a:r>
              <a:rPr lang="ko-KR" altLang="en-US" sz="3600" kern="0" spc="-27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기관별 연구 및 개발 계획</a:t>
            </a:r>
            <a:endParaRPr lang="ko-KR" altLang="en-US" sz="3600" kern="0" spc="-27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9BC35D2-2BFA-421C-BA11-B0E1C32A25F0}"/>
              </a:ext>
            </a:extLst>
          </p:cNvPr>
          <p:cNvSpPr/>
          <p:nvPr/>
        </p:nvSpPr>
        <p:spPr>
          <a:xfrm>
            <a:off x="2942669" y="2421547"/>
            <a:ext cx="4730375" cy="318549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ko-KR" altLang="en-US" sz="1200" kern="0">
                <a:solidFill>
                  <a:schemeClr val="bg1">
                    <a:lumMod val="8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데이터 기반 철자원 분류 및 품질 판정 기술 개발</a:t>
            </a:r>
            <a:endParaRPr lang="ko-KR" altLang="en-US" sz="1200" kern="0" dirty="0">
              <a:solidFill>
                <a:schemeClr val="bg1">
                  <a:lumMod val="8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47B0AF-19D5-FE12-3492-401FC4634D68}"/>
              </a:ext>
            </a:extLst>
          </p:cNvPr>
          <p:cNvSpPr txBox="1"/>
          <p:nvPr/>
        </p:nvSpPr>
        <p:spPr>
          <a:xfrm>
            <a:off x="3023632" y="3795877"/>
            <a:ext cx="6204650" cy="26603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lnSpc>
                <a:spcPct val="100000"/>
              </a:lnSpc>
              <a:buFont typeface="Wingdings" panose="05000000000000000000" pitchFamily="2" charset="2"/>
              <a:buChar char="l"/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pPr>
              <a:lnSpc>
                <a:spcPct val="200000"/>
              </a:lnSpc>
            </a:pPr>
            <a:r>
              <a:rPr lang="ko-KR" altLang="en-US" sz="16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기관별 연구 및 개발 계획</a:t>
            </a:r>
            <a:endParaRPr lang="en-US" altLang="ko-KR" sz="1600" b="1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㈜아이티브에이아이</a:t>
            </a:r>
            <a:endParaRPr lang="en-US" altLang="ko-KR" sz="1300" b="1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㈜솔위드</a:t>
            </a:r>
            <a:endParaRPr lang="en-US" altLang="ko-KR" sz="1300" b="1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㈜아이트리온</a:t>
            </a:r>
            <a:endParaRPr lang="en-US" altLang="ko-KR" sz="1300" b="1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한국재료연구원</a:t>
            </a:r>
            <a:endParaRPr lang="en-US" altLang="ko-KR" sz="1300" b="1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㈜보고넷</a:t>
            </a:r>
            <a:endParaRPr lang="en-US" altLang="ko-KR" sz="1300" b="1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심팩</a:t>
            </a:r>
            <a:endParaRPr lang="en-US" altLang="ko-KR" sz="1300" b="1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포스코</a:t>
            </a:r>
            <a:endParaRPr lang="en-US" altLang="ko-KR" sz="1300" b="1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6236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947C658-2864-2281-5002-070C8737302E}"/>
              </a:ext>
            </a:extLst>
          </p:cNvPr>
          <p:cNvSpPr/>
          <p:nvPr/>
        </p:nvSpPr>
        <p:spPr>
          <a:xfrm>
            <a:off x="0" y="2621934"/>
            <a:ext cx="12192000" cy="17332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E1279EB-174C-5127-A9E5-ED518E27A2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95"/>
          <a:stretch>
            <a:fillRect/>
          </a:stretch>
        </p:blipFill>
        <p:spPr>
          <a:xfrm>
            <a:off x="7761607" y="2774626"/>
            <a:ext cx="3987481" cy="142782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3625D45-5598-A8AB-01D5-068CD728C7C1}"/>
              </a:ext>
            </a:extLst>
          </p:cNvPr>
          <p:cNvSpPr/>
          <p:nvPr/>
        </p:nvSpPr>
        <p:spPr>
          <a:xfrm>
            <a:off x="382422" y="3126902"/>
            <a:ext cx="4734373" cy="723275"/>
          </a:xfrm>
          <a:prstGeom prst="rect">
            <a:avLst/>
          </a:prstGeom>
        </p:spPr>
        <p:txBody>
          <a:bodyPr wrap="none" bIns="0">
            <a:spAutoFit/>
          </a:bodyPr>
          <a:lstStyle/>
          <a:p>
            <a:pPr defTabSz="829544" latinLnBrk="0">
              <a:defRPr/>
            </a:pPr>
            <a:r>
              <a:rPr lang="en-US" altLang="ko-KR" sz="4400" kern="0" spc="-27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1. </a:t>
            </a:r>
            <a:r>
              <a:rPr lang="ko-KR" altLang="en-US" sz="4400" kern="0" spc="-27" dirty="0" err="1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아이티브에이아이</a:t>
            </a:r>
            <a:endParaRPr lang="ko-KR" altLang="en-US" sz="4400" kern="0" spc="-27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937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E8419-EFC0-040A-5E2A-516B89EE8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BEC3C77C-5CCF-C7C2-36D2-66EF7025CC54}"/>
              </a:ext>
            </a:extLst>
          </p:cNvPr>
          <p:cNvSpPr txBox="1">
            <a:spLocks/>
          </p:cNvSpPr>
          <p:nvPr/>
        </p:nvSpPr>
        <p:spPr>
          <a:xfrm>
            <a:off x="307078" y="504858"/>
            <a:ext cx="7925695" cy="253888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marR="0" indent="0" algn="l" defTabSz="82083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나눔고딕 ExtraBold" panose="020D0904000000000000" pitchFamily="50" charset="-127"/>
              <a:buNone/>
              <a:tabLst/>
              <a:defRPr kumimoji="1" lang="ko-KR" altLang="en-US" sz="1800" b="0" kern="1200" spc="-50" baseline="0" dirty="0" smtClean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rgbClr val="23181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828002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184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636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054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</a:t>
            </a:r>
            <a:r>
              <a:rPr lang="ko-KR" altLang="en-US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기관별 연구 및 개발 계획</a:t>
            </a:r>
          </a:p>
          <a:p>
            <a:pPr lvl="0">
              <a:defRPr/>
            </a:pPr>
            <a:r>
              <a:rPr lang="en-US" altLang="ko-KR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kumimoji="1" lang="en-US" altLang="ko-KR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kumimoji="1" lang="ko-KR" altLang="en-US" sz="2000" b="0" i="0" u="none" strike="noStrike" kern="1200" cap="none" spc="-50" normalizeH="0" baseline="0" noProof="0" dirty="0" err="1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아이티브에이아이</a:t>
            </a:r>
            <a:r>
              <a:rPr kumimoji="1" lang="ko-KR" altLang="en-US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1" lang="en-US" altLang="ko-KR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(1/3)</a:t>
            </a:r>
            <a:endParaRPr lang="ko-KR" altLang="en-US" sz="20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6B7F63-DEA8-2B6B-E1DF-FF78282FD30A}"/>
              </a:ext>
            </a:extLst>
          </p:cNvPr>
          <p:cNvSpPr txBox="1"/>
          <p:nvPr/>
        </p:nvSpPr>
        <p:spPr>
          <a:xfrm>
            <a:off x="3046563" y="3597215"/>
            <a:ext cx="6098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기관별 최대 </a:t>
            </a:r>
            <a:r>
              <a:rPr lang="en-US" altLang="ko-KR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2~3</a:t>
            </a:r>
            <a:r>
              <a:rPr lang="ko-KR" altLang="en-US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페이지로 구성해 주세요</a:t>
            </a:r>
            <a:r>
              <a:rPr lang="en-US" altLang="ko-KR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  <a:endParaRPr lang="ko-KR" altLang="en-US" sz="2800">
              <a:solidFill>
                <a:srgbClr val="0000F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7655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FCA22-F606-71CC-B15A-34ED7D1FB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BDAADCA-D1C3-B78C-0B4D-90247F1A4345}"/>
              </a:ext>
            </a:extLst>
          </p:cNvPr>
          <p:cNvSpPr/>
          <p:nvPr/>
        </p:nvSpPr>
        <p:spPr>
          <a:xfrm>
            <a:off x="0" y="2621934"/>
            <a:ext cx="12192000" cy="17332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3C0C132-2490-5EBF-1AE7-B61A5839D037}"/>
              </a:ext>
            </a:extLst>
          </p:cNvPr>
          <p:cNvSpPr/>
          <p:nvPr/>
        </p:nvSpPr>
        <p:spPr>
          <a:xfrm>
            <a:off x="382422" y="3126902"/>
            <a:ext cx="3268395" cy="723275"/>
          </a:xfrm>
          <a:prstGeom prst="rect">
            <a:avLst/>
          </a:prstGeom>
        </p:spPr>
        <p:txBody>
          <a:bodyPr wrap="none" bIns="0">
            <a:spAutoFit/>
          </a:bodyPr>
          <a:lstStyle/>
          <a:p>
            <a:pPr defTabSz="829544" latinLnBrk="0">
              <a:defRPr/>
            </a:pPr>
            <a:r>
              <a:rPr lang="en-US" altLang="ko-KR" sz="4400" kern="0" spc="-27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3. </a:t>
            </a:r>
            <a:r>
              <a:rPr lang="ko-KR" altLang="en-US" sz="4400" kern="0" spc="-27" dirty="0" err="1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아이트리온</a:t>
            </a:r>
            <a:endParaRPr lang="ko-KR" altLang="en-US" sz="4400" kern="0" spc="-27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3" name="Picture 6" descr="ITRION">
            <a:extLst>
              <a:ext uri="{FF2B5EF4-FFF2-40B4-BE49-F238E27FC236}">
                <a16:creationId xmlns:a16="http://schemas.microsoft.com/office/drawing/2014/main" id="{E7826FFB-614A-6DEA-F5F7-DF8D443D5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127" y="2839861"/>
            <a:ext cx="4418523" cy="1178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1714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80D09-7FD5-93A2-AABC-6A5947CE8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BDFE4AD0-7B83-CCE1-2385-010D99D35D3F}"/>
              </a:ext>
            </a:extLst>
          </p:cNvPr>
          <p:cNvSpPr txBox="1">
            <a:spLocks/>
          </p:cNvSpPr>
          <p:nvPr/>
        </p:nvSpPr>
        <p:spPr>
          <a:xfrm>
            <a:off x="307078" y="504858"/>
            <a:ext cx="7925695" cy="253888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marR="0" indent="0" algn="l" defTabSz="82083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나눔고딕 ExtraBold" panose="020D0904000000000000" pitchFamily="50" charset="-127"/>
              <a:buNone/>
              <a:tabLst/>
              <a:defRPr kumimoji="1" lang="ko-KR" altLang="en-US" sz="1800" b="0" kern="1200" spc="-50" baseline="0" dirty="0" smtClean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rgbClr val="23181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828002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184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636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054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</a:t>
            </a:r>
            <a:r>
              <a:rPr lang="ko-KR" altLang="en-US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기관별 연구 및 개발 계획</a:t>
            </a:r>
          </a:p>
          <a:p>
            <a:pPr lvl="0">
              <a:defRPr/>
            </a:pPr>
            <a:r>
              <a:rPr lang="en-US" altLang="ko-KR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</a:t>
            </a:r>
            <a:r>
              <a:rPr kumimoji="1" lang="en-US" altLang="ko-KR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lang="ko-KR" altLang="en-US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솔위드</a:t>
            </a:r>
            <a:r>
              <a:rPr kumimoji="1" lang="ko-KR" altLang="en-US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1" lang="en-US" altLang="ko-KR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(1/3)</a:t>
            </a:r>
            <a:endParaRPr lang="ko-KR" altLang="en-US" sz="20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7B130F-A91C-FA22-053F-5D4ECA6E7642}"/>
              </a:ext>
            </a:extLst>
          </p:cNvPr>
          <p:cNvSpPr txBox="1"/>
          <p:nvPr/>
        </p:nvSpPr>
        <p:spPr>
          <a:xfrm>
            <a:off x="3046563" y="3597215"/>
            <a:ext cx="6098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기관별 최대 </a:t>
            </a:r>
            <a:r>
              <a:rPr lang="en-US" altLang="ko-KR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2~3</a:t>
            </a:r>
            <a:r>
              <a:rPr lang="ko-KR" altLang="en-US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페이지로 구성해 주세요</a:t>
            </a:r>
            <a:r>
              <a:rPr lang="en-US" altLang="ko-KR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  <a:endParaRPr lang="ko-KR" altLang="en-US" sz="2800">
              <a:solidFill>
                <a:srgbClr val="0000F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0677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FCA22-F606-71CC-B15A-34ED7D1FB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BDAADCA-D1C3-B78C-0B4D-90247F1A4345}"/>
              </a:ext>
            </a:extLst>
          </p:cNvPr>
          <p:cNvSpPr/>
          <p:nvPr/>
        </p:nvSpPr>
        <p:spPr>
          <a:xfrm>
            <a:off x="0" y="2621934"/>
            <a:ext cx="12192000" cy="17332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3C0C132-2490-5EBF-1AE7-B61A5839D037}"/>
              </a:ext>
            </a:extLst>
          </p:cNvPr>
          <p:cNvSpPr/>
          <p:nvPr/>
        </p:nvSpPr>
        <p:spPr>
          <a:xfrm>
            <a:off x="382422" y="3126902"/>
            <a:ext cx="3268395" cy="723275"/>
          </a:xfrm>
          <a:prstGeom prst="rect">
            <a:avLst/>
          </a:prstGeom>
        </p:spPr>
        <p:txBody>
          <a:bodyPr wrap="none" bIns="0">
            <a:spAutoFit/>
          </a:bodyPr>
          <a:lstStyle/>
          <a:p>
            <a:pPr defTabSz="829544" latinLnBrk="0">
              <a:defRPr/>
            </a:pPr>
            <a:r>
              <a:rPr lang="en-US" altLang="ko-KR" sz="4400" kern="0" spc="-27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3. </a:t>
            </a:r>
            <a:r>
              <a:rPr lang="ko-KR" altLang="en-US" sz="4400" kern="0" spc="-27" dirty="0" err="1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아이트리온</a:t>
            </a:r>
            <a:endParaRPr lang="ko-KR" altLang="en-US" sz="4400" kern="0" spc="-27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3" name="Picture 6" descr="ITRION">
            <a:extLst>
              <a:ext uri="{FF2B5EF4-FFF2-40B4-BE49-F238E27FC236}">
                <a16:creationId xmlns:a16="http://schemas.microsoft.com/office/drawing/2014/main" id="{E7826FFB-614A-6DEA-F5F7-DF8D443D5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127" y="2839861"/>
            <a:ext cx="4418523" cy="1178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684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6ED17-6CEC-F601-B5A1-29D4C40B9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4AC5B113-FA15-85B9-9FC2-586154E4BEFE}"/>
              </a:ext>
            </a:extLst>
          </p:cNvPr>
          <p:cNvSpPr txBox="1">
            <a:spLocks/>
          </p:cNvSpPr>
          <p:nvPr/>
        </p:nvSpPr>
        <p:spPr>
          <a:xfrm>
            <a:off x="307078" y="504858"/>
            <a:ext cx="7925695" cy="253888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marR="0" indent="0" algn="l" defTabSz="82083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나눔고딕 ExtraBold" panose="020D0904000000000000" pitchFamily="50" charset="-127"/>
              <a:buNone/>
              <a:tabLst/>
              <a:defRPr kumimoji="1" lang="ko-KR" altLang="en-US" sz="1800" b="0" kern="1200" spc="-50" baseline="0" dirty="0" smtClean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rgbClr val="23181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828002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184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636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054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</a:t>
            </a:r>
            <a:r>
              <a:rPr lang="ko-KR" altLang="en-US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기관별 연구 및 개발 계획</a:t>
            </a:r>
          </a:p>
          <a:p>
            <a:pPr lvl="0">
              <a:defRPr/>
            </a:pPr>
            <a:r>
              <a:rPr lang="en-US" altLang="ko-KR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  <a:r>
              <a:rPr kumimoji="1" lang="en-US" altLang="ko-KR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lang="ko-KR" altLang="en-US" sz="2000" dirty="0" err="1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아이트리온</a:t>
            </a:r>
            <a:r>
              <a:rPr kumimoji="1" lang="ko-KR" altLang="en-US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1" lang="en-US" altLang="ko-KR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(1/3)</a:t>
            </a:r>
            <a:endParaRPr lang="ko-KR" altLang="en-US" sz="20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C757C2-7A8B-A450-FD39-529BF89F6092}"/>
              </a:ext>
            </a:extLst>
          </p:cNvPr>
          <p:cNvSpPr txBox="1"/>
          <p:nvPr/>
        </p:nvSpPr>
        <p:spPr>
          <a:xfrm>
            <a:off x="3046563" y="3597215"/>
            <a:ext cx="6098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기관별 최대 </a:t>
            </a:r>
            <a:r>
              <a:rPr lang="en-US" altLang="ko-KR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2~3</a:t>
            </a:r>
            <a:r>
              <a:rPr lang="ko-KR" altLang="en-US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페이지로 구성해 주세요</a:t>
            </a:r>
            <a:r>
              <a:rPr lang="en-US" altLang="ko-KR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  <a:endParaRPr lang="ko-KR" altLang="en-US" sz="2800">
              <a:solidFill>
                <a:srgbClr val="0000F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2557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DDF99-2420-A988-7F98-34FF9CB99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6065DC8-64D8-FAEA-EA76-A9A050BFDF51}"/>
              </a:ext>
            </a:extLst>
          </p:cNvPr>
          <p:cNvSpPr/>
          <p:nvPr/>
        </p:nvSpPr>
        <p:spPr>
          <a:xfrm>
            <a:off x="0" y="2621934"/>
            <a:ext cx="12192000" cy="17332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C158F83-D496-D37F-AC96-08E4ABB6015F}"/>
              </a:ext>
            </a:extLst>
          </p:cNvPr>
          <p:cNvSpPr/>
          <p:nvPr/>
        </p:nvSpPr>
        <p:spPr>
          <a:xfrm>
            <a:off x="382422" y="3126902"/>
            <a:ext cx="4245714" cy="723275"/>
          </a:xfrm>
          <a:prstGeom prst="rect">
            <a:avLst/>
          </a:prstGeom>
        </p:spPr>
        <p:txBody>
          <a:bodyPr wrap="none" bIns="0">
            <a:spAutoFit/>
          </a:bodyPr>
          <a:lstStyle/>
          <a:p>
            <a:pPr defTabSz="829544" latinLnBrk="0">
              <a:defRPr/>
            </a:pPr>
            <a:r>
              <a:rPr lang="en-US" altLang="ko-KR" sz="4400" kern="0" spc="-27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4. </a:t>
            </a:r>
            <a:r>
              <a:rPr lang="ko-KR" altLang="en-US" sz="4400" kern="0" spc="-27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한국재료연구원</a:t>
            </a:r>
          </a:p>
        </p:txBody>
      </p:sp>
      <p:pic>
        <p:nvPicPr>
          <p:cNvPr id="4" name="Picture 2" descr="혼합형 로고">
            <a:extLst>
              <a:ext uri="{FF2B5EF4-FFF2-40B4-BE49-F238E27FC236}">
                <a16:creationId xmlns:a16="http://schemas.microsoft.com/office/drawing/2014/main" id="{E25BF2E1-0116-9692-CBA5-B838E9EAC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993" y="2960816"/>
            <a:ext cx="5539095" cy="868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2523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D8D99-A460-A3F9-B1C4-BCF1A2FC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3E2934C8-CBB2-C300-F8C7-7420729DE732}"/>
              </a:ext>
            </a:extLst>
          </p:cNvPr>
          <p:cNvSpPr txBox="1">
            <a:spLocks/>
          </p:cNvSpPr>
          <p:nvPr/>
        </p:nvSpPr>
        <p:spPr>
          <a:xfrm>
            <a:off x="307078" y="504858"/>
            <a:ext cx="7925695" cy="253888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marR="0" indent="0" algn="l" defTabSz="82083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나눔고딕 ExtraBold" panose="020D0904000000000000" pitchFamily="50" charset="-127"/>
              <a:buNone/>
              <a:tabLst/>
              <a:defRPr kumimoji="1" lang="ko-KR" altLang="en-US" sz="1800" b="0" kern="1200" spc="-50" baseline="0" dirty="0" smtClean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rgbClr val="23181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828002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184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636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054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</a:t>
            </a:r>
            <a:r>
              <a:rPr lang="ko-KR" altLang="en-US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기관별 연구 및 개발 계획</a:t>
            </a:r>
          </a:p>
          <a:p>
            <a:pPr lvl="0">
              <a:defRPr/>
            </a:pPr>
            <a:r>
              <a:rPr lang="en-US" altLang="ko-KR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</a:t>
            </a:r>
            <a:r>
              <a:rPr kumimoji="1" lang="en-US" altLang="ko-KR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lang="ko-KR" altLang="en-US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한국재료연구원</a:t>
            </a:r>
            <a:r>
              <a:rPr kumimoji="1" lang="ko-KR" altLang="en-US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1" lang="en-US" altLang="ko-KR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(1/3)</a:t>
            </a:r>
            <a:endParaRPr lang="ko-KR" altLang="en-US" sz="20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BD09C0-8130-F478-F9A1-5C365AA72023}"/>
              </a:ext>
            </a:extLst>
          </p:cNvPr>
          <p:cNvSpPr txBox="1"/>
          <p:nvPr/>
        </p:nvSpPr>
        <p:spPr>
          <a:xfrm>
            <a:off x="3046563" y="3597215"/>
            <a:ext cx="6098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기관별 최대 </a:t>
            </a:r>
            <a:r>
              <a:rPr lang="en-US" altLang="ko-KR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2~3</a:t>
            </a:r>
            <a:r>
              <a:rPr lang="ko-KR" altLang="en-US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페이지로 구성해 주세요</a:t>
            </a:r>
            <a:r>
              <a:rPr lang="en-US" altLang="ko-KR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  <a:endParaRPr lang="ko-KR" altLang="en-US" sz="2800">
              <a:solidFill>
                <a:srgbClr val="0000F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1338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94B0B-0A39-AAE8-785D-E9A0F5B3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D44FA69-E196-2306-7950-82E8C64E4A92}"/>
              </a:ext>
            </a:extLst>
          </p:cNvPr>
          <p:cNvSpPr/>
          <p:nvPr/>
        </p:nvSpPr>
        <p:spPr>
          <a:xfrm>
            <a:off x="0" y="2621934"/>
            <a:ext cx="12192000" cy="17332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1CC9EA6-DD95-5FB3-7D73-DC4AF2D9222A}"/>
              </a:ext>
            </a:extLst>
          </p:cNvPr>
          <p:cNvSpPr/>
          <p:nvPr/>
        </p:nvSpPr>
        <p:spPr>
          <a:xfrm>
            <a:off x="382422" y="3126902"/>
            <a:ext cx="2291076" cy="723275"/>
          </a:xfrm>
          <a:prstGeom prst="rect">
            <a:avLst/>
          </a:prstGeom>
        </p:spPr>
        <p:txBody>
          <a:bodyPr wrap="none" bIns="0">
            <a:spAutoFit/>
          </a:bodyPr>
          <a:lstStyle/>
          <a:p>
            <a:pPr defTabSz="829544" latinLnBrk="0">
              <a:defRPr/>
            </a:pPr>
            <a:r>
              <a:rPr lang="en-US" altLang="ko-KR" sz="4400" kern="0" spc="-27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5. </a:t>
            </a:r>
            <a:r>
              <a:rPr lang="ko-KR" altLang="en-US" sz="4400" kern="0" spc="-27" dirty="0" err="1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보고넷</a:t>
            </a:r>
            <a:endParaRPr lang="ko-KR" altLang="en-US" sz="4400" kern="0" spc="-27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3720452-C455-60E7-7D0C-E75741426E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81"/>
          <a:stretch/>
        </p:blipFill>
        <p:spPr>
          <a:xfrm>
            <a:off x="7495717" y="2720185"/>
            <a:ext cx="4138105" cy="130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434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8D656-37F0-465B-3D71-3D03AD0B3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638ACCCB-EB61-7F2C-4718-E9DE8A06C9AB}"/>
              </a:ext>
            </a:extLst>
          </p:cNvPr>
          <p:cNvSpPr txBox="1">
            <a:spLocks/>
          </p:cNvSpPr>
          <p:nvPr/>
        </p:nvSpPr>
        <p:spPr>
          <a:xfrm>
            <a:off x="307078" y="504858"/>
            <a:ext cx="7925695" cy="253888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marR="0" indent="0" algn="l" defTabSz="82083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나눔고딕 ExtraBold" panose="020D0904000000000000" pitchFamily="50" charset="-127"/>
              <a:buNone/>
              <a:tabLst/>
              <a:defRPr kumimoji="1" lang="ko-KR" altLang="en-US" sz="1800" b="0" kern="1200" spc="-50" baseline="0" dirty="0" smtClean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rgbClr val="23181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828002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184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636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054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Ⅱ. </a:t>
            </a:r>
            <a:r>
              <a:rPr lang="ko-KR" altLang="en-US" sz="1400" dirty="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기관별 연구 및 개발 계획</a:t>
            </a:r>
          </a:p>
          <a:p>
            <a:pPr lvl="0">
              <a:defRPr/>
            </a:pPr>
            <a:r>
              <a:rPr lang="en-US" altLang="ko-KR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5</a:t>
            </a:r>
            <a:r>
              <a:rPr kumimoji="1" lang="en-US" altLang="ko-KR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lang="ko-KR" altLang="en-US" sz="2000" dirty="0" err="1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보고넷</a:t>
            </a:r>
            <a:r>
              <a:rPr kumimoji="1" lang="ko-KR" altLang="en-US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kumimoji="1" lang="en-US" altLang="ko-KR" sz="2000" b="0" i="0" u="none" strike="noStrike" kern="1200" cap="none" spc="-50" normalizeH="0" baseline="0" noProof="0" dirty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(1/3)</a:t>
            </a:r>
            <a:endParaRPr lang="ko-KR" altLang="en-US" sz="20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C94C78-FE7E-A00C-201D-7BACE9F14949}"/>
              </a:ext>
            </a:extLst>
          </p:cNvPr>
          <p:cNvSpPr txBox="1"/>
          <p:nvPr/>
        </p:nvSpPr>
        <p:spPr>
          <a:xfrm>
            <a:off x="3046563" y="3597215"/>
            <a:ext cx="6098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기관별 최대 </a:t>
            </a:r>
            <a:r>
              <a:rPr lang="en-US" altLang="ko-KR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2~3</a:t>
            </a:r>
            <a:r>
              <a:rPr lang="ko-KR" altLang="en-US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페이지로 구성해 주세요</a:t>
            </a:r>
            <a:r>
              <a:rPr lang="en-US" altLang="ko-KR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  <a:endParaRPr lang="ko-KR" altLang="en-US" sz="2800">
              <a:solidFill>
                <a:srgbClr val="0000F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4888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C7E17-0480-3E77-F518-3285B4169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CB812BD4-DF49-97A9-E566-6902510ECA90}"/>
              </a:ext>
            </a:extLst>
          </p:cNvPr>
          <p:cNvGrpSpPr/>
          <p:nvPr/>
        </p:nvGrpSpPr>
        <p:grpSpPr>
          <a:xfrm>
            <a:off x="8276296" y="509278"/>
            <a:ext cx="3068567" cy="3067712"/>
            <a:chOff x="7742377" y="1212890"/>
            <a:chExt cx="3068567" cy="3067712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18CFBE13-2855-5FE8-8656-892B2E85C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5332" y="1902015"/>
              <a:ext cx="1606815" cy="1606817"/>
            </a:xfrm>
            <a:prstGeom prst="rect">
              <a:avLst/>
            </a:prstGeom>
          </p:spPr>
        </p:pic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A980428F-FFAC-38D7-B7DE-7AFF0139FD26}"/>
                </a:ext>
              </a:extLst>
            </p:cNvPr>
            <p:cNvGrpSpPr/>
            <p:nvPr/>
          </p:nvGrpSpPr>
          <p:grpSpPr>
            <a:xfrm>
              <a:off x="10001086" y="1212890"/>
              <a:ext cx="809858" cy="809858"/>
              <a:chOff x="9915292" y="1158084"/>
              <a:chExt cx="809858" cy="809858"/>
            </a:xfrm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270CE099-DA61-F78F-3D88-D7D913484481}"/>
                  </a:ext>
                </a:extLst>
              </p:cNvPr>
              <p:cNvSpPr/>
              <p:nvPr/>
            </p:nvSpPr>
            <p:spPr>
              <a:xfrm>
                <a:off x="9915292" y="1158084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9" name="그림 28">
                <a:extLst>
                  <a:ext uri="{FF2B5EF4-FFF2-40B4-BE49-F238E27FC236}">
                    <a16:creationId xmlns:a16="http://schemas.microsoft.com/office/drawing/2014/main" id="{5D2A2541-275B-7E9B-A5D2-C48A95B529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72392" y="1347921"/>
                <a:ext cx="495659" cy="495659"/>
              </a:xfrm>
              <a:prstGeom prst="rect">
                <a:avLst/>
              </a:prstGeom>
            </p:spPr>
          </p:pic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2B8AF3B7-4126-28ED-FDD2-F350AE1493FA}"/>
                </a:ext>
              </a:extLst>
            </p:cNvPr>
            <p:cNvGrpSpPr/>
            <p:nvPr/>
          </p:nvGrpSpPr>
          <p:grpSpPr>
            <a:xfrm>
              <a:off x="9877192" y="3470744"/>
              <a:ext cx="809858" cy="809858"/>
              <a:chOff x="9915292" y="3499319"/>
              <a:chExt cx="809858" cy="809858"/>
            </a:xfrm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69D8D167-F5F0-E24D-CA13-BF27232D850E}"/>
                  </a:ext>
                </a:extLst>
              </p:cNvPr>
              <p:cNvSpPr/>
              <p:nvPr/>
            </p:nvSpPr>
            <p:spPr>
              <a:xfrm>
                <a:off x="9915292" y="3499319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DC1D178E-5D2D-1B63-8202-736E09CB3F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14768" y="3632528"/>
                <a:ext cx="553757" cy="553757"/>
              </a:xfrm>
              <a:prstGeom prst="rect">
                <a:avLst/>
              </a:prstGeom>
            </p:spPr>
          </p:pic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F7DE3D5-6B67-7B13-1AAF-FEA6EFB36EA3}"/>
                </a:ext>
              </a:extLst>
            </p:cNvPr>
            <p:cNvGrpSpPr/>
            <p:nvPr/>
          </p:nvGrpSpPr>
          <p:grpSpPr>
            <a:xfrm>
              <a:off x="7742377" y="3338804"/>
              <a:ext cx="809858" cy="809858"/>
              <a:chOff x="7675474" y="3349053"/>
              <a:chExt cx="809858" cy="809858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3222E7E9-A135-A841-9324-6D075D0EFBC9}"/>
                  </a:ext>
                </a:extLst>
              </p:cNvPr>
              <p:cNvSpPr/>
              <p:nvPr/>
            </p:nvSpPr>
            <p:spPr>
              <a:xfrm>
                <a:off x="7675474" y="3349053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5" name="그림 24">
                <a:extLst>
                  <a:ext uri="{FF2B5EF4-FFF2-40B4-BE49-F238E27FC236}">
                    <a16:creationId xmlns:a16="http://schemas.microsoft.com/office/drawing/2014/main" id="{CF315DE7-E9D3-DF73-A7E3-6F2761B41E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73427" y="3475581"/>
                <a:ext cx="556803" cy="556803"/>
              </a:xfrm>
              <a:prstGeom prst="rect">
                <a:avLst/>
              </a:prstGeom>
            </p:spPr>
          </p:pic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F34048B1-D979-5F09-C87A-F7C32235C8C1}"/>
                </a:ext>
              </a:extLst>
            </p:cNvPr>
            <p:cNvCxnSpPr/>
            <p:nvPr/>
          </p:nvCxnSpPr>
          <p:spPr>
            <a:xfrm flipV="1">
              <a:off x="9873596" y="1913518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5B827527-6BE9-05A2-FBB2-78ACF91BCE2D}"/>
                </a:ext>
              </a:extLst>
            </p:cNvPr>
            <p:cNvCxnSpPr/>
            <p:nvPr/>
          </p:nvCxnSpPr>
          <p:spPr>
            <a:xfrm rot="5400000" flipV="1">
              <a:off x="9795404" y="3364236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18B940DC-6C11-A065-6E46-5C05D4CDCC94}"/>
                </a:ext>
              </a:extLst>
            </p:cNvPr>
            <p:cNvCxnSpPr/>
            <p:nvPr/>
          </p:nvCxnSpPr>
          <p:spPr>
            <a:xfrm flipV="1">
              <a:off x="8485332" y="3273305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DB4AA7C-104D-37EA-C790-F0C1F8624CA8}"/>
              </a:ext>
            </a:extLst>
          </p:cNvPr>
          <p:cNvSpPr/>
          <p:nvPr/>
        </p:nvSpPr>
        <p:spPr>
          <a:xfrm>
            <a:off x="0" y="3659486"/>
            <a:ext cx="12192000" cy="31985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ECD203C-A066-3AC3-57B9-A8E874507749}"/>
              </a:ext>
            </a:extLst>
          </p:cNvPr>
          <p:cNvSpPr/>
          <p:nvPr/>
        </p:nvSpPr>
        <p:spPr>
          <a:xfrm>
            <a:off x="0" y="1936134"/>
            <a:ext cx="12192000" cy="1733215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F9D9DA-F21D-C479-205B-E80E840C6194}"/>
              </a:ext>
            </a:extLst>
          </p:cNvPr>
          <p:cNvSpPr txBox="1"/>
          <p:nvPr/>
        </p:nvSpPr>
        <p:spPr>
          <a:xfrm>
            <a:off x="1834993" y="2108012"/>
            <a:ext cx="1107676" cy="147732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 defTabSz="829544" latinLnBrk="0">
              <a:defRPr/>
            </a:pPr>
            <a:r>
              <a:rPr lang="en-US" altLang="ko-KR" sz="9600" ker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Ⅲ</a:t>
            </a:r>
            <a:endParaRPr lang="en-US" altLang="ko-KR" sz="9600" kern="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chemeClr val="bg1"/>
              </a:solidFill>
              <a:latin typeface="KoPub바탕체 Bold" panose="02020603020101020101" pitchFamily="18" charset="-127"/>
              <a:ea typeface="KoPub바탕체 Bold" panose="02020603020101020101" pitchFamily="18" charset="-127"/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353584CB-E7C0-7EA5-51D8-620C99C90103}"/>
              </a:ext>
            </a:extLst>
          </p:cNvPr>
          <p:cNvSpPr/>
          <p:nvPr/>
        </p:nvSpPr>
        <p:spPr>
          <a:xfrm>
            <a:off x="1980332" y="3514130"/>
            <a:ext cx="816998" cy="2443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/>
            <a:r>
              <a:rPr lang="en-US" altLang="ko-KR" sz="1400" dirty="0">
                <a:solidFill>
                  <a:schemeClr val="accent5">
                    <a:lumMod val="50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chapter</a:t>
            </a:r>
            <a:endParaRPr lang="ko-KR" altLang="en-US" sz="1200" dirty="0">
              <a:solidFill>
                <a:schemeClr val="accent5">
                  <a:lumMod val="50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5706DDE-0059-AA16-4F15-40ACA20739D7}"/>
              </a:ext>
            </a:extLst>
          </p:cNvPr>
          <p:cNvSpPr/>
          <p:nvPr/>
        </p:nvSpPr>
        <p:spPr>
          <a:xfrm>
            <a:off x="2820822" y="2834540"/>
            <a:ext cx="4293291" cy="600164"/>
          </a:xfrm>
          <a:prstGeom prst="rect">
            <a:avLst/>
          </a:prstGeom>
        </p:spPr>
        <p:txBody>
          <a:bodyPr wrap="none" bIns="0">
            <a:spAutoFit/>
          </a:bodyPr>
          <a:lstStyle/>
          <a:p>
            <a:pPr defTabSz="829544" latinLnBrk="0">
              <a:defRPr/>
            </a:pPr>
            <a:r>
              <a:rPr lang="en-US" altLang="ko-KR" sz="3600" kern="0" spc="-27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  <a:r>
              <a:rPr lang="ko-KR" altLang="en-US" sz="3600" kern="0" spc="-27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주요 추진일정</a:t>
            </a:r>
            <a:endParaRPr lang="ko-KR" altLang="en-US" sz="3600" kern="0" spc="-27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9FD88D0-ED77-B537-6C1D-FDE31939341D}"/>
              </a:ext>
            </a:extLst>
          </p:cNvPr>
          <p:cNvSpPr/>
          <p:nvPr/>
        </p:nvSpPr>
        <p:spPr>
          <a:xfrm>
            <a:off x="2942669" y="2421547"/>
            <a:ext cx="4730375" cy="318549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ko-KR" altLang="en-US" sz="1200" kern="0">
                <a:solidFill>
                  <a:schemeClr val="bg1">
                    <a:lumMod val="8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데이터 기반 철자원 분류 및 품질 판정 기술 개발</a:t>
            </a:r>
            <a:endParaRPr lang="ko-KR" altLang="en-US" sz="1200" kern="0" dirty="0">
              <a:solidFill>
                <a:schemeClr val="bg1">
                  <a:lumMod val="8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758E5C-55F5-6A10-A4B9-66C4CD43F76F}"/>
              </a:ext>
            </a:extLst>
          </p:cNvPr>
          <p:cNvSpPr txBox="1"/>
          <p:nvPr/>
        </p:nvSpPr>
        <p:spPr>
          <a:xfrm>
            <a:off x="3023632" y="3795877"/>
            <a:ext cx="6204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lnSpc>
                <a:spcPct val="100000"/>
              </a:lnSpc>
              <a:buFont typeface="Wingdings" panose="05000000000000000000" pitchFamily="2" charset="2"/>
              <a:buChar char="l"/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pPr>
              <a:lnSpc>
                <a:spcPct val="200000"/>
              </a:lnSpc>
            </a:pPr>
            <a:r>
              <a:rPr lang="en-US" altLang="ko-KR" sz="16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  <a:r>
              <a:rPr lang="ko-KR" altLang="en-US" sz="16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주요 추진일정 </a:t>
            </a:r>
            <a:r>
              <a:rPr lang="en-US" altLang="ko-KR" sz="16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6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로드맵</a:t>
            </a:r>
            <a:r>
              <a:rPr lang="en-US" altLang="ko-KR" sz="16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48466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5D882-AD21-6698-5699-1189D27C5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DB67396A-912C-76E1-6E47-703D35F22287}"/>
              </a:ext>
            </a:extLst>
          </p:cNvPr>
          <p:cNvSpPr txBox="1">
            <a:spLocks/>
          </p:cNvSpPr>
          <p:nvPr/>
        </p:nvSpPr>
        <p:spPr>
          <a:xfrm>
            <a:off x="307078" y="504858"/>
            <a:ext cx="7925695" cy="253888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marR="0" indent="0" algn="l" defTabSz="82083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나눔고딕 ExtraBold" panose="020D0904000000000000" pitchFamily="50" charset="-127"/>
              <a:buNone/>
              <a:tabLst/>
              <a:defRPr kumimoji="1" lang="ko-KR" altLang="en-US" sz="1800" b="0" kern="1200" spc="-50" baseline="0" dirty="0" smtClean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rgbClr val="23181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828002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184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636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054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Ⅲ. 3</a:t>
            </a:r>
            <a:r>
              <a:rPr lang="ko-KR" altLang="en-US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주요 추진일정</a:t>
            </a:r>
          </a:p>
          <a:p>
            <a:pPr lvl="0">
              <a:defRPr/>
            </a:pPr>
            <a:r>
              <a:rPr lang="en-US" altLang="ko-KR" sz="20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kumimoji="1" lang="en-US" altLang="ko-KR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kumimoji="1" lang="ko-KR" altLang="en-US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주요 추진일정 </a:t>
            </a:r>
            <a:r>
              <a:rPr kumimoji="1" lang="en-US" altLang="ko-KR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kumimoji="1" lang="ko-KR" altLang="en-US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로드맵</a:t>
            </a:r>
            <a:r>
              <a:rPr kumimoji="1" lang="en-US" altLang="ko-KR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  <a:endParaRPr lang="ko-KR" altLang="en-US" sz="20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97B8D7-1F24-CCC9-9D2B-4A3E4110F9D1}"/>
              </a:ext>
            </a:extLst>
          </p:cNvPr>
          <p:cNvSpPr txBox="1"/>
          <p:nvPr/>
        </p:nvSpPr>
        <p:spPr>
          <a:xfrm>
            <a:off x="3046563" y="3597215"/>
            <a:ext cx="60988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  <a:r>
              <a:rPr lang="ko-KR" altLang="en-US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차년도 정량적 목표 달성을 위한</a:t>
            </a:r>
            <a:endParaRPr lang="en-US" altLang="ko-KR" sz="2800">
              <a:solidFill>
                <a:srgbClr val="0000F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en-US" altLang="ko-KR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세부의 로드맵을 작성해 주세요</a:t>
            </a:r>
            <a:r>
              <a:rPr lang="en-US" altLang="ko-KR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78050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F91A0-0868-D318-62D1-BEEBEEF19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CC8873E4-A840-AE76-69C9-2BFD52D140D1}"/>
              </a:ext>
            </a:extLst>
          </p:cNvPr>
          <p:cNvGrpSpPr/>
          <p:nvPr/>
        </p:nvGrpSpPr>
        <p:grpSpPr>
          <a:xfrm>
            <a:off x="8276296" y="509278"/>
            <a:ext cx="3068567" cy="3067712"/>
            <a:chOff x="7742377" y="1212890"/>
            <a:chExt cx="3068567" cy="3067712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4796189F-3FC8-85CB-1984-32262D3A68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5332" y="1902015"/>
              <a:ext cx="1606815" cy="1606817"/>
            </a:xfrm>
            <a:prstGeom prst="rect">
              <a:avLst/>
            </a:prstGeom>
          </p:spPr>
        </p:pic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DF1F9FF8-EB5D-9C5C-24DF-23FEBBFEF408}"/>
                </a:ext>
              </a:extLst>
            </p:cNvPr>
            <p:cNvGrpSpPr/>
            <p:nvPr/>
          </p:nvGrpSpPr>
          <p:grpSpPr>
            <a:xfrm>
              <a:off x="10001086" y="1212890"/>
              <a:ext cx="809858" cy="809858"/>
              <a:chOff x="9915292" y="1158084"/>
              <a:chExt cx="809858" cy="809858"/>
            </a:xfrm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A03DDA88-6BFD-A6E6-1277-0B915A4DAAD4}"/>
                  </a:ext>
                </a:extLst>
              </p:cNvPr>
              <p:cNvSpPr/>
              <p:nvPr/>
            </p:nvSpPr>
            <p:spPr>
              <a:xfrm>
                <a:off x="9915292" y="1158084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9" name="그림 28">
                <a:extLst>
                  <a:ext uri="{FF2B5EF4-FFF2-40B4-BE49-F238E27FC236}">
                    <a16:creationId xmlns:a16="http://schemas.microsoft.com/office/drawing/2014/main" id="{9F2D8406-9CE2-0974-18B2-77B59F6A32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72392" y="1347921"/>
                <a:ext cx="495659" cy="495659"/>
              </a:xfrm>
              <a:prstGeom prst="rect">
                <a:avLst/>
              </a:prstGeom>
            </p:spPr>
          </p:pic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38718F4D-9BAB-C3E2-B7E1-6351D5D0D460}"/>
                </a:ext>
              </a:extLst>
            </p:cNvPr>
            <p:cNvGrpSpPr/>
            <p:nvPr/>
          </p:nvGrpSpPr>
          <p:grpSpPr>
            <a:xfrm>
              <a:off x="9877192" y="3470744"/>
              <a:ext cx="809858" cy="809858"/>
              <a:chOff x="9915292" y="3499319"/>
              <a:chExt cx="809858" cy="809858"/>
            </a:xfrm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1DEBA707-E828-A29D-D83F-137D173E7975}"/>
                  </a:ext>
                </a:extLst>
              </p:cNvPr>
              <p:cNvSpPr/>
              <p:nvPr/>
            </p:nvSpPr>
            <p:spPr>
              <a:xfrm>
                <a:off x="9915292" y="3499319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0140FB86-05DD-DA78-2DCB-C315DC627E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14768" y="3632528"/>
                <a:ext cx="553757" cy="553757"/>
              </a:xfrm>
              <a:prstGeom prst="rect">
                <a:avLst/>
              </a:prstGeom>
            </p:spPr>
          </p:pic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5DF0F8AD-E0A1-D2EE-40D6-040294CEC053}"/>
                </a:ext>
              </a:extLst>
            </p:cNvPr>
            <p:cNvGrpSpPr/>
            <p:nvPr/>
          </p:nvGrpSpPr>
          <p:grpSpPr>
            <a:xfrm>
              <a:off x="7742377" y="3338804"/>
              <a:ext cx="809858" cy="809858"/>
              <a:chOff x="7675474" y="3349053"/>
              <a:chExt cx="809858" cy="809858"/>
            </a:xfrm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F02CEC47-FE99-5EBB-406D-DF5F4C5F5C27}"/>
                  </a:ext>
                </a:extLst>
              </p:cNvPr>
              <p:cNvSpPr/>
              <p:nvPr/>
            </p:nvSpPr>
            <p:spPr>
              <a:xfrm>
                <a:off x="7675474" y="3349053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5" name="그림 24">
                <a:extLst>
                  <a:ext uri="{FF2B5EF4-FFF2-40B4-BE49-F238E27FC236}">
                    <a16:creationId xmlns:a16="http://schemas.microsoft.com/office/drawing/2014/main" id="{0FF320E8-6F52-A1CC-9A3B-4ED2E4570D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73427" y="3475581"/>
                <a:ext cx="556803" cy="556803"/>
              </a:xfrm>
              <a:prstGeom prst="rect">
                <a:avLst/>
              </a:prstGeom>
            </p:spPr>
          </p:pic>
        </p:grp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5644B0D6-530E-130D-5FC4-FA81A4FB8BEF}"/>
                </a:ext>
              </a:extLst>
            </p:cNvPr>
            <p:cNvCxnSpPr/>
            <p:nvPr/>
          </p:nvCxnSpPr>
          <p:spPr>
            <a:xfrm flipV="1">
              <a:off x="9873596" y="1913518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294BE38D-138F-002F-F820-617D95D57BC8}"/>
                </a:ext>
              </a:extLst>
            </p:cNvPr>
            <p:cNvCxnSpPr/>
            <p:nvPr/>
          </p:nvCxnSpPr>
          <p:spPr>
            <a:xfrm rot="5400000" flipV="1">
              <a:off x="9795404" y="3364236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3766185D-F94C-D2FD-877D-15007F3EE80E}"/>
                </a:ext>
              </a:extLst>
            </p:cNvPr>
            <p:cNvCxnSpPr/>
            <p:nvPr/>
          </p:nvCxnSpPr>
          <p:spPr>
            <a:xfrm flipV="1">
              <a:off x="8485332" y="3273305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6377B81-F692-B362-A74D-242D5C93AC25}"/>
              </a:ext>
            </a:extLst>
          </p:cNvPr>
          <p:cNvSpPr/>
          <p:nvPr/>
        </p:nvSpPr>
        <p:spPr>
          <a:xfrm>
            <a:off x="0" y="3659486"/>
            <a:ext cx="12192000" cy="31985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9856FFD-5B10-67C6-8570-4214F1827F0A}"/>
              </a:ext>
            </a:extLst>
          </p:cNvPr>
          <p:cNvSpPr/>
          <p:nvPr/>
        </p:nvSpPr>
        <p:spPr>
          <a:xfrm>
            <a:off x="0" y="1936134"/>
            <a:ext cx="12192000" cy="1733215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88E3EE-15CD-AF3A-2857-F40E35E5E579}"/>
              </a:ext>
            </a:extLst>
          </p:cNvPr>
          <p:cNvSpPr txBox="1"/>
          <p:nvPr/>
        </p:nvSpPr>
        <p:spPr>
          <a:xfrm>
            <a:off x="1834993" y="2108012"/>
            <a:ext cx="1107676" cy="147732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 defTabSz="829544" latinLnBrk="0">
              <a:defRPr/>
            </a:pPr>
            <a:r>
              <a:rPr lang="en-US" altLang="ko-KR" sz="9600" ker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KoPub바탕체 Bold" panose="02020603020101020101" pitchFamily="18" charset="-127"/>
                <a:ea typeface="KoPub바탕체 Bold" panose="02020603020101020101" pitchFamily="18" charset="-127"/>
              </a:rPr>
              <a:t>Ⅳ</a:t>
            </a:r>
            <a:endParaRPr lang="en-US" altLang="ko-KR" sz="9600" kern="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chemeClr val="bg1"/>
              </a:solidFill>
              <a:latin typeface="KoPub바탕체 Bold" panose="02020603020101020101" pitchFamily="18" charset="-127"/>
              <a:ea typeface="KoPub바탕체 Bold" panose="02020603020101020101" pitchFamily="18" charset="-127"/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BA284933-4C2A-9195-DC35-A732DA58D4BD}"/>
              </a:ext>
            </a:extLst>
          </p:cNvPr>
          <p:cNvSpPr/>
          <p:nvPr/>
        </p:nvSpPr>
        <p:spPr>
          <a:xfrm>
            <a:off x="1980332" y="3514130"/>
            <a:ext cx="816998" cy="2443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0" rtlCol="0" anchor="ctr"/>
          <a:lstStyle/>
          <a:p>
            <a:pPr algn="ctr"/>
            <a:r>
              <a:rPr lang="en-US" altLang="ko-KR" sz="1400" dirty="0">
                <a:solidFill>
                  <a:schemeClr val="accent5">
                    <a:lumMod val="50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chapter</a:t>
            </a:r>
            <a:endParaRPr lang="ko-KR" altLang="en-US" sz="1200" dirty="0">
              <a:solidFill>
                <a:schemeClr val="accent5">
                  <a:lumMod val="50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8FF0524-6F5A-D774-EDC0-5C8868F3494C}"/>
              </a:ext>
            </a:extLst>
          </p:cNvPr>
          <p:cNvSpPr/>
          <p:nvPr/>
        </p:nvSpPr>
        <p:spPr>
          <a:xfrm>
            <a:off x="2820822" y="2834540"/>
            <a:ext cx="2709203" cy="600164"/>
          </a:xfrm>
          <a:prstGeom prst="rect">
            <a:avLst/>
          </a:prstGeom>
        </p:spPr>
        <p:txBody>
          <a:bodyPr wrap="none" bIns="0">
            <a:spAutoFit/>
          </a:bodyPr>
          <a:lstStyle/>
          <a:p>
            <a:pPr defTabSz="829544" latinLnBrk="0">
              <a:defRPr/>
            </a:pPr>
            <a:r>
              <a:rPr lang="ko-KR" altLang="en-US" sz="3600" kern="0" spc="-27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주요 이슈사항</a:t>
            </a:r>
            <a:endParaRPr lang="ko-KR" altLang="en-US" sz="3600" kern="0" spc="-27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701ED0A-8A27-8CE4-02F9-045574B33A4D}"/>
              </a:ext>
            </a:extLst>
          </p:cNvPr>
          <p:cNvSpPr/>
          <p:nvPr/>
        </p:nvSpPr>
        <p:spPr>
          <a:xfrm>
            <a:off x="2942669" y="2421547"/>
            <a:ext cx="4730375" cy="318549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ko-KR" altLang="en-US" sz="1200" kern="0">
                <a:solidFill>
                  <a:schemeClr val="bg1">
                    <a:lumMod val="8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데이터 기반 철자원 분류 및 품질 판정 기술 개발</a:t>
            </a:r>
            <a:endParaRPr lang="ko-KR" altLang="en-US" sz="1200" kern="0" dirty="0">
              <a:solidFill>
                <a:schemeClr val="bg1">
                  <a:lumMod val="85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8F5B24-3AB5-8360-97F6-E900D727B7AE}"/>
              </a:ext>
            </a:extLst>
          </p:cNvPr>
          <p:cNvSpPr txBox="1"/>
          <p:nvPr/>
        </p:nvSpPr>
        <p:spPr>
          <a:xfrm>
            <a:off x="3023632" y="3795877"/>
            <a:ext cx="6204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lnSpc>
                <a:spcPct val="100000"/>
              </a:lnSpc>
              <a:buFont typeface="Wingdings" panose="05000000000000000000" pitchFamily="2" charset="2"/>
              <a:buChar char="l"/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pPr>
              <a:lnSpc>
                <a:spcPct val="200000"/>
              </a:lnSpc>
            </a:pPr>
            <a:r>
              <a:rPr lang="ko-KR" altLang="en-US" sz="1600" b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이슈 및 협조 필요사항 공유</a:t>
            </a:r>
            <a:endParaRPr lang="en-US" altLang="ko-KR" sz="1600" b="1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11335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B2B01-DA0E-021B-BBAE-EACF5814E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텍스트 개체 틀 4">
            <a:extLst>
              <a:ext uri="{FF2B5EF4-FFF2-40B4-BE49-F238E27FC236}">
                <a16:creationId xmlns:a16="http://schemas.microsoft.com/office/drawing/2014/main" id="{140147B7-0B05-6756-CC4F-39AE439DC738}"/>
              </a:ext>
            </a:extLst>
          </p:cNvPr>
          <p:cNvSpPr txBox="1">
            <a:spLocks/>
          </p:cNvSpPr>
          <p:nvPr/>
        </p:nvSpPr>
        <p:spPr>
          <a:xfrm>
            <a:off x="307078" y="504858"/>
            <a:ext cx="7925695" cy="253888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marR="0" indent="0" algn="l" defTabSz="820832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나눔고딕 ExtraBold" panose="020D0904000000000000" pitchFamily="50" charset="-127"/>
              <a:buNone/>
              <a:tabLst/>
              <a:defRPr kumimoji="1" lang="ko-KR" altLang="en-US" sz="1800" b="0" kern="1200" spc="-50" baseline="0" dirty="0" smtClean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rgbClr val="231815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defRPr>
            </a:lvl1pPr>
            <a:lvl2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2pPr>
            <a:lvl3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3pPr>
            <a:lvl4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 smtClean="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4pPr>
            <a:lvl5pPr marL="0" indent="-257091" algn="l" defTabSz="820832" rtl="0" eaLnBrk="1" latinLnBrk="0" hangingPunct="1">
              <a:lnSpc>
                <a:spcPct val="120000"/>
              </a:lnSpc>
              <a:spcBef>
                <a:spcPts val="562"/>
              </a:spcBef>
              <a:buSzPct val="70000"/>
              <a:buFont typeface="Arial" panose="020B0604020202020204" pitchFamily="34" charset="0"/>
              <a:buChar char="•"/>
              <a:defRPr kumimoji="1" lang="ko-KR" altLang="en-US" sz="1100" b="0" kern="1200" spc="-50">
                <a:solidFill>
                  <a:srgbClr val="777777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lvl5pPr>
            <a:lvl6pPr marL="2828002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42184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5636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70548" indent="-257091" algn="l" defTabSz="1028364" rtl="0" eaLnBrk="1" latinLnBrk="1" hangingPunct="1">
              <a:lnSpc>
                <a:spcPct val="90000"/>
              </a:lnSpc>
              <a:spcBef>
                <a:spcPts val="562"/>
              </a:spcBef>
              <a:buFont typeface="Arial" panose="020B0604020202020204" pitchFamily="34" charset="0"/>
              <a:buChar char="•"/>
              <a:defRPr sz="20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altLang="ko-KR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Ⅳ. </a:t>
            </a:r>
            <a:r>
              <a:rPr lang="ko-KR" altLang="en-US" sz="1400">
                <a:solidFill>
                  <a:schemeClr val="bg2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주요 이슈사항</a:t>
            </a:r>
          </a:p>
          <a:p>
            <a:pPr lvl="0">
              <a:defRPr/>
            </a:pPr>
            <a:r>
              <a:rPr lang="en-US" altLang="ko-KR" sz="200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kumimoji="1" lang="en-US" altLang="ko-KR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</a:t>
            </a:r>
            <a:r>
              <a:rPr kumimoji="1" lang="ko-KR" altLang="en-US" sz="2000" b="0" i="0" u="none" strike="noStrike" kern="1200" cap="none" spc="-50" normalizeH="0" baseline="0" noProof="0">
                <a:ln>
                  <a:solidFill>
                    <a:srgbClr val="0D3896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주요 이슈 및 협조 필요사항 공유</a:t>
            </a:r>
            <a:endParaRPr lang="ko-KR" altLang="en-US" sz="20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53C2F2-2C02-15E4-99D9-A53A50A05138}"/>
              </a:ext>
            </a:extLst>
          </p:cNvPr>
          <p:cNvSpPr txBox="1"/>
          <p:nvPr/>
        </p:nvSpPr>
        <p:spPr>
          <a:xfrm>
            <a:off x="3046563" y="3597215"/>
            <a:ext cx="60988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이슈사항 또는 협조가 필요한 사항이</a:t>
            </a:r>
            <a:endParaRPr lang="en-US" altLang="ko-KR" sz="2800">
              <a:solidFill>
                <a:srgbClr val="0000FF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있으신 경우 작성해 주세요</a:t>
            </a:r>
            <a:r>
              <a:rPr lang="en-US" altLang="ko-KR" sz="2800">
                <a:solidFill>
                  <a:srgbClr val="0000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4724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7735969" y="1309313"/>
            <a:ext cx="3068567" cy="3067712"/>
            <a:chOff x="7742377" y="1212890"/>
            <a:chExt cx="3068567" cy="3067712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85332" y="1902015"/>
              <a:ext cx="1606815" cy="1606817"/>
            </a:xfrm>
            <a:prstGeom prst="rect">
              <a:avLst/>
            </a:prstGeom>
          </p:spPr>
        </p:pic>
        <p:grpSp>
          <p:nvGrpSpPr>
            <p:cNvPr id="10" name="그룹 9"/>
            <p:cNvGrpSpPr/>
            <p:nvPr/>
          </p:nvGrpSpPr>
          <p:grpSpPr>
            <a:xfrm>
              <a:off x="10001086" y="1212890"/>
              <a:ext cx="809858" cy="809858"/>
              <a:chOff x="9915292" y="1158084"/>
              <a:chExt cx="809858" cy="809858"/>
            </a:xfrm>
          </p:grpSpPr>
          <p:sp>
            <p:nvSpPr>
              <p:cNvPr id="20" name="타원 19"/>
              <p:cNvSpPr/>
              <p:nvPr/>
            </p:nvSpPr>
            <p:spPr>
              <a:xfrm>
                <a:off x="9915292" y="1158084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1" name="그림 20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72392" y="1347921"/>
                <a:ext cx="495659" cy="495659"/>
              </a:xfrm>
              <a:prstGeom prst="rect">
                <a:avLst/>
              </a:prstGeom>
            </p:spPr>
          </p:pic>
        </p:grpSp>
        <p:grpSp>
          <p:nvGrpSpPr>
            <p:cNvPr id="11" name="그룹 10"/>
            <p:cNvGrpSpPr/>
            <p:nvPr/>
          </p:nvGrpSpPr>
          <p:grpSpPr>
            <a:xfrm>
              <a:off x="9877192" y="3470744"/>
              <a:ext cx="809858" cy="809858"/>
              <a:chOff x="9915292" y="3499319"/>
              <a:chExt cx="809858" cy="809858"/>
            </a:xfrm>
          </p:grpSpPr>
          <p:sp>
            <p:nvSpPr>
              <p:cNvPr id="18" name="타원 17"/>
              <p:cNvSpPr/>
              <p:nvPr/>
            </p:nvSpPr>
            <p:spPr>
              <a:xfrm>
                <a:off x="9915292" y="3499319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9" name="그림 18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14768" y="3632528"/>
                <a:ext cx="553757" cy="553757"/>
              </a:xfrm>
              <a:prstGeom prst="rect">
                <a:avLst/>
              </a:prstGeom>
            </p:spPr>
          </p:pic>
        </p:grpSp>
        <p:grpSp>
          <p:nvGrpSpPr>
            <p:cNvPr id="12" name="그룹 11"/>
            <p:cNvGrpSpPr/>
            <p:nvPr/>
          </p:nvGrpSpPr>
          <p:grpSpPr>
            <a:xfrm>
              <a:off x="7742377" y="3338804"/>
              <a:ext cx="809858" cy="809858"/>
              <a:chOff x="7675474" y="3349053"/>
              <a:chExt cx="809858" cy="809858"/>
            </a:xfrm>
          </p:grpSpPr>
          <p:sp>
            <p:nvSpPr>
              <p:cNvPr id="16" name="타원 15"/>
              <p:cNvSpPr/>
              <p:nvPr/>
            </p:nvSpPr>
            <p:spPr>
              <a:xfrm>
                <a:off x="7675474" y="3349053"/>
                <a:ext cx="809858" cy="809858"/>
              </a:xfrm>
              <a:prstGeom prst="ellipse">
                <a:avLst/>
              </a:prstGeom>
              <a:solidFill>
                <a:srgbClr val="F2F2F2">
                  <a:alpha val="69804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7" name="그림 16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73427" y="3475581"/>
                <a:ext cx="556803" cy="556803"/>
              </a:xfrm>
              <a:prstGeom prst="rect">
                <a:avLst/>
              </a:prstGeom>
            </p:spPr>
          </p:pic>
        </p:grpSp>
        <p:cxnSp>
          <p:nvCxnSpPr>
            <p:cNvPr id="13" name="직선 연결선 12"/>
            <p:cNvCxnSpPr/>
            <p:nvPr/>
          </p:nvCxnSpPr>
          <p:spPr>
            <a:xfrm flipV="1">
              <a:off x="9873596" y="1913518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 rot="5400000" flipV="1">
              <a:off x="9795404" y="3364236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>
            <a:xfrm flipV="1">
              <a:off x="8485332" y="3273305"/>
              <a:ext cx="163229" cy="163229"/>
            </a:xfrm>
            <a:prstGeom prst="line">
              <a:avLst/>
            </a:prstGeom>
            <a:ln w="28575" cap="rnd">
              <a:solidFill>
                <a:srgbClr val="CDCDCD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직사각형 21"/>
          <p:cNvSpPr/>
          <p:nvPr/>
        </p:nvSpPr>
        <p:spPr>
          <a:xfrm>
            <a:off x="0" y="4705351"/>
            <a:ext cx="12192000" cy="21526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88C95F-2ADB-48A1-AB95-F14694C8A0DE}"/>
              </a:ext>
            </a:extLst>
          </p:cNvPr>
          <p:cNvSpPr txBox="1"/>
          <p:nvPr/>
        </p:nvSpPr>
        <p:spPr>
          <a:xfrm>
            <a:off x="863589" y="2495660"/>
            <a:ext cx="2630527" cy="67710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 defTabSz="829544" latinLnBrk="0">
              <a:defRPr/>
            </a:pPr>
            <a:r>
              <a:rPr lang="ko-KR" altLang="en-US" sz="44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감사합니다</a:t>
            </a:r>
            <a:r>
              <a:rPr lang="en-US" altLang="ko-KR" sz="44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917830" y="2119171"/>
            <a:ext cx="4730375" cy="299697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fontAlgn="base">
              <a:lnSpc>
                <a:spcPct val="130000"/>
              </a:lnSpc>
            </a:pPr>
            <a:r>
              <a:rPr lang="ko-KR" altLang="en-US" sz="1100" kern="0">
                <a:solidFill>
                  <a:schemeClr val="tx2">
                    <a:lumMod val="20000"/>
                    <a:lumOff val="80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데이터 기반 철자원 분류 및 품질 판정 기술 개발</a:t>
            </a:r>
            <a:endParaRPr lang="ko-KR" altLang="en-US" sz="1100" kern="0" dirty="0">
              <a:solidFill>
                <a:schemeClr val="tx2">
                  <a:lumMod val="20000"/>
                  <a:lumOff val="80000"/>
                </a:schemeClr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9785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5013</TotalTime>
  <Words>375</Words>
  <Application>Microsoft Office PowerPoint</Application>
  <PresentationFormat>와이드스크린</PresentationFormat>
  <Paragraphs>74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7" baseType="lpstr">
      <vt:lpstr>KoPubWorld돋움체 Bold</vt:lpstr>
      <vt:lpstr>KoPub바탕체 Bold</vt:lpstr>
      <vt:lpstr>Arial</vt:lpstr>
      <vt:lpstr>맑은 고딕</vt:lpstr>
      <vt:lpstr>KoPubWorld돋움체 Medium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iscilab</dc:creator>
  <cp:lastModifiedBy>jihong Lee</cp:lastModifiedBy>
  <cp:revision>263</cp:revision>
  <dcterms:created xsi:type="dcterms:W3CDTF">2024-04-08T08:23:55Z</dcterms:created>
  <dcterms:modified xsi:type="dcterms:W3CDTF">2026-04-13T23:41:26Z</dcterms:modified>
</cp:coreProperties>
</file>
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0" r:id="rId3"/>
    <p:sldId id="324" r:id="rId4"/>
    <p:sldId id="345" r:id="rId5"/>
    <p:sldId id="344" r:id="rId6"/>
    <p:sldId id="330" r:id="rId7"/>
    <p:sldId id="263" r:id="rId8"/>
  </p:sldIdLst>
  <p:sldSz cx="12192000" cy="6858000"/>
  <p:notesSz cx="6858000" cy="9144000"/>
  <p:embeddedFontLst>
    <p:embeddedFont>
      <p:font typeface="KoPubWorld돋움체 Bold" panose="020B0600000101010101" charset="-127"/>
      <p:bold r:id="rId11"/>
    </p:embeddedFont>
    <p:embeddedFont>
      <p:font typeface="KoPubWorld돋움체 Medium" panose="020B0600000101010101" charset="-127"/>
      <p:regular r:id="rId12"/>
    </p:embeddedFont>
    <p:embeddedFont>
      <p:font typeface="KoPub바탕체 Bold" panose="00000800000000000000" pitchFamily="2" charset="-127"/>
      <p:regular r:id="rId13"/>
      <p:bold r:id="rId14"/>
    </p:embeddedFont>
    <p:embeddedFont>
      <p:font typeface="나눔스퀘어 네오 Bold" panose="00000800000000000000" pitchFamily="2" charset="-127"/>
      <p:bold r:id="rId15"/>
    </p:embeddedFont>
    <p:embeddedFont>
      <p:font typeface="나눔스퀘어 네오 ExtraBold" panose="00000900000000000000" pitchFamily="2" charset="-127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401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7CFF"/>
    <a:srgbClr val="B4C7E7"/>
    <a:srgbClr val="2F5597"/>
    <a:srgbClr val="8FAADC"/>
    <a:srgbClr val="445CC4"/>
    <a:srgbClr val="808080"/>
    <a:srgbClr val="EAEAEA"/>
    <a:srgbClr val="FFFFFF"/>
    <a:srgbClr val="3333FF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96076" autoAdjust="0"/>
  </p:normalViewPr>
  <p:slideViewPr>
    <p:cSldViewPr snapToGrid="0">
      <p:cViewPr varScale="1">
        <p:scale>
          <a:sx n="164" d="100"/>
          <a:sy n="164" d="100"/>
        </p:scale>
        <p:origin x="192" y="96"/>
      </p:cViewPr>
      <p:guideLst>
        <p:guide orient="horz" pos="686"/>
        <p:guide pos="7401"/>
        <p:guide pos="279"/>
        <p:guide orient="horz" pos="890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4B3C-21DC-4CAC-8F48-87DD41E8421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12559-7224-48D1-9719-661B63C34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30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1C100-1133-4D91-A44A-D9B4B96850A8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DFEFB-D250-411F-8DB8-30585B8CDA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06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FEFB-D250-411F-8DB8-30585B8CDA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6" b="164"/>
          <a:stretch/>
        </p:blipFill>
        <p:spPr>
          <a:xfrm>
            <a:off x="0" y="-9525"/>
            <a:ext cx="12192000" cy="68675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-9526"/>
            <a:ext cx="12192000" cy="68675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18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4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-529" y="-6394"/>
            <a:ext cx="12193057" cy="68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35" b="35355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F4305A7-2134-4CA6-8CE5-8C13C255E8C7}"/>
              </a:ext>
            </a:extLst>
          </p:cNvPr>
          <p:cNvSpPr txBox="1">
            <a:spLocks/>
          </p:cNvSpPr>
          <p:nvPr userDrawn="1"/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57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510746" y="1136822"/>
            <a:ext cx="10964562" cy="504014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6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22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02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26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62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92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7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4A6F0B9-8547-9CAE-C1B0-B0E63CBB20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40" y="-1"/>
            <a:ext cx="6754724" cy="503936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47734" y="1247901"/>
            <a:ext cx="6491136" cy="2119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기반 </a:t>
            </a:r>
            <a:r>
              <a:rPr lang="ko-KR" altLang="en-US" sz="3600" b="1" kern="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철자원</a:t>
            </a: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분류 및 </a:t>
            </a:r>
            <a:endParaRPr lang="en-US" altLang="ko-KR" sz="3600" b="1" kern="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 fontAlgn="base">
              <a:lnSpc>
                <a:spcPct val="130000"/>
              </a:lnSpc>
            </a:pP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 판정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개발</a:t>
            </a:r>
            <a:endParaRPr lang="en-US" altLang="ko-KR" sz="3600" b="1" kern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3600" b="1" kern="0">
                <a:solidFill>
                  <a:schemeClr val="bg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성과보고회의</a:t>
            </a:r>
            <a:endParaRPr lang="en-US" altLang="ko-KR" sz="3000" b="1" kern="0" dirty="0">
              <a:solidFill>
                <a:schemeClr val="bg1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2C5B95F-6D79-113C-685E-C322CABC59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39" y="5253983"/>
            <a:ext cx="6201993" cy="4654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93BCE6-03A6-772D-9184-4EDE37C12835}"/>
              </a:ext>
            </a:extLst>
          </p:cNvPr>
          <p:cNvSpPr/>
          <p:nvPr/>
        </p:nvSpPr>
        <p:spPr>
          <a:xfrm>
            <a:off x="685384" y="1007718"/>
            <a:ext cx="6466947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677416" y="3910744"/>
            <a:ext cx="6593248" cy="636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주관기관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주식회사 </a:t>
            </a:r>
            <a:r>
              <a:rPr lang="ko-KR" altLang="en-US" sz="14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아이티브에이아이</a:t>
            </a:r>
            <a:endParaRPr lang="en-US" altLang="ko-KR" sz="1400" spc="-5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공동연구개발기관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㈜솔위드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㈜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아이트리온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보고넷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㈜포스코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SIMPAC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37" name="그룹 36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39" name="그룹 38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33" name="직선 연결선 3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1099054" y="3418536"/>
            <a:ext cx="5918118" cy="3562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2025.12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514541-C4A4-9CDC-D9C7-5C3E825F92A9}"/>
              </a:ext>
            </a:extLst>
          </p:cNvPr>
          <p:cNvSpPr/>
          <p:nvPr/>
        </p:nvSpPr>
        <p:spPr>
          <a:xfrm>
            <a:off x="0" y="6345238"/>
            <a:ext cx="12192000" cy="512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아이티브에이아이 보도자료 - 뉴스와이어">
            <a:extLst>
              <a:ext uri="{FF2B5EF4-FFF2-40B4-BE49-F238E27FC236}">
                <a16:creationId xmlns:a16="http://schemas.microsoft.com/office/drawing/2014/main" id="{E2A09AB1-1208-DEA7-3A90-9605021405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"/>
          <a:stretch/>
        </p:blipFill>
        <p:spPr bwMode="auto">
          <a:xfrm>
            <a:off x="59703" y="6359057"/>
            <a:ext cx="1039351" cy="42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혼합형 로고">
            <a:extLst>
              <a:ext uri="{FF2B5EF4-FFF2-40B4-BE49-F238E27FC236}">
                <a16:creationId xmlns:a16="http://schemas.microsoft.com/office/drawing/2014/main" id="{261766F7-209A-2096-9758-5449C1755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425" y="6384324"/>
            <a:ext cx="2375071" cy="37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FFA0C57-21A0-606A-0412-0A6B53630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58757" y="6413121"/>
            <a:ext cx="1742057" cy="363691"/>
          </a:xfrm>
          <a:prstGeom prst="rect">
            <a:avLst/>
          </a:prstGeom>
          <a:ln w="0">
            <a:noFill/>
          </a:ln>
        </p:spPr>
      </p:pic>
      <p:pic>
        <p:nvPicPr>
          <p:cNvPr id="17" name="Picture 6" descr="ITRION">
            <a:extLst>
              <a:ext uri="{FF2B5EF4-FFF2-40B4-BE49-F238E27FC236}">
                <a16:creationId xmlns:a16="http://schemas.microsoft.com/office/drawing/2014/main" id="{DA3517B8-EE0F-6954-FA78-BBA4A3200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846" y="6406430"/>
            <a:ext cx="1426370" cy="38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5C35536-289D-6130-0FB5-26D540409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7181"/>
          <a:stretch/>
        </p:blipFill>
        <p:spPr>
          <a:xfrm>
            <a:off x="4470858" y="6406430"/>
            <a:ext cx="1360412" cy="4284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12F8500-9AF1-AFB4-8B1D-6D2D45A5F70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3024" y="6423759"/>
            <a:ext cx="1328260" cy="37572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951B17C6-6C5B-EDF2-D12B-D78BC67D1A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0417" y="6389099"/>
            <a:ext cx="2104679" cy="41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9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88C95F-2ADB-48A1-AB95-F14694C8A0DE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820822" y="2834540"/>
            <a:ext cx="4293291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연구개발 성과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DFCF39-E97D-119E-7E4F-0BF340C883DF}"/>
              </a:ext>
            </a:extLst>
          </p:cNvPr>
          <p:cNvSpPr txBox="1"/>
          <p:nvPr/>
        </p:nvSpPr>
        <p:spPr>
          <a:xfrm>
            <a:off x="3023632" y="3795877"/>
            <a:ext cx="620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연구개발 최종 목표 달성 현황</a:t>
            </a:r>
            <a:endParaRPr lang="en-US" altLang="ko-KR" sz="22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95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3118-D323-F3DF-79AA-BB8E547E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F975B36C-CFB7-EF11-67AA-07A073FCEB65}"/>
              </a:ext>
            </a:extLst>
          </p:cNvPr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C800F25-B0BC-DE36-56FC-8B0A84E90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C8FC87F-4743-DF97-C223-6F7F0931E5F4}"/>
                </a:ext>
              </a:extLst>
            </p:cNvPr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5BAB43B-534B-6EAC-29EB-EF7F077EAFD9}"/>
                  </a:ext>
                </a:extLst>
              </p:cNvPr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5525630-7D54-E736-F94E-813FF5689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7350479-822B-0A15-BFC6-C1A3B868DC31}"/>
                </a:ext>
              </a:extLst>
            </p:cNvPr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4CA8B3C-D7B4-0859-CA5D-344F3721E482}"/>
                  </a:ext>
                </a:extLst>
              </p:cNvPr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62072A8-662D-CB53-6909-38C0E22FE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4A7A703-B5B3-C2E0-39BE-AD2C75C85CC4}"/>
                </a:ext>
              </a:extLst>
            </p:cNvPr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E8D3FC2-DF76-BD8A-0FEA-0CDE5E1DBBCE}"/>
                  </a:ext>
                </a:extLst>
              </p:cNvPr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669CB9C1-7EC4-9FD8-2D55-6BE34AEBC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54C653D-9D4D-EC6C-50AC-8A6C3564135F}"/>
                </a:ext>
              </a:extLst>
            </p:cNvPr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65D6F1A-71AE-D2DF-8CB8-7E8B51CB40C2}"/>
                </a:ext>
              </a:extLst>
            </p:cNvPr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961C238-7118-AE3A-BA07-05B7E282EECD}"/>
                </a:ext>
              </a:extLst>
            </p:cNvPr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3415F1-351C-23C5-707F-2205756957D2}"/>
              </a:ext>
            </a:extLst>
          </p:cNvPr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CBEA08-1F7D-42D9-FD6E-C6ED2C70A3F2}"/>
              </a:ext>
            </a:extLst>
          </p:cNvPr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FC8EA3-3372-D958-E638-7B2FBD2CACCB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Ⅱ</a:t>
            </a:r>
            <a:endParaRPr lang="en-US" altLang="ko-KR" sz="96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D4998C77-0CB5-262E-CBFC-11EE8D34D020}"/>
              </a:ext>
            </a:extLst>
          </p:cNvPr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3DE112-6305-5136-E28D-FFB26B0BB712}"/>
              </a:ext>
            </a:extLst>
          </p:cNvPr>
          <p:cNvSpPr/>
          <p:nvPr/>
        </p:nvSpPr>
        <p:spPr>
          <a:xfrm>
            <a:off x="2820822" y="2834540"/>
            <a:ext cx="6407460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주요성과 및 </a:t>
            </a:r>
            <a:r>
              <a:rPr lang="en-US" altLang="ko-KR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계획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9BC35D2-2BFA-421C-BA11-B0E1C32A25F0}"/>
              </a:ext>
            </a:extLst>
          </p:cNvPr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7B0AF-19D5-FE12-3492-401FC4634D68}"/>
              </a:ext>
            </a:extLst>
          </p:cNvPr>
          <p:cNvSpPr txBox="1"/>
          <p:nvPr/>
        </p:nvSpPr>
        <p:spPr>
          <a:xfrm>
            <a:off x="3023632" y="3795877"/>
            <a:ext cx="620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</a:t>
            </a: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주요성과 및 </a:t>
            </a: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계획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23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FE8F-BB31-D503-383F-F2109110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256EC6D5-5213-C0E6-7770-0539E250264C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2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주요성과 및 </a:t>
            </a: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 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(1/2)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C194D-6BB0-3E18-B648-9CCAF115CB88}"/>
              </a:ext>
            </a:extLst>
          </p:cNvPr>
          <p:cNvSpPr txBox="1"/>
          <p:nvPr/>
        </p:nvSpPr>
        <p:spPr>
          <a:xfrm>
            <a:off x="307078" y="1158241"/>
            <a:ext cx="224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87C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 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주요성과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0A26D72-EC00-4CD2-8AFF-1FEE3F2B6339}"/>
              </a:ext>
            </a:extLst>
          </p:cNvPr>
          <p:cNvGrpSpPr/>
          <p:nvPr/>
        </p:nvGrpSpPr>
        <p:grpSpPr>
          <a:xfrm>
            <a:off x="549220" y="1778255"/>
            <a:ext cx="150368" cy="155776"/>
            <a:chOff x="4657725" y="3038478"/>
            <a:chExt cx="661990" cy="68579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A28CE3F9-0FBF-4526-A4A6-66CF233C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F3798C34-5E08-44E3-9E6C-14D3011B0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5176BC-429C-4AAC-8B4C-3817B24E8E13}"/>
              </a:ext>
            </a:extLst>
          </p:cNvPr>
          <p:cNvSpPr/>
          <p:nvPr/>
        </p:nvSpPr>
        <p:spPr>
          <a:xfrm>
            <a:off x="612931" y="1587948"/>
            <a:ext cx="11757121" cy="795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철 스크랩 종류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(semantic)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 객체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(instance)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동시에 구분하는 철 스크랩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모델 개발</a:t>
            </a:r>
            <a:endParaRPr lang="en-US" altLang="ko-KR" sz="1600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철 스크랩 분류 정확도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72% 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달성 및 국내 학술 저널 논문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건 게재</a:t>
            </a:r>
            <a:endParaRPr lang="en-US" altLang="ko-KR" sz="1600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934410-AB1D-4A90-A5E2-A44FC9FA125F}"/>
              </a:ext>
            </a:extLst>
          </p:cNvPr>
          <p:cNvGrpSpPr/>
          <p:nvPr/>
        </p:nvGrpSpPr>
        <p:grpSpPr>
          <a:xfrm>
            <a:off x="549220" y="2116813"/>
            <a:ext cx="150368" cy="155776"/>
            <a:chOff x="4657725" y="3038478"/>
            <a:chExt cx="661990" cy="685797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50CC6961-2647-4460-9331-4B3A359C2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77831521-AB3C-46E4-B111-16D0FE7CC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F564AB-AB2F-4846-9A6F-BC45942087F3}"/>
              </a:ext>
            </a:extLst>
          </p:cNvPr>
          <p:cNvGrpSpPr/>
          <p:nvPr/>
        </p:nvGrpSpPr>
        <p:grpSpPr>
          <a:xfrm>
            <a:off x="401826" y="2859658"/>
            <a:ext cx="11388348" cy="3493484"/>
            <a:chOff x="549220" y="2859658"/>
            <a:chExt cx="11388348" cy="3493484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DB8CD613-BB2B-4E77-954B-4934259B0C82}"/>
                </a:ext>
              </a:extLst>
            </p:cNvPr>
            <p:cNvGrpSpPr/>
            <p:nvPr/>
          </p:nvGrpSpPr>
          <p:grpSpPr>
            <a:xfrm>
              <a:off x="549220" y="3050261"/>
              <a:ext cx="6878343" cy="3302881"/>
              <a:chOff x="5709195" y="2975469"/>
              <a:chExt cx="7290600" cy="3258667"/>
            </a:xfrm>
          </p:grpSpPr>
          <p:sp>
            <p:nvSpPr>
              <p:cNvPr id="69" name="사각형: 둥근 위쪽 모서리 37">
                <a:extLst>
                  <a:ext uri="{FF2B5EF4-FFF2-40B4-BE49-F238E27FC236}">
                    <a16:creationId xmlns:a16="http://schemas.microsoft.com/office/drawing/2014/main" id="{A1B22546-B7C7-48DC-AF62-87EEDC4E2C83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70" name="사각형: 둥근 모서리 38">
                <a:extLst>
                  <a:ext uri="{FF2B5EF4-FFF2-40B4-BE49-F238E27FC236}">
                    <a16:creationId xmlns:a16="http://schemas.microsoft.com/office/drawing/2014/main" id="{E3F74EF6-A336-41A2-880F-9DBA12493416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E6FC88E6-9275-4C63-8BC2-3151043AB8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42"/>
            <a:stretch/>
          </p:blipFill>
          <p:spPr>
            <a:xfrm>
              <a:off x="781168" y="3340776"/>
              <a:ext cx="6421669" cy="2787992"/>
            </a:xfrm>
            <a:prstGeom prst="rect">
              <a:avLst/>
            </a:prstGeom>
          </p:spPr>
        </p:pic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CBA79A63-8A27-4E77-8A72-8C5BB483202B}"/>
                </a:ext>
              </a:extLst>
            </p:cNvPr>
            <p:cNvGrpSpPr/>
            <p:nvPr/>
          </p:nvGrpSpPr>
          <p:grpSpPr>
            <a:xfrm>
              <a:off x="7590087" y="3049172"/>
              <a:ext cx="4347481" cy="3302881"/>
              <a:chOff x="5709195" y="2975469"/>
              <a:chExt cx="7290600" cy="3258667"/>
            </a:xfrm>
          </p:grpSpPr>
          <p:sp>
            <p:nvSpPr>
              <p:cNvPr id="74" name="사각형: 둥근 위쪽 모서리 37">
                <a:extLst>
                  <a:ext uri="{FF2B5EF4-FFF2-40B4-BE49-F238E27FC236}">
                    <a16:creationId xmlns:a16="http://schemas.microsoft.com/office/drawing/2014/main" id="{189AEC53-DCAA-439C-84F5-2895991C7AFB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75" name="사각형: 둥근 모서리 38">
                <a:extLst>
                  <a:ext uri="{FF2B5EF4-FFF2-40B4-BE49-F238E27FC236}">
                    <a16:creationId xmlns:a16="http://schemas.microsoft.com/office/drawing/2014/main" id="{DBC5B286-6223-423D-B435-44F7F972FA55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62F54D92-E237-4A58-8A41-43A421A2F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7897" y="3645976"/>
              <a:ext cx="3948857" cy="2185261"/>
            </a:xfrm>
            <a:prstGeom prst="rect">
              <a:avLst/>
            </a:prstGeom>
          </p:spPr>
        </p:pic>
        <p:sp>
          <p:nvSpPr>
            <p:cNvPr id="78" name="사각형: 둥근 모서리 45">
              <a:extLst>
                <a:ext uri="{FF2B5EF4-FFF2-40B4-BE49-F238E27FC236}">
                  <a16:creationId xmlns:a16="http://schemas.microsoft.com/office/drawing/2014/main" id="{DA738301-D4B1-4478-ABB6-AC6E3B8FA51E}"/>
                </a:ext>
              </a:extLst>
            </p:cNvPr>
            <p:cNvSpPr/>
            <p:nvPr/>
          </p:nvSpPr>
          <p:spPr>
            <a:xfrm>
              <a:off x="2642260" y="2859658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모델 정성적 성능</a:t>
              </a:r>
            </a:p>
          </p:txBody>
        </p:sp>
        <p:sp>
          <p:nvSpPr>
            <p:cNvPr id="79" name="사각형: 둥근 모서리 45">
              <a:extLst>
                <a:ext uri="{FF2B5EF4-FFF2-40B4-BE49-F238E27FC236}">
                  <a16:creationId xmlns:a16="http://schemas.microsoft.com/office/drawing/2014/main" id="{F079B5E8-CF6E-4DC3-AF3A-B6C10A07CC59}"/>
                </a:ext>
              </a:extLst>
            </p:cNvPr>
            <p:cNvSpPr/>
            <p:nvPr/>
          </p:nvSpPr>
          <p:spPr>
            <a:xfrm>
              <a:off x="8416194" y="2865452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ko-KR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모델 정량적 성능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11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8BCC-AB38-4A00-80E4-BB7ACE05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13312-0243-629B-B48A-E6E078496C70}"/>
              </a:ext>
            </a:extLst>
          </p:cNvPr>
          <p:cNvSpPr txBox="1"/>
          <p:nvPr/>
        </p:nvSpPr>
        <p:spPr>
          <a:xfrm>
            <a:off x="307078" y="1158241"/>
            <a:ext cx="224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87C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2) </a:t>
            </a:r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계획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07663C-51F0-8AC0-54A8-529BDACC28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2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주요성과 및 </a:t>
            </a: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 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(1/2)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E3167D1-989E-4511-AC50-8BD89B9AF87C}"/>
              </a:ext>
            </a:extLst>
          </p:cNvPr>
          <p:cNvGrpSpPr/>
          <p:nvPr/>
        </p:nvGrpSpPr>
        <p:grpSpPr>
          <a:xfrm>
            <a:off x="549220" y="1778255"/>
            <a:ext cx="150368" cy="155776"/>
            <a:chOff x="4657725" y="3038478"/>
            <a:chExt cx="661990" cy="685797"/>
          </a:xfrm>
        </p:grpSpPr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3717072-A6B4-4350-929B-2E019922D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70BCCEAB-48B4-460C-B552-01F184987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2A1979-AFFF-4254-BAC9-C2839BADDF8C}"/>
              </a:ext>
            </a:extLst>
          </p:cNvPr>
          <p:cNvSpPr/>
          <p:nvPr/>
        </p:nvSpPr>
        <p:spPr>
          <a:xfrm>
            <a:off x="612931" y="1587948"/>
            <a:ext cx="11757121" cy="795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철 스크랩 녹 정도 예측 및 이물질 구분을 위한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모델 개발</a:t>
            </a:r>
            <a:endParaRPr lang="en-US" altLang="ko-KR" sz="1600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철 스크랩 분류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모델 고도화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분류 정확도 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80% 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달성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및 지식재산권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특허출원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논문</a:t>
            </a:r>
            <a:r>
              <a:rPr lang="en-US" altLang="ko-KR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600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확보 </a:t>
            </a:r>
            <a:endParaRPr lang="en-US" altLang="ko-KR" sz="1600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31AE1C5-B4E1-4A7B-A437-7EEB59936B8B}"/>
              </a:ext>
            </a:extLst>
          </p:cNvPr>
          <p:cNvGrpSpPr/>
          <p:nvPr/>
        </p:nvGrpSpPr>
        <p:grpSpPr>
          <a:xfrm>
            <a:off x="549220" y="2116813"/>
            <a:ext cx="150368" cy="155776"/>
            <a:chOff x="4657725" y="3038478"/>
            <a:chExt cx="661990" cy="685797"/>
          </a:xfrm>
        </p:grpSpPr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E78173FF-4F77-41D6-9E9D-2CF533571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8B2DF63D-FC2E-4D36-A437-111CF9F8A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BB16B3-DD83-466C-A8A5-3360A3AA2549}"/>
              </a:ext>
            </a:extLst>
          </p:cNvPr>
          <p:cNvGrpSpPr/>
          <p:nvPr/>
        </p:nvGrpSpPr>
        <p:grpSpPr>
          <a:xfrm>
            <a:off x="860882" y="2573331"/>
            <a:ext cx="10470235" cy="3645364"/>
            <a:chOff x="742789" y="2573331"/>
            <a:chExt cx="10470235" cy="364536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1EAD5210-A57F-4F42-A091-254540DE752B}"/>
                </a:ext>
              </a:extLst>
            </p:cNvPr>
            <p:cNvGrpSpPr/>
            <p:nvPr/>
          </p:nvGrpSpPr>
          <p:grpSpPr>
            <a:xfrm>
              <a:off x="6954863" y="2763934"/>
              <a:ext cx="4258161" cy="3454761"/>
              <a:chOff x="5709195" y="2975469"/>
              <a:chExt cx="7290600" cy="3258667"/>
            </a:xfrm>
          </p:grpSpPr>
          <p:sp>
            <p:nvSpPr>
              <p:cNvPr id="39" name="사각형: 둥근 위쪽 모서리 37">
                <a:extLst>
                  <a:ext uri="{FF2B5EF4-FFF2-40B4-BE49-F238E27FC236}">
                    <a16:creationId xmlns:a16="http://schemas.microsoft.com/office/drawing/2014/main" id="{8733DCD8-F2EF-4F73-A3CE-C7B4E9CEE58B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40" name="사각형: 둥근 모서리 38">
                <a:extLst>
                  <a:ext uri="{FF2B5EF4-FFF2-40B4-BE49-F238E27FC236}">
                    <a16:creationId xmlns:a16="http://schemas.microsoft.com/office/drawing/2014/main" id="{ED416A9E-488A-4875-ABF8-C77A8AD9AA3B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sp>
          <p:nvSpPr>
            <p:cNvPr id="41" name="사각형: 둥근 모서리 45">
              <a:extLst>
                <a:ext uri="{FF2B5EF4-FFF2-40B4-BE49-F238E27FC236}">
                  <a16:creationId xmlns:a16="http://schemas.microsoft.com/office/drawing/2014/main" id="{145B3523-033D-43AC-8C3F-7A5D4DBE847C}"/>
                </a:ext>
              </a:extLst>
            </p:cNvPr>
            <p:cNvSpPr/>
            <p:nvPr/>
          </p:nvSpPr>
          <p:spPr>
            <a:xfrm>
              <a:off x="7733101" y="2573331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철 스크랩 이물질 구분 </a:t>
              </a:r>
              <a:r>
                <a:rPr lang="en-US" altLang="ko-KR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개발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54BCB56-0F02-490E-AD42-90610782E484}"/>
                </a:ext>
              </a:extLst>
            </p:cNvPr>
            <p:cNvGrpSpPr/>
            <p:nvPr/>
          </p:nvGrpSpPr>
          <p:grpSpPr>
            <a:xfrm>
              <a:off x="742789" y="2763934"/>
              <a:ext cx="5719255" cy="3454761"/>
              <a:chOff x="5709195" y="2975469"/>
              <a:chExt cx="7290600" cy="3258667"/>
            </a:xfrm>
          </p:grpSpPr>
          <p:sp>
            <p:nvSpPr>
              <p:cNvPr id="34" name="사각형: 둥근 위쪽 모서리 37">
                <a:extLst>
                  <a:ext uri="{FF2B5EF4-FFF2-40B4-BE49-F238E27FC236}">
                    <a16:creationId xmlns:a16="http://schemas.microsoft.com/office/drawing/2014/main" id="{F29C809B-EC10-4EE4-A352-ACF64AB2B6E5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35" name="사각형: 둥근 모서리 38">
                <a:extLst>
                  <a:ext uri="{FF2B5EF4-FFF2-40B4-BE49-F238E27FC236}">
                    <a16:creationId xmlns:a16="http://schemas.microsoft.com/office/drawing/2014/main" id="{B0916AA6-9405-47D8-A8AC-AD298BAD12AF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sp>
          <p:nvSpPr>
            <p:cNvPr id="36" name="사각형: 둥근 모서리 45">
              <a:extLst>
                <a:ext uri="{FF2B5EF4-FFF2-40B4-BE49-F238E27FC236}">
                  <a16:creationId xmlns:a16="http://schemas.microsoft.com/office/drawing/2014/main" id="{1B9D9EFD-B9E3-4630-B8D7-37C72DA7B983}"/>
                </a:ext>
              </a:extLst>
            </p:cNvPr>
            <p:cNvSpPr/>
            <p:nvPr/>
          </p:nvSpPr>
          <p:spPr>
            <a:xfrm>
              <a:off x="2256285" y="2573331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철 스크랩 녹 정도 예측 </a:t>
              </a:r>
              <a:r>
                <a:rPr lang="en-US" altLang="ko-KR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개발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1BC3DF8-3CE8-46D5-AEC6-FF83F8A848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157"/>
            <a:stretch/>
          </p:blipFill>
          <p:spPr>
            <a:xfrm>
              <a:off x="7604183" y="3123195"/>
              <a:ext cx="3020992" cy="138190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BF17349-5F2A-407D-91ED-4E215F658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976" y="3142803"/>
              <a:ext cx="5253029" cy="2823883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36F8C78-B523-4C36-87BE-8DEA11D08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4"/>
            <a:stretch/>
          </p:blipFill>
          <p:spPr>
            <a:xfrm>
              <a:off x="7527523" y="4621469"/>
              <a:ext cx="3152994" cy="13819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016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7E17-0480-3E77-F518-3285B4169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B812BD4-DF49-97A9-E566-6902510ECA90}"/>
              </a:ext>
            </a:extLst>
          </p:cNvPr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8CFBE13-2855-5FE8-8656-892B2E85C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980428F-FFAC-38D7-B7DE-7AFF0139FD26}"/>
                </a:ext>
              </a:extLst>
            </p:cNvPr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270CE099-DA61-F78F-3D88-D7D913484481}"/>
                  </a:ext>
                </a:extLst>
              </p:cNvPr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5D2A2541-275B-7E9B-A5D2-C48A95B52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B8AF3B7-4126-28ED-FDD2-F350AE1493FA}"/>
                </a:ext>
              </a:extLst>
            </p:cNvPr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69D8D167-F5F0-E24D-CA13-BF27232D850E}"/>
                  </a:ext>
                </a:extLst>
              </p:cNvPr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DC1D178E-5D2D-1B63-8202-736E09CB3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F7DE3D5-6B67-7B13-1AAF-FEA6EFB36EA3}"/>
                </a:ext>
              </a:extLst>
            </p:cNvPr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222E7E9-A135-A841-9324-6D075D0EFBC9}"/>
                  </a:ext>
                </a:extLst>
              </p:cNvPr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CF315DE7-E9D3-DF73-A7E3-6F2761B41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34048B1-D979-5F09-C87A-F7C32235C8C1}"/>
                </a:ext>
              </a:extLst>
            </p:cNvPr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5B827527-6BE9-05A2-FBB2-78ACF91BCE2D}"/>
                </a:ext>
              </a:extLst>
            </p:cNvPr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8B940DC-6C11-A065-6E46-5C05D4CDCC94}"/>
                </a:ext>
              </a:extLst>
            </p:cNvPr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B4AA7C-104D-37EA-C790-F0C1F8624CA8}"/>
              </a:ext>
            </a:extLst>
          </p:cNvPr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CD203C-A066-3AC3-57B9-A8E874507749}"/>
              </a:ext>
            </a:extLst>
          </p:cNvPr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F9D9DA-F21D-C479-205B-E80E840C6194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endParaRPr lang="en-US" altLang="ko-KR" sz="96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3584CB-E7C0-7EA5-51D8-620C99C90103}"/>
              </a:ext>
            </a:extLst>
          </p:cNvPr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706DDE-0059-AA16-4F15-40ACA20739D7}"/>
              </a:ext>
            </a:extLst>
          </p:cNvPr>
          <p:cNvSpPr/>
          <p:nvPr/>
        </p:nvSpPr>
        <p:spPr>
          <a:xfrm>
            <a:off x="2820822" y="2834540"/>
            <a:ext cx="3239285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애로사항 및 건의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9FD88D0-ED77-B537-6C1D-FDE31939341D}"/>
              </a:ext>
            </a:extLst>
          </p:cNvPr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58E5C-55F5-6A10-A4B9-66C4CD43F76F}"/>
              </a:ext>
            </a:extLst>
          </p:cNvPr>
          <p:cNvSpPr txBox="1"/>
          <p:nvPr/>
        </p:nvSpPr>
        <p:spPr>
          <a:xfrm>
            <a:off x="3023632" y="3795877"/>
            <a:ext cx="6204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실증 및 기술개발 과정 애로사항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운영 및 제도 개선 관련 건의사항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846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0" name="타원 19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1" name="그룹 10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12" name="그룹 11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16" name="타원 15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13" name="직선 연결선 1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/>
          <p:cNvSpPr/>
          <p:nvPr/>
        </p:nvSpPr>
        <p:spPr>
          <a:xfrm>
            <a:off x="0" y="4705351"/>
            <a:ext cx="12192000" cy="215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8C95F-2ADB-48A1-AB95-F14694C8A0DE}"/>
              </a:ext>
            </a:extLst>
          </p:cNvPr>
          <p:cNvSpPr txBox="1"/>
          <p:nvPr/>
        </p:nvSpPr>
        <p:spPr>
          <a:xfrm>
            <a:off x="863589" y="2495660"/>
            <a:ext cx="2630527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ko-KR" altLang="en-US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17830" y="2119171"/>
            <a:ext cx="4730375" cy="2996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100" kern="0">
                <a:solidFill>
                  <a:schemeClr val="tx2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100" kern="0" dirty="0">
              <a:solidFill>
                <a:schemeClr val="tx2">
                  <a:lumMod val="20000"/>
                  <a:lumOff val="8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78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5350</TotalTime>
  <Words>252</Words>
  <Application>Microsoft Office PowerPoint</Application>
  <PresentationFormat>와이드스크린</PresentationFormat>
  <Paragraphs>39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나눔고딕 ExtraBold</vt:lpstr>
      <vt:lpstr>Arial</vt:lpstr>
      <vt:lpstr>맑은 고딕</vt:lpstr>
      <vt:lpstr>나눔스퀘어 네오 Bold</vt:lpstr>
      <vt:lpstr>KoPubWorld돋움체 Medium</vt:lpstr>
      <vt:lpstr>KoPubWorld돋움체 Bold</vt:lpstr>
      <vt:lpstr>KoPub바탕체 Bold</vt:lpstr>
      <vt:lpstr>Wingdings</vt:lpstr>
      <vt:lpstr>나눔스퀘어 네오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iscilab</dc:creator>
  <cp:lastModifiedBy>user</cp:lastModifiedBy>
  <cp:revision>288</cp:revision>
  <dcterms:created xsi:type="dcterms:W3CDTF">2024-04-08T08:23:55Z</dcterms:created>
  <dcterms:modified xsi:type="dcterms:W3CDTF">2025-12-10T01:04:13Z</dcterms:modified>
</cp:coreProperties>
</file>
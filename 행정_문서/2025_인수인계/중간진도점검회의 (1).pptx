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488" r:id="rId2"/>
    <p:sldId id="487" r:id="rId3"/>
    <p:sldId id="490" r:id="rId4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17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4" clrIdx="0">
    <p:extLst>
      <p:ext uri="{19B8F6BF-5375-455C-9EA6-DF929625EA0E}">
        <p15:presenceInfo xmlns:p15="http://schemas.microsoft.com/office/powerpoint/2012/main" userId="c391d1e78c4bdd56" providerId="Windows Live"/>
      </p:ext>
    </p:extLst>
  </p:cmAuthor>
  <p:cmAuthor id="2" name="varde" initials="v" lastIdx="1" clrIdx="1">
    <p:extLst>
      <p:ext uri="{19B8F6BF-5375-455C-9EA6-DF929625EA0E}">
        <p15:presenceInfo xmlns:p15="http://schemas.microsoft.com/office/powerpoint/2012/main" userId="vard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1925C"/>
    <a:srgbClr val="BFBFBF"/>
    <a:srgbClr val="71BF44"/>
    <a:srgbClr val="B8DFA1"/>
    <a:srgbClr val="95CF72"/>
    <a:srgbClr val="AAD98F"/>
    <a:srgbClr val="FFFFFF"/>
    <a:srgbClr val="3BE36F"/>
    <a:srgbClr val="D9D9D9"/>
    <a:srgbClr val="8F9B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81" autoAdjust="0"/>
    <p:restoredTop sz="97421" autoAdjust="0"/>
  </p:normalViewPr>
  <p:slideViewPr>
    <p:cSldViewPr snapToGrid="0" showGuides="1">
      <p:cViewPr varScale="1">
        <p:scale>
          <a:sx n="118" d="100"/>
          <a:sy n="118" d="100"/>
        </p:scale>
        <p:origin x="120" y="204"/>
      </p:cViewPr>
      <p:guideLst>
        <p:guide pos="217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7428"/>
    </p:cViewPr>
  </p:sorterViewPr>
  <p:notesViewPr>
    <p:cSldViewPr snapToGrid="0">
      <p:cViewPr varScale="1">
        <p:scale>
          <a:sx n="120" d="100"/>
          <a:sy n="120" d="100"/>
        </p:scale>
        <p:origin x="496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pPr>
            <a:r>
              <a:rPr lang="ko-KR" sz="1800"/>
              <a:t>모델 성능지표 비교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panoptic-DeepLab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PQ</c:v>
                </c:pt>
                <c:pt idx="1">
                  <c:v>PQ(th)</c:v>
                </c:pt>
                <c:pt idx="2">
                  <c:v>PQ(st)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61.046999999999997</c:v>
                </c:pt>
                <c:pt idx="1">
                  <c:v>51.82</c:v>
                </c:pt>
                <c:pt idx="2">
                  <c:v>79.5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F9-4A70-BCAD-F20124C636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Mask2Former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PQ</c:v>
                </c:pt>
                <c:pt idx="1">
                  <c:v>PQ(th)</c:v>
                </c:pt>
                <c:pt idx="2">
                  <c:v>PQ(st)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82.813000000000002</c:v>
                </c:pt>
                <c:pt idx="1">
                  <c:v>85.144999999999996</c:v>
                </c:pt>
                <c:pt idx="2">
                  <c:v>78.147999999999996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F9-4A70-BCAD-F20124C636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MaskDINO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PQ</c:v>
                </c:pt>
                <c:pt idx="1">
                  <c:v>PQ(th)</c:v>
                </c:pt>
                <c:pt idx="2">
                  <c:v>PQ(st)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87.894999999999996</c:v>
                </c:pt>
                <c:pt idx="1">
                  <c:v>84.834999999999994</c:v>
                </c:pt>
                <c:pt idx="2">
                  <c:v>94.013999999999996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5F9-4A70-BCAD-F20124C6360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Yolov8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PQ</c:v>
                </c:pt>
                <c:pt idx="1">
                  <c:v>PQ(th)</c:v>
                </c:pt>
                <c:pt idx="2">
                  <c:v>PQ(st)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97</c:v>
                </c:pt>
                <c:pt idx="1">
                  <c:v>96.3</c:v>
                </c:pt>
                <c:pt idx="2">
                  <c:v>98.5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5F9-4A70-BCAD-F20124C636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68270751"/>
        <c:axId val="1168274911"/>
      </c:lineChart>
      <c:catAx>
        <c:axId val="1168270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pPr>
            <a:endParaRPr lang="ko-KR"/>
          </a:p>
        </c:txPr>
        <c:crossAx val="1168274911"/>
        <c:crosses val="autoZero"/>
        <c:auto val="1"/>
        <c:lblAlgn val="ctr"/>
        <c:lblOffset val="100"/>
        <c:noMultiLvlLbl val="0"/>
      </c:catAx>
      <c:valAx>
        <c:axId val="1168274911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pPr>
            <a:endParaRPr lang="ko-KR"/>
          </a:p>
        </c:txPr>
        <c:crossAx val="11682707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j-ea"/>
          <a:ea typeface="+mj-ea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fld id="{C1DD81CE-9D17-43DD-97FE-A7025C0039ED}" type="datetimeFigureOut">
              <a:rPr lang="ko-KR" altLang="en-US" smtClean="0"/>
              <a:pPr/>
              <a:t>2025-08-06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fld id="{E40F80B0-75DF-4AC5-8D50-DC8D1F4D596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7672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2020603020101020101" pitchFamily="18" charset="-127"/>
        <a:ea typeface="KoPub돋움체 Medium" panose="02020603020101020101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oPub돋움체 Medium" panose="02020603020101020101" pitchFamily="18" charset="-127"/>
        <a:ea typeface="KoPub돋움체 Medium" panose="02020603020101020101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oPub돋움체 Medium" panose="02020603020101020101" pitchFamily="18" charset="-127"/>
        <a:ea typeface="KoPub돋움체 Medium" panose="02020603020101020101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oPub돋움체 Medium" panose="02020603020101020101" pitchFamily="18" charset="-127"/>
        <a:ea typeface="KoPub돋움체 Medium" panose="02020603020101020101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oPub돋움체 Medium" panose="02020603020101020101" pitchFamily="18" charset="-127"/>
        <a:ea typeface="KoPub돋움체 Medium" panose="02020603020101020101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75543" y="266244"/>
            <a:ext cx="1519043" cy="25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0019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812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416514" y="4286463"/>
            <a:ext cx="5096080" cy="131112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algn="l" defTabSz="914400" rtl="0" eaLnBrk="1" latinLnBrk="1" hangingPunct="1">
              <a:defRPr lang="ko-KR" altLang="en-US" sz="4400" kern="12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다음_SemiBold" panose="02000700060000000000" pitchFamily="2" charset="-127"/>
                <a:ea typeface="다음_SemiBold" panose="02000700060000000000" pitchFamily="2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31250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34" y="2573"/>
            <a:ext cx="5616403" cy="883993"/>
          </a:xfrm>
          <a:prstGeom prst="rect">
            <a:avLst/>
          </a:prstGeom>
        </p:spPr>
      </p:pic>
      <p:cxnSp>
        <p:nvCxnSpPr>
          <p:cNvPr id="2" name="직선 연결선 1"/>
          <p:cNvCxnSpPr/>
          <p:nvPr userDrawn="1"/>
        </p:nvCxnSpPr>
        <p:spPr>
          <a:xfrm>
            <a:off x="0" y="882795"/>
            <a:ext cx="9615872" cy="0"/>
          </a:xfrm>
          <a:prstGeom prst="line">
            <a:avLst/>
          </a:prstGeom>
          <a:noFill/>
          <a:ln w="15875" cap="flat" cmpd="sng" algn="ctr">
            <a:solidFill>
              <a:srgbClr val="2C4C64">
                <a:alpha val="53000"/>
              </a:srgbClr>
            </a:solidFill>
            <a:prstDash val="solid"/>
            <a:miter lim="800000"/>
          </a:ln>
          <a:effectLst/>
        </p:spPr>
      </p:cxnSp>
      <p:sp>
        <p:nvSpPr>
          <p:cNvPr id="3" name="직사각형 2"/>
          <p:cNvSpPr/>
          <p:nvPr userDrawn="1"/>
        </p:nvSpPr>
        <p:spPr>
          <a:xfrm>
            <a:off x="9561513" y="-1"/>
            <a:ext cx="344487" cy="6858001"/>
          </a:xfrm>
          <a:prstGeom prst="rect">
            <a:avLst/>
          </a:prstGeom>
          <a:gradFill>
            <a:gsLst>
              <a:gs pos="21000">
                <a:srgbClr val="2E5069"/>
              </a:gs>
              <a:gs pos="0">
                <a:srgbClr val="142535"/>
              </a:gs>
              <a:gs pos="100000">
                <a:srgbClr val="8DCA51"/>
              </a:gs>
            </a:gsLst>
            <a:lin ang="1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4" name="이등변 삼각형 3"/>
          <p:cNvSpPr/>
          <p:nvPr userDrawn="1"/>
        </p:nvSpPr>
        <p:spPr>
          <a:xfrm flipV="1">
            <a:off x="0" y="-1"/>
            <a:ext cx="258815" cy="253501"/>
          </a:xfrm>
          <a:prstGeom prst="triangle">
            <a:avLst>
              <a:gd name="adj" fmla="val 0"/>
            </a:avLst>
          </a:prstGeom>
          <a:solidFill>
            <a:srgbClr val="8DCA5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8DCA52"/>
              </a:solidFill>
              <a:effectLst/>
              <a:uLnTx/>
              <a:uFillTx/>
              <a:latin typeface="Century Gothic" panose="020B0502020202020204" pitchFamily="34" charset="0"/>
              <a:ea typeface="KoPub돋움체 Medium" panose="02020603020101020101" pitchFamily="18" charset="-127"/>
              <a:cs typeface="+mn-cs"/>
            </a:endParaRPr>
          </a:p>
        </p:txBody>
      </p:sp>
      <p:grpSp>
        <p:nvGrpSpPr>
          <p:cNvPr id="9" name="그룹 8"/>
          <p:cNvGrpSpPr/>
          <p:nvPr userDrawn="1"/>
        </p:nvGrpSpPr>
        <p:grpSpPr>
          <a:xfrm>
            <a:off x="9624052" y="778872"/>
            <a:ext cx="212919" cy="212919"/>
            <a:chOff x="9653891" y="763632"/>
            <a:chExt cx="212919" cy="212919"/>
          </a:xfrm>
        </p:grpSpPr>
        <p:sp>
          <p:nvSpPr>
            <p:cNvPr id="10" name="타원 9"/>
            <p:cNvSpPr/>
            <p:nvPr/>
          </p:nvSpPr>
          <p:spPr>
            <a:xfrm>
              <a:off x="9653891" y="763632"/>
              <a:ext cx="212919" cy="2129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Century Gothic" panose="020B0502020202020204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744320" y="800842"/>
              <a:ext cx="3206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6293A"/>
                  </a:solidFill>
                  <a:effectLst/>
                  <a:uLnTx/>
                  <a:uFillTx/>
                  <a:latin typeface="Century Gothic"/>
                  <a:ea typeface="KoPub돋움체 Light"/>
                  <a:cs typeface="+mn-cs"/>
                </a:rPr>
                <a:t>I</a:t>
              </a:r>
            </a:p>
          </p:txBody>
        </p:sp>
      </p:grpSp>
      <p:sp>
        <p:nvSpPr>
          <p:cNvPr id="12" name="TextBox 11"/>
          <p:cNvSpPr txBox="1"/>
          <p:nvPr userDrawn="1"/>
        </p:nvSpPr>
        <p:spPr>
          <a:xfrm>
            <a:off x="4809765" y="6604415"/>
            <a:ext cx="286472" cy="138499"/>
          </a:xfrm>
          <a:prstGeom prst="rect">
            <a:avLst/>
          </a:prstGeom>
          <a:noFill/>
        </p:spPr>
        <p:txBody>
          <a:bodyPr wrap="none" lIns="72000" tIns="0" rIns="72000" bIns="0" rtlCol="0" anchor="ctr">
            <a:spAutoFit/>
          </a:bodyPr>
          <a:lstStyle/>
          <a:p>
            <a:pPr algn="ctr"/>
            <a:fld id="{9405539E-90D7-4AF8-A7AD-A7F4863668DB}" type="slidenum">
              <a:rPr lang="en-US" altLang="ko-KR" sz="90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D6E71"/>
                </a:solidFill>
                <a:latin typeface="+mj-lt"/>
                <a:ea typeface="다음_SemiBold" panose="02000700060000000000" pitchFamily="2" charset="-127"/>
              </a:rPr>
              <a:t>‹#›</a:t>
            </a:fld>
            <a:endParaRPr lang="ko-KR" altLang="en-US" sz="5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6D6E71"/>
              </a:solidFill>
              <a:latin typeface="다음_Regular" panose="02000603060000000000" pitchFamily="2" charset="-127"/>
              <a:ea typeface="다음_Regular" panose="02000603060000000000" pitchFamily="2" charset="-127"/>
            </a:endParaRPr>
          </a:p>
        </p:txBody>
      </p:sp>
      <p:sp>
        <p:nvSpPr>
          <p:cNvPr id="15" name="제목 14"/>
          <p:cNvSpPr>
            <a:spLocks noGrp="1"/>
          </p:cNvSpPr>
          <p:nvPr>
            <p:ph type="title"/>
          </p:nvPr>
        </p:nvSpPr>
        <p:spPr>
          <a:xfrm>
            <a:off x="303983" y="227711"/>
            <a:ext cx="4167217" cy="5078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algn="l" defTabSz="914400" rtl="0" eaLnBrk="1" latinLnBrk="1" hangingPunct="1">
              <a:defRPr lang="ko-KR" altLang="en-US" sz="3000" kern="12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4473C4"/>
                </a:solidFill>
                <a:latin typeface="다음_SemiBold" panose="02000700060000000000" pitchFamily="2" charset="-127"/>
                <a:ea typeface="다음_SemiBold" panose="02000700060000000000" pitchFamily="2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65877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34" y="2573"/>
            <a:ext cx="5616403" cy="883993"/>
          </a:xfrm>
          <a:prstGeom prst="rect">
            <a:avLst/>
          </a:prstGeom>
        </p:spPr>
      </p:pic>
      <p:cxnSp>
        <p:nvCxnSpPr>
          <p:cNvPr id="2" name="직선 연결선 1"/>
          <p:cNvCxnSpPr/>
          <p:nvPr userDrawn="1"/>
        </p:nvCxnSpPr>
        <p:spPr>
          <a:xfrm>
            <a:off x="0" y="882795"/>
            <a:ext cx="9615872" cy="0"/>
          </a:xfrm>
          <a:prstGeom prst="line">
            <a:avLst/>
          </a:prstGeom>
          <a:noFill/>
          <a:ln w="15875" cap="flat" cmpd="sng" algn="ctr">
            <a:solidFill>
              <a:srgbClr val="2C4C64">
                <a:alpha val="53000"/>
              </a:srgbClr>
            </a:solidFill>
            <a:prstDash val="solid"/>
            <a:miter lim="800000"/>
          </a:ln>
          <a:effectLst/>
        </p:spPr>
      </p:cxnSp>
      <p:sp>
        <p:nvSpPr>
          <p:cNvPr id="3" name="직사각형 2"/>
          <p:cNvSpPr/>
          <p:nvPr userDrawn="1"/>
        </p:nvSpPr>
        <p:spPr>
          <a:xfrm>
            <a:off x="9561513" y="-1"/>
            <a:ext cx="344487" cy="6858001"/>
          </a:xfrm>
          <a:prstGeom prst="rect">
            <a:avLst/>
          </a:prstGeom>
          <a:gradFill>
            <a:gsLst>
              <a:gs pos="21000">
                <a:srgbClr val="2E5069"/>
              </a:gs>
              <a:gs pos="0">
                <a:srgbClr val="142535"/>
              </a:gs>
              <a:gs pos="100000">
                <a:srgbClr val="8DCA51"/>
              </a:gs>
            </a:gsLst>
            <a:lin ang="1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4" name="이등변 삼각형 3"/>
          <p:cNvSpPr/>
          <p:nvPr userDrawn="1"/>
        </p:nvSpPr>
        <p:spPr>
          <a:xfrm flipV="1">
            <a:off x="0" y="-1"/>
            <a:ext cx="258815" cy="253501"/>
          </a:xfrm>
          <a:prstGeom prst="triangle">
            <a:avLst>
              <a:gd name="adj" fmla="val 0"/>
            </a:avLst>
          </a:prstGeom>
          <a:solidFill>
            <a:srgbClr val="8DCA5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8DCA52"/>
              </a:solidFill>
              <a:effectLst/>
              <a:uLnTx/>
              <a:uFillTx/>
              <a:latin typeface="Century Gothic" panose="020B0502020202020204" pitchFamily="34" charset="0"/>
              <a:ea typeface="KoPub돋움체 Medium" panose="02020603020101020101" pitchFamily="18" charset="-127"/>
              <a:cs typeface="+mn-cs"/>
            </a:endParaRPr>
          </a:p>
        </p:txBody>
      </p:sp>
      <p:grpSp>
        <p:nvGrpSpPr>
          <p:cNvPr id="9" name="그룹 8"/>
          <p:cNvGrpSpPr/>
          <p:nvPr userDrawn="1"/>
        </p:nvGrpSpPr>
        <p:grpSpPr>
          <a:xfrm>
            <a:off x="9624052" y="778872"/>
            <a:ext cx="212919" cy="212919"/>
            <a:chOff x="9653891" y="763632"/>
            <a:chExt cx="212919" cy="212919"/>
          </a:xfrm>
        </p:grpSpPr>
        <p:sp>
          <p:nvSpPr>
            <p:cNvPr id="10" name="타원 9"/>
            <p:cNvSpPr/>
            <p:nvPr/>
          </p:nvSpPr>
          <p:spPr>
            <a:xfrm>
              <a:off x="9653891" y="763632"/>
              <a:ext cx="212919" cy="2129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Century Gothic" panose="020B0502020202020204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728290" y="800842"/>
              <a:ext cx="6412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6293A"/>
                  </a:solidFill>
                  <a:effectLst/>
                  <a:uLnTx/>
                  <a:uFillTx/>
                  <a:latin typeface="Century Gothic"/>
                  <a:ea typeface="KoPub돋움체 Light"/>
                  <a:cs typeface="+mn-cs"/>
                </a:rPr>
                <a:t>II</a:t>
              </a:r>
            </a:p>
          </p:txBody>
        </p:sp>
      </p:grpSp>
      <p:sp>
        <p:nvSpPr>
          <p:cNvPr id="12" name="TextBox 11"/>
          <p:cNvSpPr txBox="1"/>
          <p:nvPr userDrawn="1"/>
        </p:nvSpPr>
        <p:spPr>
          <a:xfrm>
            <a:off x="4809765" y="6604415"/>
            <a:ext cx="286472" cy="138499"/>
          </a:xfrm>
          <a:prstGeom prst="rect">
            <a:avLst/>
          </a:prstGeom>
          <a:noFill/>
        </p:spPr>
        <p:txBody>
          <a:bodyPr wrap="none" lIns="72000" tIns="0" rIns="72000" bIns="0" rtlCol="0" anchor="ctr">
            <a:spAutoFit/>
          </a:bodyPr>
          <a:lstStyle/>
          <a:p>
            <a:pPr algn="ctr"/>
            <a:fld id="{9405539E-90D7-4AF8-A7AD-A7F4863668DB}" type="slidenum">
              <a:rPr lang="en-US" altLang="ko-KR" sz="90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D6E71"/>
                </a:solidFill>
                <a:latin typeface="+mj-lt"/>
                <a:ea typeface="다음_SemiBold" panose="02000700060000000000" pitchFamily="2" charset="-127"/>
              </a:rPr>
              <a:t>‹#›</a:t>
            </a:fld>
            <a:endParaRPr lang="ko-KR" altLang="en-US" sz="5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6D6E71"/>
              </a:solidFill>
              <a:latin typeface="다음_Regular" panose="02000603060000000000" pitchFamily="2" charset="-127"/>
              <a:ea typeface="다음_Regular" panose="02000603060000000000" pitchFamily="2" charset="-127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344489" y="6619804"/>
            <a:ext cx="2039020" cy="10772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ko-KR" altLang="en-US" sz="7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2">
                    <a:lumMod val="60000"/>
                    <a:lumOff val="40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</a:rPr>
              <a:t>한국재료연구원 서식표준화 디자인시스템 교육설명회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9563923" y="1031264"/>
            <a:ext cx="323165" cy="993221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pPr algn="r"/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다음_Regular" panose="02000603060000000000" pitchFamily="2" charset="-127"/>
                <a:ea typeface="다음_Regular" panose="02000603060000000000" pitchFamily="2" charset="-127"/>
              </a:rPr>
              <a:t>목차를 기입합니다</a:t>
            </a:r>
          </a:p>
        </p:txBody>
      </p:sp>
      <p:sp>
        <p:nvSpPr>
          <p:cNvPr id="15" name="제목 14"/>
          <p:cNvSpPr>
            <a:spLocks noGrp="1"/>
          </p:cNvSpPr>
          <p:nvPr>
            <p:ph type="title"/>
          </p:nvPr>
        </p:nvSpPr>
        <p:spPr>
          <a:xfrm>
            <a:off x="303983" y="227711"/>
            <a:ext cx="8543925" cy="507831"/>
          </a:xfrm>
          <a:prstGeom prst="rect">
            <a:avLst/>
          </a:prstGeom>
        </p:spPr>
        <p:txBody>
          <a:bodyPr>
            <a:spAutoFit/>
          </a:bodyPr>
          <a:lstStyle>
            <a:lvl1pPr marL="0" algn="l" defTabSz="914400" rtl="0" eaLnBrk="1" latinLnBrk="1" hangingPunct="1">
              <a:defRPr lang="ko-KR" altLang="en-US" sz="3000" kern="12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4473C4"/>
                </a:solidFill>
                <a:latin typeface="다음_SemiBold" panose="02000700060000000000" pitchFamily="2" charset="-127"/>
                <a:ea typeface="다음_SemiBold" panose="02000700060000000000" pitchFamily="2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2872" y="6557149"/>
            <a:ext cx="1105528" cy="18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039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34" y="2573"/>
            <a:ext cx="5616403" cy="883993"/>
          </a:xfrm>
          <a:prstGeom prst="rect">
            <a:avLst/>
          </a:prstGeom>
        </p:spPr>
      </p:pic>
      <p:cxnSp>
        <p:nvCxnSpPr>
          <p:cNvPr id="2" name="직선 연결선 1"/>
          <p:cNvCxnSpPr/>
          <p:nvPr userDrawn="1"/>
        </p:nvCxnSpPr>
        <p:spPr>
          <a:xfrm>
            <a:off x="0" y="882795"/>
            <a:ext cx="9615872" cy="0"/>
          </a:xfrm>
          <a:prstGeom prst="line">
            <a:avLst/>
          </a:prstGeom>
          <a:noFill/>
          <a:ln w="15875" cap="flat" cmpd="sng" algn="ctr">
            <a:solidFill>
              <a:srgbClr val="2C4C64">
                <a:alpha val="53000"/>
              </a:srgbClr>
            </a:solidFill>
            <a:prstDash val="solid"/>
            <a:miter lim="800000"/>
          </a:ln>
          <a:effectLst/>
        </p:spPr>
      </p:cxnSp>
      <p:sp>
        <p:nvSpPr>
          <p:cNvPr id="3" name="직사각형 2"/>
          <p:cNvSpPr/>
          <p:nvPr userDrawn="1"/>
        </p:nvSpPr>
        <p:spPr>
          <a:xfrm>
            <a:off x="9561513" y="-1"/>
            <a:ext cx="344487" cy="6858001"/>
          </a:xfrm>
          <a:prstGeom prst="rect">
            <a:avLst/>
          </a:prstGeom>
          <a:gradFill>
            <a:gsLst>
              <a:gs pos="21000">
                <a:srgbClr val="2E5069"/>
              </a:gs>
              <a:gs pos="0">
                <a:srgbClr val="142535"/>
              </a:gs>
              <a:gs pos="100000">
                <a:srgbClr val="8DCA51"/>
              </a:gs>
            </a:gsLst>
            <a:lin ang="1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4" name="이등변 삼각형 3"/>
          <p:cNvSpPr/>
          <p:nvPr userDrawn="1"/>
        </p:nvSpPr>
        <p:spPr>
          <a:xfrm flipV="1">
            <a:off x="0" y="-1"/>
            <a:ext cx="258815" cy="253501"/>
          </a:xfrm>
          <a:prstGeom prst="triangle">
            <a:avLst>
              <a:gd name="adj" fmla="val 0"/>
            </a:avLst>
          </a:prstGeom>
          <a:solidFill>
            <a:srgbClr val="8DCA5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8DCA52"/>
              </a:solidFill>
              <a:effectLst/>
              <a:uLnTx/>
              <a:uFillTx/>
              <a:latin typeface="Century Gothic" panose="020B0502020202020204" pitchFamily="34" charset="0"/>
              <a:ea typeface="KoPub돋움체 Medium" panose="02020603020101020101" pitchFamily="18" charset="-127"/>
              <a:cs typeface="+mn-cs"/>
            </a:endParaRPr>
          </a:p>
        </p:txBody>
      </p:sp>
      <p:grpSp>
        <p:nvGrpSpPr>
          <p:cNvPr id="9" name="그룹 8"/>
          <p:cNvGrpSpPr/>
          <p:nvPr userDrawn="1"/>
        </p:nvGrpSpPr>
        <p:grpSpPr>
          <a:xfrm>
            <a:off x="9624052" y="778872"/>
            <a:ext cx="212919" cy="212919"/>
            <a:chOff x="9653891" y="763632"/>
            <a:chExt cx="212919" cy="212919"/>
          </a:xfrm>
        </p:grpSpPr>
        <p:sp>
          <p:nvSpPr>
            <p:cNvPr id="10" name="타원 9"/>
            <p:cNvSpPr/>
            <p:nvPr/>
          </p:nvSpPr>
          <p:spPr>
            <a:xfrm>
              <a:off x="9653891" y="763632"/>
              <a:ext cx="212919" cy="2129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Century Gothic" panose="020B0502020202020204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712260" y="800842"/>
              <a:ext cx="96181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6293A"/>
                  </a:solidFill>
                  <a:effectLst/>
                  <a:uLnTx/>
                  <a:uFillTx/>
                  <a:latin typeface="Century Gothic"/>
                  <a:ea typeface="KoPub돋움체 Light"/>
                  <a:cs typeface="+mn-cs"/>
                </a:rPr>
                <a:t>III</a:t>
              </a:r>
            </a:p>
          </p:txBody>
        </p:sp>
      </p:grpSp>
      <p:sp>
        <p:nvSpPr>
          <p:cNvPr id="12" name="TextBox 11"/>
          <p:cNvSpPr txBox="1"/>
          <p:nvPr userDrawn="1"/>
        </p:nvSpPr>
        <p:spPr>
          <a:xfrm>
            <a:off x="4809765" y="6604415"/>
            <a:ext cx="286472" cy="138499"/>
          </a:xfrm>
          <a:prstGeom prst="rect">
            <a:avLst/>
          </a:prstGeom>
          <a:noFill/>
        </p:spPr>
        <p:txBody>
          <a:bodyPr wrap="none" lIns="72000" tIns="0" rIns="72000" bIns="0" rtlCol="0" anchor="ctr">
            <a:spAutoFit/>
          </a:bodyPr>
          <a:lstStyle/>
          <a:p>
            <a:pPr algn="ctr"/>
            <a:fld id="{9405539E-90D7-4AF8-A7AD-A7F4863668DB}" type="slidenum">
              <a:rPr lang="en-US" altLang="ko-KR" sz="90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D6E71"/>
                </a:solidFill>
                <a:latin typeface="+mj-lt"/>
                <a:ea typeface="다음_SemiBold" panose="02000700060000000000" pitchFamily="2" charset="-127"/>
              </a:rPr>
              <a:t>‹#›</a:t>
            </a:fld>
            <a:endParaRPr lang="ko-KR" altLang="en-US" sz="5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6D6E71"/>
              </a:solidFill>
              <a:latin typeface="다음_Regular" panose="02000603060000000000" pitchFamily="2" charset="-127"/>
              <a:ea typeface="다음_Regular" panose="02000603060000000000" pitchFamily="2" charset="-127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344489" y="6619804"/>
            <a:ext cx="2039020" cy="10772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ko-KR" altLang="en-US" sz="7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2">
                    <a:lumMod val="60000"/>
                    <a:lumOff val="40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</a:rPr>
              <a:t>한국재료연구원 서식표준화 디자인시스템 교육설명회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9563923" y="1031264"/>
            <a:ext cx="323165" cy="993221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pPr algn="r"/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다음_Regular" panose="02000603060000000000" pitchFamily="2" charset="-127"/>
                <a:ea typeface="다음_Regular" panose="02000603060000000000" pitchFamily="2" charset="-127"/>
              </a:rPr>
              <a:t>목차를 기입합니다</a:t>
            </a:r>
          </a:p>
        </p:txBody>
      </p:sp>
      <p:sp>
        <p:nvSpPr>
          <p:cNvPr id="15" name="제목 14"/>
          <p:cNvSpPr>
            <a:spLocks noGrp="1"/>
          </p:cNvSpPr>
          <p:nvPr>
            <p:ph type="title"/>
          </p:nvPr>
        </p:nvSpPr>
        <p:spPr>
          <a:xfrm>
            <a:off x="303983" y="227711"/>
            <a:ext cx="8543925" cy="507831"/>
          </a:xfrm>
          <a:prstGeom prst="rect">
            <a:avLst/>
          </a:prstGeom>
        </p:spPr>
        <p:txBody>
          <a:bodyPr>
            <a:spAutoFit/>
          </a:bodyPr>
          <a:lstStyle>
            <a:lvl1pPr marL="0" algn="l" defTabSz="914400" rtl="0" eaLnBrk="1" latinLnBrk="1" hangingPunct="1">
              <a:defRPr lang="ko-KR" altLang="en-US" sz="3000" kern="12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4473C4"/>
                </a:solidFill>
                <a:latin typeface="다음_SemiBold" panose="02000700060000000000" pitchFamily="2" charset="-127"/>
                <a:ea typeface="다음_SemiBold" panose="02000700060000000000" pitchFamily="2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2872" y="6557149"/>
            <a:ext cx="1105528" cy="18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665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34" y="2573"/>
            <a:ext cx="5616403" cy="883993"/>
          </a:xfrm>
          <a:prstGeom prst="rect">
            <a:avLst/>
          </a:prstGeom>
        </p:spPr>
      </p:pic>
      <p:cxnSp>
        <p:nvCxnSpPr>
          <p:cNvPr id="2" name="직선 연결선 1"/>
          <p:cNvCxnSpPr/>
          <p:nvPr userDrawn="1"/>
        </p:nvCxnSpPr>
        <p:spPr>
          <a:xfrm>
            <a:off x="0" y="882795"/>
            <a:ext cx="9615872" cy="0"/>
          </a:xfrm>
          <a:prstGeom prst="line">
            <a:avLst/>
          </a:prstGeom>
          <a:noFill/>
          <a:ln w="15875" cap="flat" cmpd="sng" algn="ctr">
            <a:solidFill>
              <a:srgbClr val="2C4C64">
                <a:alpha val="53000"/>
              </a:srgbClr>
            </a:solidFill>
            <a:prstDash val="solid"/>
            <a:miter lim="800000"/>
          </a:ln>
          <a:effectLst/>
        </p:spPr>
      </p:cxnSp>
      <p:sp>
        <p:nvSpPr>
          <p:cNvPr id="3" name="직사각형 2"/>
          <p:cNvSpPr/>
          <p:nvPr userDrawn="1"/>
        </p:nvSpPr>
        <p:spPr>
          <a:xfrm>
            <a:off x="9561513" y="-1"/>
            <a:ext cx="344487" cy="6858001"/>
          </a:xfrm>
          <a:prstGeom prst="rect">
            <a:avLst/>
          </a:prstGeom>
          <a:gradFill>
            <a:gsLst>
              <a:gs pos="21000">
                <a:srgbClr val="2E5069"/>
              </a:gs>
              <a:gs pos="0">
                <a:srgbClr val="142535"/>
              </a:gs>
              <a:gs pos="100000">
                <a:srgbClr val="8DCA51"/>
              </a:gs>
            </a:gsLst>
            <a:lin ang="1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4" name="이등변 삼각형 3"/>
          <p:cNvSpPr/>
          <p:nvPr userDrawn="1"/>
        </p:nvSpPr>
        <p:spPr>
          <a:xfrm flipV="1">
            <a:off x="0" y="-1"/>
            <a:ext cx="258815" cy="253501"/>
          </a:xfrm>
          <a:prstGeom prst="triangle">
            <a:avLst>
              <a:gd name="adj" fmla="val 0"/>
            </a:avLst>
          </a:prstGeom>
          <a:solidFill>
            <a:srgbClr val="8DCA5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8DCA52"/>
              </a:solidFill>
              <a:effectLst/>
              <a:uLnTx/>
              <a:uFillTx/>
              <a:latin typeface="Century Gothic" panose="020B0502020202020204" pitchFamily="34" charset="0"/>
              <a:ea typeface="KoPub돋움체 Medium" panose="02020603020101020101" pitchFamily="18" charset="-127"/>
              <a:cs typeface="+mn-cs"/>
            </a:endParaRPr>
          </a:p>
        </p:txBody>
      </p:sp>
      <p:grpSp>
        <p:nvGrpSpPr>
          <p:cNvPr id="9" name="그룹 8"/>
          <p:cNvGrpSpPr/>
          <p:nvPr userDrawn="1"/>
        </p:nvGrpSpPr>
        <p:grpSpPr>
          <a:xfrm>
            <a:off x="9624052" y="778872"/>
            <a:ext cx="212919" cy="212919"/>
            <a:chOff x="9653891" y="763632"/>
            <a:chExt cx="212919" cy="212919"/>
          </a:xfrm>
        </p:grpSpPr>
        <p:sp>
          <p:nvSpPr>
            <p:cNvPr id="10" name="타원 9"/>
            <p:cNvSpPr/>
            <p:nvPr/>
          </p:nvSpPr>
          <p:spPr>
            <a:xfrm>
              <a:off x="9653891" y="763632"/>
              <a:ext cx="212919" cy="2129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Century Gothic" panose="020B0502020202020204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704245" y="800842"/>
              <a:ext cx="112211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6293A"/>
                  </a:solidFill>
                  <a:effectLst/>
                  <a:uLnTx/>
                  <a:uFillTx/>
                  <a:latin typeface="Century Gothic"/>
                  <a:ea typeface="KoPub돋움체 Light"/>
                  <a:cs typeface="+mn-cs"/>
                </a:rPr>
                <a:t>IV</a:t>
              </a:r>
            </a:p>
          </p:txBody>
        </p:sp>
      </p:grpSp>
      <p:sp>
        <p:nvSpPr>
          <p:cNvPr id="12" name="TextBox 11"/>
          <p:cNvSpPr txBox="1"/>
          <p:nvPr userDrawn="1"/>
        </p:nvSpPr>
        <p:spPr>
          <a:xfrm>
            <a:off x="4809765" y="6604415"/>
            <a:ext cx="286472" cy="138499"/>
          </a:xfrm>
          <a:prstGeom prst="rect">
            <a:avLst/>
          </a:prstGeom>
          <a:noFill/>
        </p:spPr>
        <p:txBody>
          <a:bodyPr wrap="none" lIns="72000" tIns="0" rIns="72000" bIns="0" rtlCol="0" anchor="ctr">
            <a:spAutoFit/>
          </a:bodyPr>
          <a:lstStyle/>
          <a:p>
            <a:pPr algn="ctr"/>
            <a:fld id="{9405539E-90D7-4AF8-A7AD-A7F4863668DB}" type="slidenum">
              <a:rPr lang="en-US" altLang="ko-KR" sz="90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D6E71"/>
                </a:solidFill>
                <a:latin typeface="+mj-lt"/>
                <a:ea typeface="다음_SemiBold" panose="02000700060000000000" pitchFamily="2" charset="-127"/>
              </a:rPr>
              <a:t>‹#›</a:t>
            </a:fld>
            <a:endParaRPr lang="ko-KR" altLang="en-US" sz="5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6D6E71"/>
              </a:solidFill>
              <a:latin typeface="다음_Regular" panose="02000603060000000000" pitchFamily="2" charset="-127"/>
              <a:ea typeface="다음_Regular" panose="02000603060000000000" pitchFamily="2" charset="-127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344489" y="6619804"/>
            <a:ext cx="2039020" cy="10772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ko-KR" altLang="en-US" sz="7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2">
                    <a:lumMod val="60000"/>
                    <a:lumOff val="40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</a:rPr>
              <a:t>한국재료연구원 서식표준화 디자인시스템 교육설명회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9563923" y="1031264"/>
            <a:ext cx="323165" cy="993221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pPr algn="r"/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다음_Regular" panose="02000603060000000000" pitchFamily="2" charset="-127"/>
                <a:ea typeface="다음_Regular" panose="02000603060000000000" pitchFamily="2" charset="-127"/>
              </a:rPr>
              <a:t>목차를 기입합니다</a:t>
            </a:r>
          </a:p>
        </p:txBody>
      </p:sp>
      <p:sp>
        <p:nvSpPr>
          <p:cNvPr id="15" name="제목 14"/>
          <p:cNvSpPr>
            <a:spLocks noGrp="1"/>
          </p:cNvSpPr>
          <p:nvPr>
            <p:ph type="title"/>
          </p:nvPr>
        </p:nvSpPr>
        <p:spPr>
          <a:xfrm>
            <a:off x="303983" y="227711"/>
            <a:ext cx="8543925" cy="507831"/>
          </a:xfrm>
          <a:prstGeom prst="rect">
            <a:avLst/>
          </a:prstGeom>
        </p:spPr>
        <p:txBody>
          <a:bodyPr>
            <a:spAutoFit/>
          </a:bodyPr>
          <a:lstStyle>
            <a:lvl1pPr marL="0" algn="l" defTabSz="914400" rtl="0" eaLnBrk="1" latinLnBrk="1" hangingPunct="1">
              <a:defRPr lang="ko-KR" altLang="en-US" sz="3000" kern="12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4473C4"/>
                </a:solidFill>
                <a:latin typeface="다음_SemiBold" panose="02000700060000000000" pitchFamily="2" charset="-127"/>
                <a:ea typeface="다음_SemiBold" panose="02000700060000000000" pitchFamily="2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2872" y="6557149"/>
            <a:ext cx="1105528" cy="18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21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34" y="2573"/>
            <a:ext cx="5616403" cy="883993"/>
          </a:xfrm>
          <a:prstGeom prst="rect">
            <a:avLst/>
          </a:prstGeom>
        </p:spPr>
      </p:pic>
      <p:cxnSp>
        <p:nvCxnSpPr>
          <p:cNvPr id="2" name="직선 연결선 1"/>
          <p:cNvCxnSpPr/>
          <p:nvPr userDrawn="1"/>
        </p:nvCxnSpPr>
        <p:spPr>
          <a:xfrm>
            <a:off x="0" y="882795"/>
            <a:ext cx="9615872" cy="0"/>
          </a:xfrm>
          <a:prstGeom prst="line">
            <a:avLst/>
          </a:prstGeom>
          <a:noFill/>
          <a:ln w="15875" cap="flat" cmpd="sng" algn="ctr">
            <a:solidFill>
              <a:srgbClr val="2C4C64">
                <a:alpha val="53000"/>
              </a:srgbClr>
            </a:solidFill>
            <a:prstDash val="solid"/>
            <a:miter lim="800000"/>
          </a:ln>
          <a:effectLst/>
        </p:spPr>
      </p:cxnSp>
      <p:sp>
        <p:nvSpPr>
          <p:cNvPr id="3" name="직사각형 2"/>
          <p:cNvSpPr/>
          <p:nvPr userDrawn="1"/>
        </p:nvSpPr>
        <p:spPr>
          <a:xfrm>
            <a:off x="9561513" y="-1"/>
            <a:ext cx="344487" cy="6858001"/>
          </a:xfrm>
          <a:prstGeom prst="rect">
            <a:avLst/>
          </a:prstGeom>
          <a:gradFill>
            <a:gsLst>
              <a:gs pos="21000">
                <a:srgbClr val="2E5069"/>
              </a:gs>
              <a:gs pos="0">
                <a:srgbClr val="142535"/>
              </a:gs>
              <a:gs pos="100000">
                <a:srgbClr val="8DCA51"/>
              </a:gs>
            </a:gsLst>
            <a:lin ang="1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4" name="이등변 삼각형 3"/>
          <p:cNvSpPr/>
          <p:nvPr userDrawn="1"/>
        </p:nvSpPr>
        <p:spPr>
          <a:xfrm flipV="1">
            <a:off x="0" y="-1"/>
            <a:ext cx="258815" cy="253501"/>
          </a:xfrm>
          <a:prstGeom prst="triangle">
            <a:avLst>
              <a:gd name="adj" fmla="val 0"/>
            </a:avLst>
          </a:prstGeom>
          <a:solidFill>
            <a:srgbClr val="8DCA5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8DCA52"/>
              </a:solidFill>
              <a:effectLst/>
              <a:uLnTx/>
              <a:uFillTx/>
              <a:latin typeface="Century Gothic" panose="020B0502020202020204" pitchFamily="34" charset="0"/>
              <a:ea typeface="KoPub돋움체 Medium" panose="02020603020101020101" pitchFamily="18" charset="-127"/>
              <a:cs typeface="+mn-cs"/>
            </a:endParaRPr>
          </a:p>
        </p:txBody>
      </p:sp>
      <p:grpSp>
        <p:nvGrpSpPr>
          <p:cNvPr id="9" name="그룹 8"/>
          <p:cNvGrpSpPr/>
          <p:nvPr userDrawn="1"/>
        </p:nvGrpSpPr>
        <p:grpSpPr>
          <a:xfrm>
            <a:off x="9624052" y="778872"/>
            <a:ext cx="212919" cy="212919"/>
            <a:chOff x="9653891" y="763632"/>
            <a:chExt cx="212919" cy="212919"/>
          </a:xfrm>
        </p:grpSpPr>
        <p:sp>
          <p:nvSpPr>
            <p:cNvPr id="10" name="타원 9"/>
            <p:cNvSpPr/>
            <p:nvPr/>
          </p:nvSpPr>
          <p:spPr>
            <a:xfrm>
              <a:off x="9653891" y="763632"/>
              <a:ext cx="212919" cy="2129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Century Gothic" panose="020B0502020202020204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720275" y="800842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6293A"/>
                  </a:solidFill>
                  <a:effectLst/>
                  <a:uLnTx/>
                  <a:uFillTx/>
                  <a:latin typeface="Century Gothic"/>
                  <a:ea typeface="KoPub돋움체 Light"/>
                  <a:cs typeface="+mn-cs"/>
                </a:rPr>
                <a:t>V</a:t>
              </a:r>
            </a:p>
          </p:txBody>
        </p:sp>
      </p:grpSp>
      <p:sp>
        <p:nvSpPr>
          <p:cNvPr id="12" name="TextBox 11"/>
          <p:cNvSpPr txBox="1"/>
          <p:nvPr userDrawn="1"/>
        </p:nvSpPr>
        <p:spPr>
          <a:xfrm>
            <a:off x="4809765" y="6604415"/>
            <a:ext cx="286472" cy="138499"/>
          </a:xfrm>
          <a:prstGeom prst="rect">
            <a:avLst/>
          </a:prstGeom>
          <a:noFill/>
        </p:spPr>
        <p:txBody>
          <a:bodyPr wrap="none" lIns="72000" tIns="0" rIns="72000" bIns="0" rtlCol="0" anchor="ctr">
            <a:spAutoFit/>
          </a:bodyPr>
          <a:lstStyle/>
          <a:p>
            <a:pPr algn="ctr"/>
            <a:fld id="{9405539E-90D7-4AF8-A7AD-A7F4863668DB}" type="slidenum">
              <a:rPr lang="en-US" altLang="ko-KR" sz="90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D6E71"/>
                </a:solidFill>
                <a:latin typeface="+mj-lt"/>
                <a:ea typeface="다음_SemiBold" panose="02000700060000000000" pitchFamily="2" charset="-127"/>
              </a:rPr>
              <a:t>‹#›</a:t>
            </a:fld>
            <a:endParaRPr lang="ko-KR" altLang="en-US" sz="5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6D6E71"/>
              </a:solidFill>
              <a:latin typeface="다음_Regular" panose="02000603060000000000" pitchFamily="2" charset="-127"/>
              <a:ea typeface="다음_Regular" panose="02000603060000000000" pitchFamily="2" charset="-127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344489" y="6619804"/>
            <a:ext cx="1979709" cy="10772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ko-KR" altLang="en-US" sz="7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2">
                    <a:lumMod val="60000"/>
                    <a:lumOff val="40000"/>
                  </a:schemeClr>
                </a:solidFill>
                <a:latin typeface="다음_Regular" panose="02000603060000000000" pitchFamily="2" charset="-127"/>
                <a:ea typeface="다음_Regular" panose="02000603060000000000" pitchFamily="2" charset="-127"/>
              </a:rPr>
              <a:t>한국재료연구원 서식표준화 디자인시스템 교육설명회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9563923" y="1031264"/>
            <a:ext cx="323165" cy="993221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pPr algn="r"/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다음_Regular" panose="02000603060000000000" pitchFamily="2" charset="-127"/>
                <a:ea typeface="다음_Regular" panose="02000603060000000000" pitchFamily="2" charset="-127"/>
              </a:rPr>
              <a:t>목차를 기입합니다</a:t>
            </a:r>
          </a:p>
        </p:txBody>
      </p:sp>
      <p:sp>
        <p:nvSpPr>
          <p:cNvPr id="15" name="제목 14"/>
          <p:cNvSpPr>
            <a:spLocks noGrp="1"/>
          </p:cNvSpPr>
          <p:nvPr>
            <p:ph type="title"/>
          </p:nvPr>
        </p:nvSpPr>
        <p:spPr>
          <a:xfrm>
            <a:off x="303983" y="227711"/>
            <a:ext cx="8543925" cy="507831"/>
          </a:xfrm>
          <a:prstGeom prst="rect">
            <a:avLst/>
          </a:prstGeom>
        </p:spPr>
        <p:txBody>
          <a:bodyPr>
            <a:spAutoFit/>
          </a:bodyPr>
          <a:lstStyle>
            <a:lvl1pPr marL="0" algn="l" defTabSz="914400" rtl="0" eaLnBrk="1" latinLnBrk="1" hangingPunct="1">
              <a:defRPr lang="ko-KR" altLang="en-US" sz="3000" kern="12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4473C4"/>
                </a:solidFill>
                <a:latin typeface="다음_SemiBold" panose="02000700060000000000" pitchFamily="2" charset="-127"/>
                <a:ea typeface="다음_SemiBold" panose="02000700060000000000" pitchFamily="2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2872" y="6557149"/>
            <a:ext cx="1105528" cy="18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354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빈화면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776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5110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835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8" r:id="rId5"/>
    <p:sldLayoutId id="2147483669" r:id="rId6"/>
    <p:sldLayoutId id="2147483670" r:id="rId7"/>
    <p:sldLayoutId id="2147483671" r:id="rId8"/>
    <p:sldLayoutId id="2147483666" r:id="rId9"/>
    <p:sldLayoutId id="2147483667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9" userDrawn="1">
          <p15:clr>
            <a:srgbClr val="F26B43"/>
          </p15:clr>
        </p15:guide>
        <p15:guide id="3" pos="6023" userDrawn="1">
          <p15:clr>
            <a:srgbClr val="F26B43"/>
          </p15:clr>
        </p15:guide>
        <p15:guide id="4" pos="217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pos="58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D47FC-D566-437C-BB18-7D4E2E5FF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83" y="227711"/>
            <a:ext cx="4167217" cy="514243"/>
          </a:xfrm>
        </p:spPr>
        <p:txBody>
          <a:bodyPr/>
          <a:lstStyle/>
          <a:p>
            <a:r>
              <a:rPr lang="ko-KR" altLang="en-US" dirty="0"/>
              <a:t>데이터셋</a:t>
            </a:r>
            <a:r>
              <a:rPr lang="en-US" altLang="ko-KR" dirty="0"/>
              <a:t>, </a:t>
            </a:r>
            <a:r>
              <a:rPr lang="ko-KR" altLang="en-US" dirty="0"/>
              <a:t>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0B195E-CAEC-49E9-A78B-D9A2DC01D150}"/>
              </a:ext>
            </a:extLst>
          </p:cNvPr>
          <p:cNvSpPr txBox="1"/>
          <p:nvPr/>
        </p:nvSpPr>
        <p:spPr>
          <a:xfrm>
            <a:off x="303981" y="1110915"/>
            <a:ext cx="2548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-</a:t>
            </a:r>
            <a:r>
              <a:rPr lang="ko-KR" altLang="en-US" dirty="0">
                <a:latin typeface="+mj-ea"/>
                <a:ea typeface="+mj-ea"/>
              </a:rPr>
              <a:t>데이터 라벨설정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임시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0C4A931-41D9-46D4-85C2-89BAACB9A9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823857"/>
              </p:ext>
            </p:extLst>
          </p:nvPr>
        </p:nvGraphicFramePr>
        <p:xfrm>
          <a:off x="412272" y="1514084"/>
          <a:ext cx="3107521" cy="2322576"/>
        </p:xfrm>
        <a:graphic>
          <a:graphicData uri="http://schemas.openxmlformats.org/drawingml/2006/table">
            <a:tbl>
              <a:tblPr/>
              <a:tblGrid>
                <a:gridCol w="615416">
                  <a:extLst>
                    <a:ext uri="{9D8B030D-6E8A-4147-A177-3AD203B41FA5}">
                      <a16:colId xmlns:a16="http://schemas.microsoft.com/office/drawing/2014/main" val="1674095922"/>
                    </a:ext>
                  </a:extLst>
                </a:gridCol>
                <a:gridCol w="825237">
                  <a:extLst>
                    <a:ext uri="{9D8B030D-6E8A-4147-A177-3AD203B41FA5}">
                      <a16:colId xmlns:a16="http://schemas.microsoft.com/office/drawing/2014/main" val="4034350059"/>
                    </a:ext>
                  </a:extLst>
                </a:gridCol>
                <a:gridCol w="542317">
                  <a:extLst>
                    <a:ext uri="{9D8B030D-6E8A-4147-A177-3AD203B41FA5}">
                      <a16:colId xmlns:a16="http://schemas.microsoft.com/office/drawing/2014/main" val="2919601060"/>
                    </a:ext>
                  </a:extLst>
                </a:gridCol>
                <a:gridCol w="1124551">
                  <a:extLst>
                    <a:ext uri="{9D8B030D-6E8A-4147-A177-3AD203B41FA5}">
                      <a16:colId xmlns:a16="http://schemas.microsoft.com/office/drawing/2014/main" val="2391851827"/>
                    </a:ext>
                  </a:extLst>
                </a:gridCol>
              </a:tblGrid>
              <a:tr h="387096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b="0" dirty="0">
                          <a:latin typeface="+mj-ea"/>
                          <a:ea typeface="+mj-ea"/>
                        </a:rPr>
                        <a:t>구분</a:t>
                      </a:r>
                      <a:endParaRPr lang="en-US" sz="1600" b="0" dirty="0">
                        <a:latin typeface="+mj-ea"/>
                        <a:ea typeface="+mj-ea"/>
                      </a:endParaRP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Things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Stuff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421634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Hbeam</a:t>
                      </a:r>
                      <a:endParaRPr lang="en-US" altLang="ko-KR" sz="160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112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Truck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5886771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Pipe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145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Ground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341361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Coated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110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1600" b="0" dirty="0">
                        <a:latin typeface="+mn-ea"/>
                        <a:ea typeface="+mn-ea"/>
                      </a:endParaRP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397819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Plate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420 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1600" b="0" dirty="0">
                        <a:latin typeface="+mn-ea"/>
                        <a:ea typeface="+mn-ea"/>
                      </a:endParaRP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1516328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+mn-ea"/>
                          <a:ea typeface="+mn-ea"/>
                        </a:rPr>
                        <a:t>total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787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altLang="ko-KR" sz="1600" b="0" dirty="0">
                        <a:latin typeface="+mn-ea"/>
                        <a:ea typeface="+mn-ea"/>
                      </a:endParaRP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652518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3C470C32-FE21-4C4B-ADEB-C05302B8BB85}"/>
              </a:ext>
            </a:extLst>
          </p:cNvPr>
          <p:cNvGrpSpPr/>
          <p:nvPr/>
        </p:nvGrpSpPr>
        <p:grpSpPr>
          <a:xfrm>
            <a:off x="4067858" y="1641422"/>
            <a:ext cx="2013844" cy="1935480"/>
            <a:chOff x="4722601" y="1172557"/>
            <a:chExt cx="2736000" cy="27360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5DD0A53-8730-4340-BD41-19CD0BF02929}"/>
                </a:ext>
              </a:extLst>
            </p:cNvPr>
            <p:cNvPicPr>
              <a:picLocks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2601" y="2540557"/>
              <a:ext cx="1368000" cy="136800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3570257-08CE-49AE-B504-7150733BF928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0601" y="1172557"/>
              <a:ext cx="1368000" cy="136800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B9DB952-FF56-4D8B-8E46-83612AA7E272}"/>
                </a:ext>
              </a:extLst>
            </p:cNvPr>
            <p:cNvPicPr>
              <a:picLocks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4098"/>
            <a:stretch/>
          </p:blipFill>
          <p:spPr>
            <a:xfrm>
              <a:off x="6090601" y="2540557"/>
              <a:ext cx="1368000" cy="1368000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6DB11DB-2E01-4A15-B2B8-4CFC042F935F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22601" y="1172557"/>
              <a:ext cx="1368000" cy="1368000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C94D326-DDAB-4938-8E00-2FA31C6171D2}"/>
              </a:ext>
            </a:extLst>
          </p:cNvPr>
          <p:cNvGrpSpPr/>
          <p:nvPr/>
        </p:nvGrpSpPr>
        <p:grpSpPr>
          <a:xfrm>
            <a:off x="6729984" y="1641422"/>
            <a:ext cx="2419821" cy="1935480"/>
            <a:chOff x="6693408" y="1583818"/>
            <a:chExt cx="2474685" cy="1988628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BD6BD00-5389-495C-8776-7F11A85CAC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46426" b="2144"/>
            <a:stretch/>
          </p:blipFill>
          <p:spPr>
            <a:xfrm>
              <a:off x="8316106" y="1583818"/>
              <a:ext cx="851987" cy="1025344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AD77AD63-24D1-40A4-8C2E-8A7133C518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26739" r="39534"/>
            <a:stretch/>
          </p:blipFill>
          <p:spPr>
            <a:xfrm>
              <a:off x="6693408" y="1583818"/>
              <a:ext cx="1622698" cy="1025344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E6DED90D-762E-4CA0-B161-EC6A6FA123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16567" t="4007" r="44105"/>
            <a:stretch/>
          </p:blipFill>
          <p:spPr>
            <a:xfrm>
              <a:off x="6693408" y="2609162"/>
              <a:ext cx="2474685" cy="963284"/>
            </a:xfrm>
            <a:prstGeom prst="rect">
              <a:avLst/>
            </a:prstGeom>
          </p:spPr>
        </p:pic>
      </p:grp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8CCB212-98EC-471E-B074-396068FF8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909545"/>
              </p:ext>
            </p:extLst>
          </p:nvPr>
        </p:nvGraphicFramePr>
        <p:xfrm>
          <a:off x="412272" y="4324331"/>
          <a:ext cx="8737534" cy="1985388"/>
        </p:xfrm>
        <a:graphic>
          <a:graphicData uri="http://schemas.openxmlformats.org/drawingml/2006/table">
            <a:tbl>
              <a:tblPr/>
              <a:tblGrid>
                <a:gridCol w="1818180">
                  <a:extLst>
                    <a:ext uri="{9D8B030D-6E8A-4147-A177-3AD203B41FA5}">
                      <a16:colId xmlns:a16="http://schemas.microsoft.com/office/drawing/2014/main" val="1674095922"/>
                    </a:ext>
                  </a:extLst>
                </a:gridCol>
                <a:gridCol w="3459677">
                  <a:extLst>
                    <a:ext uri="{9D8B030D-6E8A-4147-A177-3AD203B41FA5}">
                      <a16:colId xmlns:a16="http://schemas.microsoft.com/office/drawing/2014/main" val="2205893311"/>
                    </a:ext>
                  </a:extLst>
                </a:gridCol>
                <a:gridCol w="3459677">
                  <a:extLst>
                    <a:ext uri="{9D8B030D-6E8A-4147-A177-3AD203B41FA5}">
                      <a16:colId xmlns:a16="http://schemas.microsoft.com/office/drawing/2014/main" val="403387355"/>
                    </a:ext>
                  </a:extLst>
                </a:gridCol>
              </a:tblGrid>
              <a:tr h="387096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b="0" dirty="0">
                          <a:latin typeface="+mj-ea"/>
                          <a:ea typeface="+mj-ea"/>
                        </a:rPr>
                        <a:t>모델</a:t>
                      </a:r>
                      <a:endParaRPr lang="en-US" sz="1600" b="0" dirty="0">
                        <a:latin typeface="+mj-ea"/>
                        <a:ea typeface="+mj-ea"/>
                      </a:endParaRPr>
                    </a:p>
                  </a:txBody>
                  <a:tcPr marL="46291" marR="46291" marT="23145" marB="23145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latin typeface="+mj-ea"/>
                          <a:ea typeface="+mj-ea"/>
                        </a:rPr>
                        <a:t>장점 </a:t>
                      </a:r>
                      <a:endParaRPr lang="en-US" altLang="ko-KR" sz="16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6291" marR="46291" marT="23145" marB="2314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latin typeface="+mj-ea"/>
                          <a:ea typeface="+mj-ea"/>
                        </a:rPr>
                        <a:t>단점 </a:t>
                      </a:r>
                      <a:endParaRPr lang="en-US" altLang="ko-KR" sz="16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6291" marR="46291" marT="23145" marB="2314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421634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Panoptic-</a:t>
                      </a:r>
                      <a:r>
                        <a:rPr lang="en-US" altLang="ko-KR" sz="1600" kern="1200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deeplab</a:t>
                      </a:r>
                      <a:endParaRPr lang="en-US" altLang="ko-KR" sz="160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46291" marR="46291" marT="23145" marB="2314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stuff + thing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분리 없이 동시예측 가능</a:t>
                      </a:r>
                      <a:endParaRPr lang="en-US" altLang="ko-KR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작은 객체 처리에 약하고 속도가 느림</a:t>
                      </a:r>
                      <a:endParaRPr lang="en-US" altLang="ko-KR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341361"/>
                  </a:ext>
                </a:extLst>
              </a:tr>
              <a:tr h="3870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Mask2former 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다양한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task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에 하나의 모델로 대응 가능</a:t>
                      </a:r>
                      <a:endParaRPr lang="en-US" altLang="ko-KR" sz="1600" b="0" dirty="0">
                        <a:latin typeface="+mn-ea"/>
                        <a:ea typeface="+mn-ea"/>
                      </a:endParaRP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복잡한 구조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연산량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많음</a:t>
                      </a:r>
                      <a:endParaRPr lang="en-US" altLang="ko-KR" sz="1600" b="0" dirty="0">
                        <a:latin typeface="+mn-ea"/>
                        <a:ea typeface="+mn-ea"/>
                      </a:endParaRP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397819"/>
                  </a:ext>
                </a:extLst>
              </a:tr>
              <a:tr h="2669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MaskDINO</a:t>
                      </a:r>
                      <a:endParaRPr lang="en-US" altLang="ko-KR" sz="160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46291" marR="46291" marT="23145" marB="2314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대규모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object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인식에 강함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end-to-end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학습 가능</a:t>
                      </a:r>
                      <a:endParaRPr lang="en-US" altLang="ko-KR" sz="1600" b="0" dirty="0">
                        <a:latin typeface="+mn-ea"/>
                        <a:ea typeface="+mn-ea"/>
                      </a:endParaRP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학습이 까다로움 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많은 데이터와 자원이 필요</a:t>
                      </a:r>
                      <a:endParaRPr lang="en-US" altLang="ko-KR" sz="1600" b="0" dirty="0">
                        <a:latin typeface="+mn-ea"/>
                        <a:ea typeface="+mn-ea"/>
                      </a:endParaRP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1516328"/>
                  </a:ext>
                </a:extLst>
              </a:tr>
              <a:tr h="266985">
                <a:tc>
                  <a:txBody>
                    <a:bodyPr/>
                    <a:lstStyle/>
                    <a:p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Yolov8 (+SAM)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빠르고 가볍고 실시간 처리에 적합</a:t>
                      </a:r>
                      <a:endParaRPr lang="en-US" altLang="ko-KR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고해상도 지원 제한</a:t>
                      </a:r>
                      <a:endParaRPr lang="en-US" altLang="ko-KR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580622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766C8AD-09CD-473C-A35D-82D6F4D64D38}"/>
              </a:ext>
            </a:extLst>
          </p:cNvPr>
          <p:cNvSpPr txBox="1"/>
          <p:nvPr/>
        </p:nvSpPr>
        <p:spPr>
          <a:xfrm>
            <a:off x="303981" y="3876106"/>
            <a:ext cx="5952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-Segmentation </a:t>
            </a:r>
            <a:r>
              <a:rPr lang="ko-KR" altLang="en-US" dirty="0">
                <a:latin typeface="+mj-ea"/>
                <a:ea typeface="+mj-ea"/>
              </a:rPr>
              <a:t>모델선정</a:t>
            </a: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9A5B43-15D0-4A25-A42D-2BA320686204}"/>
              </a:ext>
            </a:extLst>
          </p:cNvPr>
          <p:cNvSpPr txBox="1"/>
          <p:nvPr/>
        </p:nvSpPr>
        <p:spPr>
          <a:xfrm>
            <a:off x="4571319" y="3657985"/>
            <a:ext cx="1006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-things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04ACCA-0322-48D1-BD46-EF5EAA79BDA5}"/>
              </a:ext>
            </a:extLst>
          </p:cNvPr>
          <p:cNvSpPr txBox="1"/>
          <p:nvPr/>
        </p:nvSpPr>
        <p:spPr>
          <a:xfrm>
            <a:off x="7523345" y="3657985"/>
            <a:ext cx="793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-stuff</a:t>
            </a:r>
          </a:p>
        </p:txBody>
      </p:sp>
    </p:spTree>
    <p:extLst>
      <p:ext uri="{BB962C8B-B14F-4D97-AF65-F5344CB8AC3E}">
        <p14:creationId xmlns:p14="http://schemas.microsoft.com/office/powerpoint/2010/main" val="2324136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3539DB0B-A038-4E32-A87E-2EBF032D97CD}"/>
              </a:ext>
            </a:extLst>
          </p:cNvPr>
          <p:cNvGrpSpPr/>
          <p:nvPr/>
        </p:nvGrpSpPr>
        <p:grpSpPr>
          <a:xfrm>
            <a:off x="430931" y="3979857"/>
            <a:ext cx="4137381" cy="2740040"/>
            <a:chOff x="4973548" y="3979855"/>
            <a:chExt cx="4137381" cy="274004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1E131E-E0A7-4987-AE76-E0FE67ADC544}"/>
                </a:ext>
              </a:extLst>
            </p:cNvPr>
            <p:cNvSpPr txBox="1"/>
            <p:nvPr/>
          </p:nvSpPr>
          <p:spPr>
            <a:xfrm>
              <a:off x="6351951" y="6350563"/>
              <a:ext cx="13776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>
                  <a:latin typeface="+mj-ea"/>
                  <a:ea typeface="+mj-ea"/>
                </a:rPr>
                <a:t>MaskDINO</a:t>
              </a:r>
              <a:endParaRPr lang="en-US" altLang="ko-KR" dirty="0">
                <a:latin typeface="+mj-ea"/>
                <a:ea typeface="+mj-ea"/>
              </a:endParaRP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027EAF5B-E01B-45E7-8E09-E839C2B30C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3548" y="3979855"/>
              <a:ext cx="4137381" cy="2334353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514A1B1-AF8B-49FD-9A41-6AAE1FFFEDFB}"/>
              </a:ext>
            </a:extLst>
          </p:cNvPr>
          <p:cNvGrpSpPr/>
          <p:nvPr/>
        </p:nvGrpSpPr>
        <p:grpSpPr>
          <a:xfrm>
            <a:off x="432384" y="1147640"/>
            <a:ext cx="4137381" cy="2703943"/>
            <a:chOff x="432384" y="1147640"/>
            <a:chExt cx="4137381" cy="270394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054047E-9471-4E92-A682-FEE51B91CE1E}"/>
                </a:ext>
              </a:extLst>
            </p:cNvPr>
            <p:cNvSpPr txBox="1"/>
            <p:nvPr/>
          </p:nvSpPr>
          <p:spPr>
            <a:xfrm>
              <a:off x="1461466" y="3482251"/>
              <a:ext cx="2076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+mj-ea"/>
                  <a:ea typeface="+mj-ea"/>
                </a:rPr>
                <a:t>panoptic-</a:t>
              </a:r>
              <a:r>
                <a:rPr lang="en-US" altLang="ko-KR" dirty="0" err="1">
                  <a:latin typeface="+mj-ea"/>
                  <a:ea typeface="+mj-ea"/>
                </a:rPr>
                <a:t>deeplab</a:t>
              </a:r>
              <a:endParaRPr lang="en-US" altLang="ko-KR" dirty="0">
                <a:latin typeface="+mj-ea"/>
                <a:ea typeface="+mj-ea"/>
              </a:endParaRPr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FE4422B-9293-43D2-A8F8-572D76092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384" y="1147640"/>
              <a:ext cx="4137381" cy="2334610"/>
            </a:xfrm>
            <a:prstGeom prst="rect">
              <a:avLst/>
            </a:prstGeom>
          </p:spPr>
        </p:pic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AF90BB34-4298-4623-8930-6CA796116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83" y="227711"/>
            <a:ext cx="4167217" cy="514243"/>
          </a:xfrm>
        </p:spPr>
        <p:txBody>
          <a:bodyPr/>
          <a:lstStyle/>
          <a:p>
            <a:r>
              <a:rPr lang="ko-KR" altLang="en-US" dirty="0"/>
              <a:t>모델 별 학습결과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A65FD29-6169-41FF-9B30-5F6A9DBF6BE3}"/>
              </a:ext>
            </a:extLst>
          </p:cNvPr>
          <p:cNvGrpSpPr/>
          <p:nvPr/>
        </p:nvGrpSpPr>
        <p:grpSpPr>
          <a:xfrm>
            <a:off x="4989215" y="3979857"/>
            <a:ext cx="4121713" cy="2740041"/>
            <a:chOff x="4953000" y="1147768"/>
            <a:chExt cx="4121713" cy="274004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7427C9D-C54A-4E7C-BCA9-EB1A4E1D772D}"/>
                </a:ext>
              </a:extLst>
            </p:cNvPr>
            <p:cNvSpPr txBox="1"/>
            <p:nvPr/>
          </p:nvSpPr>
          <p:spPr>
            <a:xfrm>
              <a:off x="6123405" y="3518477"/>
              <a:ext cx="17809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+mj-ea"/>
                  <a:ea typeface="+mj-ea"/>
                </a:rPr>
                <a:t>Yolov8 + (SAM)</a:t>
              </a:r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064771C-8DE6-4119-B427-60B3D81DE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3000" y="1147768"/>
              <a:ext cx="4121713" cy="2334354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55669570-79D6-4305-B65C-84FA80BE423F}"/>
              </a:ext>
            </a:extLst>
          </p:cNvPr>
          <p:cNvGrpSpPr/>
          <p:nvPr/>
        </p:nvGrpSpPr>
        <p:grpSpPr>
          <a:xfrm>
            <a:off x="4989216" y="1147640"/>
            <a:ext cx="4121713" cy="2740040"/>
            <a:chOff x="428982" y="3979855"/>
            <a:chExt cx="4121713" cy="274004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6E73824-BF70-46B1-99F9-3971CBE4C4BE}"/>
                </a:ext>
              </a:extLst>
            </p:cNvPr>
            <p:cNvSpPr txBox="1"/>
            <p:nvPr/>
          </p:nvSpPr>
          <p:spPr>
            <a:xfrm>
              <a:off x="1725536" y="6350563"/>
              <a:ext cx="16547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+mj-ea"/>
                  <a:ea typeface="+mj-ea"/>
                </a:rPr>
                <a:t>mask2former</a:t>
              </a: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BDADAA31-A534-4B48-81B0-C1FF5ABB2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982" y="3979855"/>
              <a:ext cx="4121713" cy="23343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2034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90BB34-4298-4623-8930-6CA796116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83" y="227711"/>
            <a:ext cx="4167217" cy="514243"/>
          </a:xfrm>
        </p:spPr>
        <p:txBody>
          <a:bodyPr/>
          <a:lstStyle/>
          <a:p>
            <a:r>
              <a:rPr lang="ko-KR" altLang="en-US" dirty="0"/>
              <a:t>성능지표 </a:t>
            </a:r>
            <a:r>
              <a:rPr lang="en-US" altLang="ko-KR" dirty="0"/>
              <a:t>PQ</a:t>
            </a:r>
            <a:r>
              <a:rPr lang="ko-KR" altLang="en-US" dirty="0"/>
              <a:t> 비교</a:t>
            </a:r>
          </a:p>
        </p:txBody>
      </p:sp>
      <p:graphicFrame>
        <p:nvGraphicFramePr>
          <p:cNvPr id="18" name="표 3">
            <a:extLst>
              <a:ext uri="{FF2B5EF4-FFF2-40B4-BE49-F238E27FC236}">
                <a16:creationId xmlns:a16="http://schemas.microsoft.com/office/drawing/2014/main" id="{78D5A17E-825D-441F-ADBD-6A4CEB4F4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356336"/>
              </p:ext>
            </p:extLst>
          </p:nvPr>
        </p:nvGraphicFramePr>
        <p:xfrm>
          <a:off x="1098614" y="4359281"/>
          <a:ext cx="7259930" cy="20533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7022">
                  <a:extLst>
                    <a:ext uri="{9D8B030D-6E8A-4147-A177-3AD203B41FA5}">
                      <a16:colId xmlns:a16="http://schemas.microsoft.com/office/drawing/2014/main" val="1360754476"/>
                    </a:ext>
                  </a:extLst>
                </a:gridCol>
                <a:gridCol w="1485727">
                  <a:extLst>
                    <a:ext uri="{9D8B030D-6E8A-4147-A177-3AD203B41FA5}">
                      <a16:colId xmlns:a16="http://schemas.microsoft.com/office/drawing/2014/main" val="2864334280"/>
                    </a:ext>
                  </a:extLst>
                </a:gridCol>
                <a:gridCol w="1485727">
                  <a:extLst>
                    <a:ext uri="{9D8B030D-6E8A-4147-A177-3AD203B41FA5}">
                      <a16:colId xmlns:a16="http://schemas.microsoft.com/office/drawing/2014/main" val="2575745576"/>
                    </a:ext>
                  </a:extLst>
                </a:gridCol>
                <a:gridCol w="1485727">
                  <a:extLst>
                    <a:ext uri="{9D8B030D-6E8A-4147-A177-3AD203B41FA5}">
                      <a16:colId xmlns:a16="http://schemas.microsoft.com/office/drawing/2014/main" val="2418868385"/>
                    </a:ext>
                  </a:extLst>
                </a:gridCol>
                <a:gridCol w="1485727">
                  <a:extLst>
                    <a:ext uri="{9D8B030D-6E8A-4147-A177-3AD203B41FA5}">
                      <a16:colId xmlns:a16="http://schemas.microsoft.com/office/drawing/2014/main" val="2980102209"/>
                    </a:ext>
                  </a:extLst>
                </a:gridCol>
              </a:tblGrid>
              <a:tr h="579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j-ea"/>
                          <a:ea typeface="+mj-ea"/>
                        </a:rPr>
                        <a:t>지표</a:t>
                      </a:r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\</a:t>
                      </a:r>
                      <a:r>
                        <a:rPr lang="ko-KR" altLang="en-US" sz="1600" dirty="0">
                          <a:latin typeface="+mj-ea"/>
                          <a:ea typeface="+mj-ea"/>
                        </a:rPr>
                        <a:t>모델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Panoptic-</a:t>
                      </a:r>
                      <a:r>
                        <a:rPr lang="en-US" altLang="ko-KR" sz="1600" dirty="0" err="1">
                          <a:latin typeface="+mj-ea"/>
                          <a:ea typeface="+mj-ea"/>
                        </a:rPr>
                        <a:t>DeepLab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Mask2former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+mj-ea"/>
                          <a:ea typeface="+mj-ea"/>
                        </a:rPr>
                        <a:t>MaskDINO</a:t>
                      </a:r>
                      <a:endParaRPr lang="en-US" sz="1600" b="0" dirty="0">
                        <a:latin typeface="+mj-ea"/>
                        <a:ea typeface="+mj-ea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Yolov8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0957"/>
                  </a:ext>
                </a:extLst>
              </a:tr>
              <a:tr h="3309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latin typeface="+mn-ea"/>
                          <a:ea typeface="+mn-ea"/>
                        </a:rPr>
                        <a:t>모델 발표일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2020.06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2021.12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+mj-ea"/>
                          <a:ea typeface="+mj-ea"/>
                        </a:rPr>
                        <a:t>2022.12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2023.1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52299"/>
                  </a:ext>
                </a:extLst>
              </a:tr>
              <a:tr h="3796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PQ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61.0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82.8</a:t>
                      </a:r>
                      <a:endParaRPr lang="ko-KR" altLang="en-US" sz="1600" b="0" dirty="0">
                        <a:latin typeface="+mn-ea"/>
                        <a:ea typeface="+mn-ea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87.9</a:t>
                      </a:r>
                      <a:endParaRPr lang="ko-KR" altLang="en-US" sz="1600" b="0" dirty="0">
                        <a:latin typeface="+mn-ea"/>
                        <a:ea typeface="+mn-ea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97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8485863"/>
                  </a:ext>
                </a:extLst>
              </a:tr>
              <a:tr h="3796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PQ(things)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51.8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85.1</a:t>
                      </a:r>
                      <a:endParaRPr lang="ko-KR" altLang="en-US" sz="1600" b="0" dirty="0">
                        <a:latin typeface="+mn-ea"/>
                        <a:ea typeface="+mn-ea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84.8</a:t>
                      </a:r>
                      <a:endParaRPr lang="ko-KR" altLang="en-US" sz="1600" b="0" dirty="0">
                        <a:latin typeface="+mn-ea"/>
                        <a:ea typeface="+mn-ea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96.3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2561600"/>
                  </a:ext>
                </a:extLst>
              </a:tr>
              <a:tr h="3796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PQ(stuff)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79.5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78.1</a:t>
                      </a:r>
                      <a:endParaRPr lang="ko-KR" altLang="en-US" sz="1600" b="0" dirty="0">
                        <a:latin typeface="+mn-ea"/>
                        <a:ea typeface="+mn-ea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94.0</a:t>
                      </a:r>
                      <a:endParaRPr lang="ko-KR" altLang="en-US" sz="1600" b="0" dirty="0">
                        <a:latin typeface="+mn-ea"/>
                        <a:ea typeface="+mn-ea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98.5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5644231"/>
                  </a:ext>
                </a:extLst>
              </a:tr>
            </a:tbl>
          </a:graphicData>
        </a:graphic>
      </p:graphicFrame>
      <p:graphicFrame>
        <p:nvGraphicFramePr>
          <p:cNvPr id="19" name="차트 18">
            <a:extLst>
              <a:ext uri="{FF2B5EF4-FFF2-40B4-BE49-F238E27FC236}">
                <a16:creationId xmlns:a16="http://schemas.microsoft.com/office/drawing/2014/main" id="{47440867-F7CD-4C86-8BCA-29180B68C0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9867996"/>
              </p:ext>
            </p:extLst>
          </p:nvPr>
        </p:nvGraphicFramePr>
        <p:xfrm>
          <a:off x="1098614" y="1063073"/>
          <a:ext cx="7259931" cy="29663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67618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재료연구소 B">
      <a:dk1>
        <a:sysClr val="windowText" lastClr="000000"/>
      </a:dk1>
      <a:lt1>
        <a:sysClr val="window" lastClr="FFFFFF"/>
      </a:lt1>
      <a:dk2>
        <a:srgbClr val="6D6E71"/>
      </a:dk2>
      <a:lt2>
        <a:srgbClr val="71BF44"/>
      </a:lt2>
      <a:accent1>
        <a:srgbClr val="117931"/>
      </a:accent1>
      <a:accent2>
        <a:srgbClr val="2E5069"/>
      </a:accent2>
      <a:accent3>
        <a:srgbClr val="3AC2CF"/>
      </a:accent3>
      <a:accent4>
        <a:srgbClr val="4F5D87"/>
      </a:accent4>
      <a:accent5>
        <a:srgbClr val="FFC000"/>
      </a:accent5>
      <a:accent6>
        <a:srgbClr val="FF5A00"/>
      </a:accent6>
      <a:hlink>
        <a:srgbClr val="0563C1"/>
      </a:hlink>
      <a:folHlink>
        <a:srgbClr val="954F72"/>
      </a:folHlink>
    </a:clrScheme>
    <a:fontScheme name="사용자 지정 1">
      <a:majorFont>
        <a:latin typeface="Century Gothic"/>
        <a:ea typeface="KoPub돋움체 Bold"/>
        <a:cs typeface=""/>
      </a:majorFont>
      <a:minorFont>
        <a:latin typeface="Bookman Old Style"/>
        <a:ea typeface="KoPub돋움체 Light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34813</TotalTime>
  <Words>142</Words>
  <Application>Microsoft Office PowerPoint</Application>
  <PresentationFormat>A4 용지(210x297mm)</PresentationFormat>
  <Paragraphs>73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KoPub돋움체 Bold</vt:lpstr>
      <vt:lpstr>KoPub돋움체 Light</vt:lpstr>
      <vt:lpstr>KoPub돋움체 Medium</vt:lpstr>
      <vt:lpstr>다음_Regular</vt:lpstr>
      <vt:lpstr>다음_SemiBold</vt:lpstr>
      <vt:lpstr>Arial</vt:lpstr>
      <vt:lpstr>Century Gothic</vt:lpstr>
      <vt:lpstr>Office 테마</vt:lpstr>
      <vt:lpstr>데이터셋, 모델</vt:lpstr>
      <vt:lpstr>모델 별 학습결과</vt:lpstr>
      <vt:lpstr>성능지표 PQ 비교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answernypie</dc:creator>
  <cp:lastModifiedBy>varde</cp:lastModifiedBy>
  <cp:revision>1511</cp:revision>
  <dcterms:created xsi:type="dcterms:W3CDTF">2017-10-10T06:30:56Z</dcterms:created>
  <dcterms:modified xsi:type="dcterms:W3CDTF">2025-08-06T01:11:53Z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E:\★☆작업\171010_흡연예방\TEM\TEM.pptx</vt:lpwstr>
  </property>
</Properties>
</file>